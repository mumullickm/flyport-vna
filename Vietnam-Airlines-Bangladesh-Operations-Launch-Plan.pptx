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4.png"/><Relationship Id="rId5"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22.png"/><Relationship Id="rId4" Type="http://schemas.openxmlformats.org/officeDocument/2006/relationships/image" Target="../media/image26.png"/><Relationship Id="rId5"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2.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0.png"/><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118872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Flyport Ltd.   /   General Sales Agent   /   Bangladesh</a:t>
            </a:r>
          </a:p>
        </p:txBody>
      </p:sp>
      <p:sp>
        <p:nvSpPr>
          <p:cNvPr id="4" name="TextBox 3"/>
          <p:cNvSpPr txBox="1"/>
          <p:nvPr/>
        </p:nvSpPr>
        <p:spPr>
          <a:xfrm>
            <a:off x="786384" y="1572768"/>
            <a:ext cx="9509760" cy="1325880"/>
          </a:xfrm>
          <a:prstGeom prst="rect">
            <a:avLst/>
          </a:prstGeom>
          <a:noFill/>
        </p:spPr>
        <p:txBody>
          <a:bodyPr wrap="square" lIns="0" rIns="0" tIns="0" bIns="0">
            <a:spAutoFit/>
          </a:bodyPr>
          <a:lstStyle/>
          <a:p>
            <a:pPr>
              <a:lnSpc>
                <a:spcPct val="106000"/>
              </a:lnSpc>
            </a:pPr>
            <a:r>
              <a:rPr sz="4000" b="1">
                <a:solidFill>
                  <a:srgbClr val="0E2830"/>
                </a:solidFill>
                <a:latin typeface="Outfit"/>
              </a:rPr>
              <a:t>Vietnam Airlines </a:t>
            </a:r>
            <a:r>
              <a:rPr sz="4000" b="1">
                <a:solidFill>
                  <a:srgbClr val="0C7A80"/>
                </a:solidFill>
                <a:latin typeface="Outfit"/>
              </a:rPr>
              <a:t>Bangladesh Operations Launch</a:t>
            </a:r>
            <a:r>
              <a:rPr sz="4000" b="1">
                <a:solidFill>
                  <a:srgbClr val="EC008C"/>
                </a:solidFill>
                <a:latin typeface="Outfit"/>
              </a:rPr>
              <a:t>.</a:t>
            </a:r>
          </a:p>
        </p:txBody>
      </p:sp>
      <p:sp>
        <p:nvSpPr>
          <p:cNvPr id="5" name="TextBox 4"/>
          <p:cNvSpPr txBox="1"/>
          <p:nvPr/>
        </p:nvSpPr>
        <p:spPr>
          <a:xfrm>
            <a:off x="786384" y="3703320"/>
            <a:ext cx="8961120" cy="777240"/>
          </a:xfrm>
          <a:prstGeom prst="rect">
            <a:avLst/>
          </a:prstGeom>
          <a:noFill/>
        </p:spPr>
        <p:txBody>
          <a:bodyPr wrap="square" lIns="0" rIns="0" tIns="0" bIns="0">
            <a:spAutoFit/>
          </a:bodyPr>
          <a:lstStyle/>
          <a:p>
            <a:pPr>
              <a:lnSpc>
                <a:spcPct val="140000"/>
              </a:lnSpc>
              <a:spcAft>
                <a:spcPts val="800"/>
              </a:spcAft>
            </a:pPr>
            <a:r>
              <a:rPr sz="1500" b="1" i="0">
                <a:solidFill>
                  <a:srgbClr val="0E2830"/>
                </a:solidFill>
                <a:latin typeface="Outfit"/>
              </a:rPr>
              <a:t>Launch Requirements &amp; Remittance Operations Plan</a:t>
            </a:r>
          </a:p>
          <a:p>
            <a:pPr>
              <a:lnSpc>
                <a:spcPct val="145000"/>
              </a:lnSpc>
              <a:spcAft>
                <a:spcPts val="0"/>
              </a:spcAft>
            </a:pPr>
            <a:r>
              <a:rPr sz="1100" b="0" i="0">
                <a:solidFill>
                  <a:srgbClr val="33555F"/>
                </a:solidFill>
                <a:latin typeface="Plus Jakarta Sans"/>
              </a:rPr>
              <a:t>Consolidating BIDA, CAAB, NBR, Bangladesh Bank circulars, and our AD-bank remittance procedure into one launch playbook</a:t>
            </a:r>
          </a:p>
        </p:txBody>
      </p:sp>
      <p:sp>
        <p:nvSpPr>
          <p:cNvPr id="6" name="Rectangle 5"/>
          <p:cNvSpPr/>
          <p:nvPr/>
        </p:nvSpPr>
        <p:spPr>
          <a:xfrm>
            <a:off x="786384" y="4800600"/>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36b01450dd_t.png"/>
          <p:cNvPicPr>
            <a:picLocks noChangeAspect="1"/>
          </p:cNvPicPr>
          <p:nvPr/>
        </p:nvPicPr>
        <p:blipFill>
          <a:blip r:embed="rId2"/>
          <a:stretch>
            <a:fillRect/>
          </a:stretch>
        </p:blipFill>
        <p:spPr>
          <a:xfrm>
            <a:off x="969264" y="4695444"/>
            <a:ext cx="219456" cy="219456"/>
          </a:xfrm>
          <a:prstGeom prst="rect">
            <a:avLst/>
          </a:prstGeom>
        </p:spPr>
      </p:pic>
      <p:sp>
        <p:nvSpPr>
          <p:cNvPr id="8" name="TextBox 7"/>
          <p:cNvSpPr txBox="1"/>
          <p:nvPr/>
        </p:nvSpPr>
        <p:spPr>
          <a:xfrm>
            <a:off x="987552" y="5111496"/>
            <a:ext cx="134919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BIDA</a:t>
            </a:r>
          </a:p>
        </p:txBody>
      </p:sp>
      <p:sp>
        <p:nvSpPr>
          <p:cNvPr id="9" name="Rectangle 8"/>
          <p:cNvSpPr/>
          <p:nvPr/>
        </p:nvSpPr>
        <p:spPr>
          <a:xfrm>
            <a:off x="2556205" y="4855464"/>
            <a:ext cx="9525" cy="475488"/>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5f212f4ccf_t.png"/>
          <p:cNvPicPr>
            <a:picLocks noChangeAspect="1"/>
          </p:cNvPicPr>
          <p:nvPr/>
        </p:nvPicPr>
        <p:blipFill>
          <a:blip r:embed="rId3"/>
          <a:stretch>
            <a:fillRect/>
          </a:stretch>
        </p:blipFill>
        <p:spPr>
          <a:xfrm>
            <a:off x="2739085" y="4695444"/>
            <a:ext cx="219456" cy="219456"/>
          </a:xfrm>
          <a:prstGeom prst="rect">
            <a:avLst/>
          </a:prstGeom>
        </p:spPr>
      </p:pic>
      <p:sp>
        <p:nvSpPr>
          <p:cNvPr id="11" name="TextBox 10"/>
          <p:cNvSpPr txBox="1"/>
          <p:nvPr/>
        </p:nvSpPr>
        <p:spPr>
          <a:xfrm>
            <a:off x="2757373" y="5111496"/>
            <a:ext cx="134919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CAAB</a:t>
            </a:r>
          </a:p>
        </p:txBody>
      </p:sp>
      <p:sp>
        <p:nvSpPr>
          <p:cNvPr id="12" name="Rectangle 11"/>
          <p:cNvSpPr/>
          <p:nvPr/>
        </p:nvSpPr>
        <p:spPr>
          <a:xfrm>
            <a:off x="4326026" y="4855464"/>
            <a:ext cx="9525" cy="475488"/>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c_3578ddd62b_t.png"/>
          <p:cNvPicPr>
            <a:picLocks noChangeAspect="1"/>
          </p:cNvPicPr>
          <p:nvPr/>
        </p:nvPicPr>
        <p:blipFill>
          <a:blip r:embed="rId4"/>
          <a:stretch>
            <a:fillRect/>
          </a:stretch>
        </p:blipFill>
        <p:spPr>
          <a:xfrm>
            <a:off x="4508906" y="4695444"/>
            <a:ext cx="219456" cy="219456"/>
          </a:xfrm>
          <a:prstGeom prst="rect">
            <a:avLst/>
          </a:prstGeom>
        </p:spPr>
      </p:pic>
      <p:sp>
        <p:nvSpPr>
          <p:cNvPr id="14" name="TextBox 13"/>
          <p:cNvSpPr txBox="1"/>
          <p:nvPr/>
        </p:nvSpPr>
        <p:spPr>
          <a:xfrm>
            <a:off x="4527194" y="5111496"/>
            <a:ext cx="134919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NBR</a:t>
            </a:r>
          </a:p>
        </p:txBody>
      </p:sp>
      <p:sp>
        <p:nvSpPr>
          <p:cNvPr id="15" name="Rectangle 14"/>
          <p:cNvSpPr/>
          <p:nvPr/>
        </p:nvSpPr>
        <p:spPr>
          <a:xfrm>
            <a:off x="6095847" y="4855464"/>
            <a:ext cx="9525" cy="475488"/>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c_97a726b169_t.png"/>
          <p:cNvPicPr>
            <a:picLocks noChangeAspect="1"/>
          </p:cNvPicPr>
          <p:nvPr/>
        </p:nvPicPr>
        <p:blipFill>
          <a:blip r:embed="rId5"/>
          <a:stretch>
            <a:fillRect/>
          </a:stretch>
        </p:blipFill>
        <p:spPr>
          <a:xfrm>
            <a:off x="6278727" y="4695444"/>
            <a:ext cx="219456" cy="219456"/>
          </a:xfrm>
          <a:prstGeom prst="rect">
            <a:avLst/>
          </a:prstGeom>
        </p:spPr>
      </p:pic>
      <p:sp>
        <p:nvSpPr>
          <p:cNvPr id="17" name="TextBox 16"/>
          <p:cNvSpPr txBox="1"/>
          <p:nvPr/>
        </p:nvSpPr>
        <p:spPr>
          <a:xfrm>
            <a:off x="6297015" y="5111496"/>
            <a:ext cx="134919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BB / AD Bank</a:t>
            </a:r>
          </a:p>
        </p:txBody>
      </p:sp>
      <p:sp>
        <p:nvSpPr>
          <p:cNvPr id="18" name="Rectangle 17"/>
          <p:cNvSpPr/>
          <p:nvPr/>
        </p:nvSpPr>
        <p:spPr>
          <a:xfrm>
            <a:off x="7865668" y="4855464"/>
            <a:ext cx="9525" cy="475488"/>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daaa792ffe_t.png"/>
          <p:cNvPicPr>
            <a:picLocks noChangeAspect="1"/>
          </p:cNvPicPr>
          <p:nvPr/>
        </p:nvPicPr>
        <p:blipFill>
          <a:blip r:embed="rId6"/>
          <a:stretch>
            <a:fillRect/>
          </a:stretch>
        </p:blipFill>
        <p:spPr>
          <a:xfrm>
            <a:off x="8048548" y="4695444"/>
            <a:ext cx="219456" cy="219456"/>
          </a:xfrm>
          <a:prstGeom prst="rect">
            <a:avLst/>
          </a:prstGeom>
        </p:spPr>
      </p:pic>
      <p:sp>
        <p:nvSpPr>
          <p:cNvPr id="20" name="TextBox 19"/>
          <p:cNvSpPr txBox="1"/>
          <p:nvPr/>
        </p:nvSpPr>
        <p:spPr>
          <a:xfrm>
            <a:off x="8066836" y="5111496"/>
            <a:ext cx="134919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Remittance</a:t>
            </a:r>
          </a:p>
        </p:txBody>
      </p:sp>
      <p:sp>
        <p:nvSpPr>
          <p:cNvPr id="21" name="Rectangle 20"/>
          <p:cNvSpPr/>
          <p:nvPr/>
        </p:nvSpPr>
        <p:spPr>
          <a:xfrm>
            <a:off x="9635490" y="4855464"/>
            <a:ext cx="9525" cy="475488"/>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8e78978064_m.png"/>
          <p:cNvPicPr>
            <a:picLocks noChangeAspect="1"/>
          </p:cNvPicPr>
          <p:nvPr/>
        </p:nvPicPr>
        <p:blipFill>
          <a:blip r:embed="rId7"/>
          <a:stretch>
            <a:fillRect/>
          </a:stretch>
        </p:blipFill>
        <p:spPr>
          <a:xfrm>
            <a:off x="9818369" y="4695444"/>
            <a:ext cx="219456" cy="219456"/>
          </a:xfrm>
          <a:prstGeom prst="rect">
            <a:avLst/>
          </a:prstGeom>
        </p:spPr>
      </p:pic>
      <p:sp>
        <p:nvSpPr>
          <p:cNvPr id="23" name="TextBox 22"/>
          <p:cNvSpPr txBox="1"/>
          <p:nvPr/>
        </p:nvSpPr>
        <p:spPr>
          <a:xfrm>
            <a:off x="9836658" y="5111496"/>
            <a:ext cx="1349197" cy="457200"/>
          </a:xfrm>
          <a:prstGeom prst="rect">
            <a:avLst/>
          </a:prstGeom>
          <a:noFill/>
        </p:spPr>
        <p:txBody>
          <a:bodyPr wrap="square" lIns="0" rIns="0" tIns="0" bIns="0">
            <a:spAutoFit/>
          </a:bodyPr>
          <a:lstStyle/>
          <a:p>
            <a:pPr>
              <a:lnSpc>
                <a:spcPct val="130000"/>
              </a:lnSpc>
              <a:spcAft>
                <a:spcPts val="0"/>
              </a:spcAft>
            </a:pPr>
            <a:r>
              <a:rPr sz="750" b="0" i="0" cap="all" spc="150">
                <a:solidFill>
                  <a:srgbClr val="C10073"/>
                </a:solidFill>
                <a:latin typeface="IBM Plex Mono"/>
              </a:rPr>
              <a:t>Compliance</a:t>
            </a:r>
          </a:p>
        </p:txBody>
      </p:sp>
      <p:sp>
        <p:nvSpPr>
          <p:cNvPr id="24" name="Rectangle 23"/>
          <p:cNvSpPr/>
          <p:nvPr/>
        </p:nvSpPr>
        <p:spPr>
          <a:xfrm>
            <a:off x="786384" y="5760720"/>
            <a:ext cx="10618927"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g_flyport.png"/>
          <p:cNvPicPr>
            <a:picLocks noChangeAspect="1"/>
          </p:cNvPicPr>
          <p:nvPr/>
        </p:nvPicPr>
        <p:blipFill>
          <a:blip r:embed="rId8"/>
          <a:stretch>
            <a:fillRect/>
          </a:stretch>
        </p:blipFill>
        <p:spPr>
          <a:xfrm>
            <a:off x="786384" y="5925312"/>
            <a:ext cx="1068713" cy="302117"/>
          </a:xfrm>
          <a:prstGeom prst="rect">
            <a:avLst/>
          </a:prstGeom>
        </p:spPr>
      </p:pic>
      <p:sp>
        <p:nvSpPr>
          <p:cNvPr id="26" name="TextBox 25"/>
          <p:cNvSpPr txBox="1"/>
          <p:nvPr/>
        </p:nvSpPr>
        <p:spPr>
          <a:xfrm>
            <a:off x="2184280" y="6012362"/>
            <a:ext cx="914400" cy="274320"/>
          </a:xfrm>
          <a:prstGeom prst="rect">
            <a:avLst/>
          </a:prstGeom>
          <a:noFill/>
        </p:spPr>
        <p:txBody>
          <a:bodyPr wrap="square" lIns="0" rIns="0" tIns="0" bIns="0">
            <a:spAutoFit/>
          </a:bodyPr>
          <a:lstStyle/>
          <a:p>
            <a:pPr>
              <a:lnSpc>
                <a:spcPct val="140000"/>
              </a:lnSpc>
              <a:spcAft>
                <a:spcPts val="0"/>
              </a:spcAft>
            </a:pPr>
            <a:r>
              <a:rPr sz="800" b="0" i="0" cap="all" spc="180">
                <a:solidFill>
                  <a:srgbClr val="52737D"/>
                </a:solidFill>
                <a:latin typeface="IBM Plex Mono"/>
              </a:rPr>
              <a:t>Backed by</a:t>
            </a:r>
          </a:p>
        </p:txBody>
      </p:sp>
      <p:pic>
        <p:nvPicPr>
          <p:cNvPr id="27" name="Picture 26" descr="lg_adn.png"/>
          <p:cNvPicPr>
            <a:picLocks noChangeAspect="1"/>
          </p:cNvPicPr>
          <p:nvPr/>
        </p:nvPicPr>
        <p:blipFill>
          <a:blip r:embed="rId9"/>
          <a:stretch>
            <a:fillRect/>
          </a:stretch>
        </p:blipFill>
        <p:spPr>
          <a:xfrm>
            <a:off x="3171833" y="5950915"/>
            <a:ext cx="629222" cy="240670"/>
          </a:xfrm>
          <a:prstGeom prst="rect">
            <a:avLst/>
          </a:prstGeom>
        </p:spPr>
      </p:pic>
      <p:pic>
        <p:nvPicPr>
          <p:cNvPr id="28" name="Picture 27" descr="lg_partex.png"/>
          <p:cNvPicPr>
            <a:picLocks noChangeAspect="1"/>
          </p:cNvPicPr>
          <p:nvPr/>
        </p:nvPicPr>
        <p:blipFill>
          <a:blip r:embed="rId10"/>
          <a:stretch>
            <a:fillRect/>
          </a:stretch>
        </p:blipFill>
        <p:spPr>
          <a:xfrm>
            <a:off x="4093662" y="5935553"/>
            <a:ext cx="610928" cy="271393"/>
          </a:xfrm>
          <a:prstGeom prst="rect">
            <a:avLst/>
          </a:prstGeom>
        </p:spPr>
      </p:pic>
      <p:sp>
        <p:nvSpPr>
          <p:cNvPr id="29" name="TextBox 28"/>
          <p:cNvSpPr txBox="1"/>
          <p:nvPr/>
        </p:nvSpPr>
        <p:spPr>
          <a:xfrm>
            <a:off x="1463040" y="6419088"/>
            <a:ext cx="9887407" cy="274320"/>
          </a:xfrm>
          <a:prstGeom prst="rect">
            <a:avLst/>
          </a:prstGeom>
          <a:noFill/>
        </p:spPr>
        <p:txBody>
          <a:bodyPr wrap="square" lIns="0" rIns="0" tIns="0" bIns="0">
            <a:spAutoFit/>
          </a:bodyPr>
          <a:lstStyle/>
          <a:p>
            <a:pPr>
              <a:lnSpc>
                <a:spcPct val="140000"/>
              </a:lnSpc>
              <a:spcAft>
                <a:spcPts val="0"/>
              </a:spcAft>
            </a:pPr>
            <a:r>
              <a:rPr sz="750" b="0" i="0" cap="all" spc="160">
                <a:solidFill>
                  <a:srgbClr val="52737D"/>
                </a:solidFill>
                <a:latin typeface="IBM Plex Mono"/>
              </a:rPr>
              <a:t>Prepared for internal briefing   .   August 2026</a:t>
            </a:r>
          </a:p>
        </p:txBody>
      </p:sp>
      <p:sp>
        <p:nvSpPr>
          <p:cNvPr id="30" name="TextBox 29"/>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01 / 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Agenda</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3000" b="1">
                <a:solidFill>
                  <a:srgbClr val="0E2830"/>
                </a:solidFill>
                <a:latin typeface="Outfit"/>
              </a:rPr>
              <a:t>From Launch Requirements to Live Remittance</a:t>
            </a:r>
          </a:p>
        </p:txBody>
      </p:sp>
      <p:sp>
        <p:nvSpPr>
          <p:cNvPr id="5" name="TextBox 4"/>
          <p:cNvSpPr txBox="1"/>
          <p:nvPr/>
        </p:nvSpPr>
        <p:spPr>
          <a:xfrm>
            <a:off x="786384" y="2084831"/>
            <a:ext cx="9875520" cy="914400"/>
          </a:xfrm>
          <a:prstGeom prst="rect">
            <a:avLst/>
          </a:prstGeom>
          <a:noFill/>
        </p:spPr>
        <p:txBody>
          <a:bodyPr wrap="square" lIns="0" rIns="0" tIns="0" bIns="0">
            <a:spAutoFit/>
          </a:bodyPr>
          <a:lstStyle/>
          <a:p>
            <a:pPr>
              <a:lnSpc>
                <a:spcPct val="150000"/>
              </a:lnSpc>
              <a:spcAft>
                <a:spcPts val="0"/>
              </a:spcAft>
            </a:pPr>
            <a:r>
              <a:rPr sz="1200" b="0" i="0">
                <a:solidFill>
                  <a:srgbClr val="33555F"/>
                </a:solidFill>
                <a:latin typeface="Plus Jakarta Sans"/>
              </a:rPr>
              <a:t>Our own GSA requirement checklist, four Bangladesh Bank circulars, and our AD-bank remittance procedure, combined into four parts</a:t>
            </a:r>
          </a:p>
        </p:txBody>
      </p:sp>
      <p:sp>
        <p:nvSpPr>
          <p:cNvPr id="6" name="Rectangle 5"/>
          <p:cNvSpPr/>
          <p:nvPr/>
        </p:nvSpPr>
        <p:spPr>
          <a:xfrm>
            <a:off x="786384" y="2880360"/>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36b01450dd_t.png"/>
          <p:cNvPicPr>
            <a:picLocks noChangeAspect="1"/>
          </p:cNvPicPr>
          <p:nvPr/>
        </p:nvPicPr>
        <p:blipFill>
          <a:blip r:embed="rId2"/>
          <a:stretch>
            <a:fillRect/>
          </a:stretch>
        </p:blipFill>
        <p:spPr>
          <a:xfrm>
            <a:off x="969264" y="2775203"/>
            <a:ext cx="219456" cy="219456"/>
          </a:xfrm>
          <a:prstGeom prst="rect">
            <a:avLst/>
          </a:prstGeom>
        </p:spPr>
      </p:pic>
      <p:sp>
        <p:nvSpPr>
          <p:cNvPr id="8" name="TextBox 7"/>
          <p:cNvSpPr txBox="1"/>
          <p:nvPr/>
        </p:nvSpPr>
        <p:spPr>
          <a:xfrm>
            <a:off x="987552" y="3191256"/>
            <a:ext cx="223410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Part 1</a:t>
            </a:r>
          </a:p>
        </p:txBody>
      </p:sp>
      <p:sp>
        <p:nvSpPr>
          <p:cNvPr id="9" name="TextBox 8"/>
          <p:cNvSpPr txBox="1"/>
          <p:nvPr/>
        </p:nvSpPr>
        <p:spPr>
          <a:xfrm>
            <a:off x="987552" y="3429000"/>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Launch Requirements</a:t>
            </a:r>
          </a:p>
        </p:txBody>
      </p:sp>
      <p:sp>
        <p:nvSpPr>
          <p:cNvPr id="10" name="TextBox 9"/>
          <p:cNvSpPr txBox="1"/>
          <p:nvPr/>
        </p:nvSpPr>
        <p:spPr>
          <a:xfrm>
            <a:off x="987552" y="3666744"/>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Corporate &amp; legal, BIDA &amp; expatriate compliance, CAAB approvals</a:t>
            </a:r>
          </a:p>
        </p:txBody>
      </p:sp>
      <p:sp>
        <p:nvSpPr>
          <p:cNvPr id="11" name="Rectangle 10"/>
          <p:cNvSpPr/>
          <p:nvPr/>
        </p:nvSpPr>
        <p:spPr>
          <a:xfrm>
            <a:off x="3441115" y="2935224"/>
            <a:ext cx="9525" cy="173736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c_97a726b169_t.png"/>
          <p:cNvPicPr>
            <a:picLocks noChangeAspect="1"/>
          </p:cNvPicPr>
          <p:nvPr/>
        </p:nvPicPr>
        <p:blipFill>
          <a:blip r:embed="rId3"/>
          <a:stretch>
            <a:fillRect/>
          </a:stretch>
        </p:blipFill>
        <p:spPr>
          <a:xfrm>
            <a:off x="3623995" y="2775203"/>
            <a:ext cx="219456" cy="219456"/>
          </a:xfrm>
          <a:prstGeom prst="rect">
            <a:avLst/>
          </a:prstGeom>
        </p:spPr>
      </p:pic>
      <p:sp>
        <p:nvSpPr>
          <p:cNvPr id="13" name="TextBox 12"/>
          <p:cNvSpPr txBox="1"/>
          <p:nvPr/>
        </p:nvSpPr>
        <p:spPr>
          <a:xfrm>
            <a:off x="3642283" y="3191256"/>
            <a:ext cx="223410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Part 2</a:t>
            </a:r>
          </a:p>
        </p:txBody>
      </p:sp>
      <p:sp>
        <p:nvSpPr>
          <p:cNvPr id="14" name="TextBox 13"/>
          <p:cNvSpPr txBox="1"/>
          <p:nvPr/>
        </p:nvSpPr>
        <p:spPr>
          <a:xfrm>
            <a:off x="3642283" y="3429000"/>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Bangladesh Bank &amp; AD Bank</a:t>
            </a:r>
          </a:p>
        </p:txBody>
      </p:sp>
      <p:sp>
        <p:nvSpPr>
          <p:cNvPr id="15" name="TextBox 14"/>
          <p:cNvSpPr txBox="1"/>
          <p:nvPr/>
        </p:nvSpPr>
        <p:spPr>
          <a:xfrm>
            <a:off x="3642283" y="3666744"/>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Four circulars, dedicated accounts, waiver clauses, fuel &amp; freight rules</a:t>
            </a:r>
          </a:p>
        </p:txBody>
      </p:sp>
      <p:sp>
        <p:nvSpPr>
          <p:cNvPr id="16" name="Rectangle 15"/>
          <p:cNvSpPr/>
          <p:nvPr/>
        </p:nvSpPr>
        <p:spPr>
          <a:xfrm>
            <a:off x="6095847" y="2935224"/>
            <a:ext cx="9525" cy="173736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_daaa792ffe_t.png"/>
          <p:cNvPicPr>
            <a:picLocks noChangeAspect="1"/>
          </p:cNvPicPr>
          <p:nvPr/>
        </p:nvPicPr>
        <p:blipFill>
          <a:blip r:embed="rId4"/>
          <a:stretch>
            <a:fillRect/>
          </a:stretch>
        </p:blipFill>
        <p:spPr>
          <a:xfrm>
            <a:off x="6278727" y="2775203"/>
            <a:ext cx="219456" cy="219456"/>
          </a:xfrm>
          <a:prstGeom prst="rect">
            <a:avLst/>
          </a:prstGeom>
        </p:spPr>
      </p:pic>
      <p:sp>
        <p:nvSpPr>
          <p:cNvPr id="18" name="TextBox 17"/>
          <p:cNvSpPr txBox="1"/>
          <p:nvPr/>
        </p:nvSpPr>
        <p:spPr>
          <a:xfrm>
            <a:off x="6297015" y="3191256"/>
            <a:ext cx="223410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Part 3</a:t>
            </a:r>
          </a:p>
        </p:txBody>
      </p:sp>
      <p:sp>
        <p:nvSpPr>
          <p:cNvPr id="19" name="TextBox 18"/>
          <p:cNvSpPr txBox="1"/>
          <p:nvPr/>
        </p:nvSpPr>
        <p:spPr>
          <a:xfrm>
            <a:off x="6297015" y="3429000"/>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Monthly Remittance Operations</a:t>
            </a:r>
          </a:p>
        </p:txBody>
      </p:sp>
      <p:sp>
        <p:nvSpPr>
          <p:cNvPr id="20" name="TextBox 19"/>
          <p:cNvSpPr txBox="1"/>
          <p:nvPr/>
        </p:nvSpPr>
        <p:spPr>
          <a:xfrm>
            <a:off x="6297015" y="3666744"/>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Process flow, surplus-earnings calculator, Post Facto Approval</a:t>
            </a:r>
          </a:p>
        </p:txBody>
      </p:sp>
      <p:sp>
        <p:nvSpPr>
          <p:cNvPr id="21" name="Rectangle 20"/>
          <p:cNvSpPr/>
          <p:nvPr/>
        </p:nvSpPr>
        <p:spPr>
          <a:xfrm>
            <a:off x="8750579" y="2935224"/>
            <a:ext cx="9525" cy="173736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8e78978064_m.png"/>
          <p:cNvPicPr>
            <a:picLocks noChangeAspect="1"/>
          </p:cNvPicPr>
          <p:nvPr/>
        </p:nvPicPr>
        <p:blipFill>
          <a:blip r:embed="rId5"/>
          <a:stretch>
            <a:fillRect/>
          </a:stretch>
        </p:blipFill>
        <p:spPr>
          <a:xfrm>
            <a:off x="8933459" y="2775203"/>
            <a:ext cx="219456" cy="219456"/>
          </a:xfrm>
          <a:prstGeom prst="rect">
            <a:avLst/>
          </a:prstGeom>
        </p:spPr>
      </p:pic>
      <p:sp>
        <p:nvSpPr>
          <p:cNvPr id="23" name="TextBox 22"/>
          <p:cNvSpPr txBox="1"/>
          <p:nvPr/>
        </p:nvSpPr>
        <p:spPr>
          <a:xfrm>
            <a:off x="8951747" y="3191256"/>
            <a:ext cx="2234107" cy="457200"/>
          </a:xfrm>
          <a:prstGeom prst="rect">
            <a:avLst/>
          </a:prstGeom>
          <a:noFill/>
        </p:spPr>
        <p:txBody>
          <a:bodyPr wrap="square" lIns="0" rIns="0" tIns="0" bIns="0">
            <a:spAutoFit/>
          </a:bodyPr>
          <a:lstStyle/>
          <a:p>
            <a:pPr>
              <a:lnSpc>
                <a:spcPct val="130000"/>
              </a:lnSpc>
              <a:spcAft>
                <a:spcPts val="0"/>
              </a:spcAft>
            </a:pPr>
            <a:r>
              <a:rPr sz="750" b="0" i="0" cap="all" spc="150">
                <a:solidFill>
                  <a:srgbClr val="C10073"/>
                </a:solidFill>
                <a:latin typeface="IBM Plex Mono"/>
              </a:rPr>
              <a:t>Part 4</a:t>
            </a:r>
          </a:p>
        </p:txBody>
      </p:sp>
      <p:sp>
        <p:nvSpPr>
          <p:cNvPr id="24" name="TextBox 23"/>
          <p:cNvSpPr txBox="1"/>
          <p:nvPr/>
        </p:nvSpPr>
        <p:spPr>
          <a:xfrm>
            <a:off x="8951747" y="3429000"/>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Documentation &amp; Roadmap</a:t>
            </a:r>
          </a:p>
        </p:txBody>
      </p:sp>
      <p:sp>
        <p:nvSpPr>
          <p:cNvPr id="25" name="TextBox 24"/>
          <p:cNvSpPr txBox="1"/>
          <p:nvPr/>
        </p:nvSpPr>
        <p:spPr>
          <a:xfrm>
            <a:off x="8951747" y="3666744"/>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Annual &amp; monthly filings, what's still to scope, launch timeline</a:t>
            </a:r>
          </a:p>
        </p:txBody>
      </p:sp>
      <p:sp>
        <p:nvSpPr>
          <p:cNvPr id="26" name="TextBox 25"/>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27" name="TextBox 26"/>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02 / 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Context</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3000" b="1">
                <a:solidFill>
                  <a:srgbClr val="0E2830"/>
                </a:solidFill>
                <a:latin typeface="Outfit"/>
              </a:rPr>
              <a:t>Vietnam Airlines' Bangladesh Launch</a:t>
            </a:r>
          </a:p>
        </p:txBody>
      </p:sp>
      <p:sp>
        <p:nvSpPr>
          <p:cNvPr id="5" name="Oval 4"/>
          <p:cNvSpPr/>
          <p:nvPr/>
        </p:nvSpPr>
        <p:spPr>
          <a:xfrm>
            <a:off x="786384" y="2180844"/>
            <a:ext cx="54864" cy="54864"/>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9264" y="2103120"/>
            <a:ext cx="6400800" cy="731520"/>
          </a:xfrm>
          <a:prstGeom prst="rect">
            <a:avLst/>
          </a:prstGeom>
          <a:noFill/>
        </p:spPr>
        <p:txBody>
          <a:bodyPr wrap="square" lIns="0" rIns="0" tIns="0" bIns="0">
            <a:spAutoFit/>
          </a:bodyPr>
          <a:lstStyle/>
          <a:p>
            <a:pPr>
              <a:lnSpc>
                <a:spcPct val="145000"/>
              </a:lnSpc>
              <a:spcAft>
                <a:spcPts val="0"/>
              </a:spcAft>
            </a:pPr>
            <a:r>
              <a:rPr sz="1050" b="0" i="0">
                <a:solidFill>
                  <a:srgbClr val="33555F"/>
                </a:solidFill>
                <a:latin typeface="Plus Jakarta Sans"/>
              </a:rPr>
              <a:t>Flyport Ltd. is Vietnam Airlines' General Sales Agent (GSA) and local representation partner in Bangladesh</a:t>
            </a:r>
          </a:p>
        </p:txBody>
      </p:sp>
      <p:sp>
        <p:nvSpPr>
          <p:cNvPr id="7" name="Oval 6"/>
          <p:cNvSpPr/>
          <p:nvPr/>
        </p:nvSpPr>
        <p:spPr>
          <a:xfrm>
            <a:off x="786384" y="2619756"/>
            <a:ext cx="54864" cy="54864"/>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9264" y="2542032"/>
            <a:ext cx="6400800" cy="731520"/>
          </a:xfrm>
          <a:prstGeom prst="rect">
            <a:avLst/>
          </a:prstGeom>
          <a:noFill/>
        </p:spPr>
        <p:txBody>
          <a:bodyPr wrap="square" lIns="0" rIns="0" tIns="0" bIns="0">
            <a:spAutoFit/>
          </a:bodyPr>
          <a:lstStyle/>
          <a:p>
            <a:pPr>
              <a:lnSpc>
                <a:spcPct val="145000"/>
              </a:lnSpc>
              <a:spcAft>
                <a:spcPts val="0"/>
              </a:spcAft>
            </a:pPr>
            <a:r>
              <a:rPr sz="1050" b="0" i="0">
                <a:solidFill>
                  <a:srgbClr val="33555F"/>
                </a:solidFill>
                <a:latin typeface="Plus Jakarta Sans"/>
              </a:rPr>
              <a:t>A renewed Bangladesh-Vietnam Air Services Agreement (ASA) underpins direct scheduled service between the two countries</a:t>
            </a:r>
          </a:p>
        </p:txBody>
      </p:sp>
      <p:sp>
        <p:nvSpPr>
          <p:cNvPr id="9" name="Oval 8"/>
          <p:cNvSpPr/>
          <p:nvPr/>
        </p:nvSpPr>
        <p:spPr>
          <a:xfrm>
            <a:off x="786384" y="3058668"/>
            <a:ext cx="54864" cy="54864"/>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980944"/>
            <a:ext cx="6400800" cy="731520"/>
          </a:xfrm>
          <a:prstGeom prst="rect">
            <a:avLst/>
          </a:prstGeom>
          <a:noFill/>
        </p:spPr>
        <p:txBody>
          <a:bodyPr wrap="square" lIns="0" rIns="0" tIns="0" bIns="0">
            <a:spAutoFit/>
          </a:bodyPr>
          <a:lstStyle/>
          <a:p>
            <a:pPr>
              <a:lnSpc>
                <a:spcPct val="145000"/>
              </a:lnSpc>
              <a:spcAft>
                <a:spcPts val="0"/>
              </a:spcAft>
            </a:pPr>
            <a:r>
              <a:rPr sz="1050" b="0" i="0">
                <a:solidFill>
                  <a:srgbClr val="33555F"/>
                </a:solidFill>
                <a:latin typeface="Plus Jakarta Sans"/>
              </a:rPr>
              <a:t>Initial operation is planned around Dhaka-Hanoi and Dhaka-Ho Chi Minh City, subject to visa-service normalization</a:t>
            </a:r>
          </a:p>
        </p:txBody>
      </p:sp>
      <p:sp>
        <p:nvSpPr>
          <p:cNvPr id="11" name="Oval 10"/>
          <p:cNvSpPr/>
          <p:nvPr/>
        </p:nvSpPr>
        <p:spPr>
          <a:xfrm>
            <a:off x="786384" y="3497579"/>
            <a:ext cx="54864" cy="54864"/>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3419856"/>
            <a:ext cx="6400800" cy="731520"/>
          </a:xfrm>
          <a:prstGeom prst="rect">
            <a:avLst/>
          </a:prstGeom>
          <a:noFill/>
        </p:spPr>
        <p:txBody>
          <a:bodyPr wrap="square" lIns="0" rIns="0" tIns="0" bIns="0">
            <a:spAutoFit/>
          </a:bodyPr>
          <a:lstStyle/>
          <a:p>
            <a:pPr>
              <a:lnSpc>
                <a:spcPct val="145000"/>
              </a:lnSpc>
              <a:spcAft>
                <a:spcPts val="0"/>
              </a:spcAft>
            </a:pPr>
            <a:r>
              <a:rPr sz="1050" b="0" i="0">
                <a:solidFill>
                  <a:srgbClr val="33555F"/>
                </a:solidFill>
                <a:latin typeface="Plus Jakarta Sans"/>
              </a:rPr>
              <a:t>This pack combines our own launch-requirement checklist, four Bangladesh Bank circulars, and our AD-bank remittance procedure into a single operational playbook</a:t>
            </a:r>
          </a:p>
        </p:txBody>
      </p:sp>
      <p:sp>
        <p:nvSpPr>
          <p:cNvPr id="13" name="Rectangle 12"/>
          <p:cNvSpPr/>
          <p:nvPr/>
        </p:nvSpPr>
        <p:spPr>
          <a:xfrm>
            <a:off x="786384" y="4416552"/>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a0e03c719_t.png"/>
          <p:cNvPicPr>
            <a:picLocks noChangeAspect="1"/>
          </p:cNvPicPr>
          <p:nvPr/>
        </p:nvPicPr>
        <p:blipFill>
          <a:blip r:embed="rId2"/>
          <a:stretch>
            <a:fillRect/>
          </a:stretch>
        </p:blipFill>
        <p:spPr>
          <a:xfrm>
            <a:off x="969264" y="4311396"/>
            <a:ext cx="219456" cy="219456"/>
          </a:xfrm>
          <a:prstGeom prst="rect">
            <a:avLst/>
          </a:prstGeom>
        </p:spPr>
      </p:pic>
      <p:sp>
        <p:nvSpPr>
          <p:cNvPr id="15" name="TextBox 14"/>
          <p:cNvSpPr txBox="1"/>
          <p:nvPr/>
        </p:nvSpPr>
        <p:spPr>
          <a:xfrm>
            <a:off x="987552" y="4727448"/>
            <a:ext cx="4888839"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DAC to HAN</a:t>
            </a:r>
          </a:p>
        </p:txBody>
      </p:sp>
      <p:sp>
        <p:nvSpPr>
          <p:cNvPr id="16" name="TextBox 15"/>
          <p:cNvSpPr txBox="1"/>
          <p:nvPr/>
        </p:nvSpPr>
        <p:spPr>
          <a:xfrm>
            <a:off x="987552" y="4965192"/>
            <a:ext cx="4888839"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Dhaka - Hanoi</a:t>
            </a:r>
          </a:p>
        </p:txBody>
      </p:sp>
      <p:sp>
        <p:nvSpPr>
          <p:cNvPr id="17" name="TextBox 16"/>
          <p:cNvSpPr txBox="1"/>
          <p:nvPr/>
        </p:nvSpPr>
        <p:spPr>
          <a:xfrm>
            <a:off x="987552" y="5202936"/>
            <a:ext cx="4888839"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3x weekly (planned)</a:t>
            </a:r>
          </a:p>
        </p:txBody>
      </p:sp>
      <p:sp>
        <p:nvSpPr>
          <p:cNvPr id="18" name="Rectangle 17"/>
          <p:cNvSpPr/>
          <p:nvPr/>
        </p:nvSpPr>
        <p:spPr>
          <a:xfrm>
            <a:off x="6095847" y="4471416"/>
            <a:ext cx="9525" cy="960119"/>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97015" y="4381804"/>
            <a:ext cx="68580" cy="68580"/>
          </a:xfrm>
          <a:prstGeom prst="ellipse">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7015" y="4636008"/>
            <a:ext cx="4888839" cy="457200"/>
          </a:xfrm>
          <a:prstGeom prst="rect">
            <a:avLst/>
          </a:prstGeom>
          <a:noFill/>
        </p:spPr>
        <p:txBody>
          <a:bodyPr wrap="square" lIns="0" rIns="0" tIns="0" bIns="0">
            <a:spAutoFit/>
          </a:bodyPr>
          <a:lstStyle/>
          <a:p>
            <a:pPr>
              <a:lnSpc>
                <a:spcPct val="130000"/>
              </a:lnSpc>
              <a:spcAft>
                <a:spcPts val="0"/>
              </a:spcAft>
            </a:pPr>
            <a:r>
              <a:rPr sz="750" b="0" i="0" cap="all" spc="150">
                <a:solidFill>
                  <a:srgbClr val="C10073"/>
                </a:solidFill>
                <a:latin typeface="IBM Plex Mono"/>
              </a:rPr>
              <a:t>DAC to SGN</a:t>
            </a:r>
          </a:p>
        </p:txBody>
      </p:sp>
      <p:sp>
        <p:nvSpPr>
          <p:cNvPr id="21" name="TextBox 20"/>
          <p:cNvSpPr txBox="1"/>
          <p:nvPr/>
        </p:nvSpPr>
        <p:spPr>
          <a:xfrm>
            <a:off x="6297015" y="4873752"/>
            <a:ext cx="4888839"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Dhaka - Ho Chi Minh City</a:t>
            </a:r>
          </a:p>
        </p:txBody>
      </p:sp>
      <p:sp>
        <p:nvSpPr>
          <p:cNvPr id="22" name="TextBox 21"/>
          <p:cNvSpPr txBox="1"/>
          <p:nvPr/>
        </p:nvSpPr>
        <p:spPr>
          <a:xfrm>
            <a:off x="6297015" y="5111496"/>
            <a:ext cx="4888839"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4x weekly (planned)</a:t>
            </a:r>
          </a:p>
        </p:txBody>
      </p:sp>
      <p:sp>
        <p:nvSpPr>
          <p:cNvPr id="23" name="TextBox 22"/>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24" name="TextBox 23"/>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03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Part 1   /   01   /   Corporate, Legal &amp; NBR</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3000" b="1">
                <a:solidFill>
                  <a:srgbClr val="0E2830"/>
                </a:solidFill>
                <a:latin typeface="Outfit"/>
              </a:rPr>
              <a:t>Corporate Registration &amp; Tax Recognition</a:t>
            </a:r>
          </a:p>
        </p:txBody>
      </p:sp>
      <p:sp>
        <p:nvSpPr>
          <p:cNvPr id="5" name="Rectangle 4"/>
          <p:cNvSpPr/>
          <p:nvPr/>
        </p:nvSpPr>
        <p:spPr>
          <a:xfrm>
            <a:off x="786384" y="2212848"/>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c_2cd716845f_t.png"/>
          <p:cNvPicPr>
            <a:picLocks noChangeAspect="1"/>
          </p:cNvPicPr>
          <p:nvPr/>
        </p:nvPicPr>
        <p:blipFill>
          <a:blip r:embed="rId2"/>
          <a:stretch>
            <a:fillRect/>
          </a:stretch>
        </p:blipFill>
        <p:spPr>
          <a:xfrm>
            <a:off x="969264" y="2107691"/>
            <a:ext cx="219456" cy="219456"/>
          </a:xfrm>
          <a:prstGeom prst="rect">
            <a:avLst/>
          </a:prstGeom>
        </p:spPr>
      </p:pic>
      <p:sp>
        <p:nvSpPr>
          <p:cNvPr id="7" name="TextBox 6"/>
          <p:cNvSpPr txBox="1"/>
          <p:nvPr/>
        </p:nvSpPr>
        <p:spPr>
          <a:xfrm>
            <a:off x="987552" y="2523744"/>
            <a:ext cx="3119018"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Trade Licence</a:t>
            </a:r>
          </a:p>
        </p:txBody>
      </p:sp>
      <p:sp>
        <p:nvSpPr>
          <p:cNvPr id="8" name="TextBox 7"/>
          <p:cNvSpPr txBox="1"/>
          <p:nvPr/>
        </p:nvSpPr>
        <p:spPr>
          <a:xfrm>
            <a:off x="987552" y="2761487"/>
            <a:ext cx="3119018"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Base municipal licence to operate as a registered entity in Bangladesh</a:t>
            </a:r>
          </a:p>
        </p:txBody>
      </p:sp>
      <p:sp>
        <p:nvSpPr>
          <p:cNvPr id="9" name="Rectangle 8"/>
          <p:cNvSpPr/>
          <p:nvPr/>
        </p:nvSpPr>
        <p:spPr>
          <a:xfrm>
            <a:off x="4326026" y="2267712"/>
            <a:ext cx="9525" cy="132588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3578ddd62b_t.png"/>
          <p:cNvPicPr>
            <a:picLocks noChangeAspect="1"/>
          </p:cNvPicPr>
          <p:nvPr/>
        </p:nvPicPr>
        <p:blipFill>
          <a:blip r:embed="rId3"/>
          <a:stretch>
            <a:fillRect/>
          </a:stretch>
        </p:blipFill>
        <p:spPr>
          <a:xfrm>
            <a:off x="4508906" y="2107691"/>
            <a:ext cx="219456" cy="219456"/>
          </a:xfrm>
          <a:prstGeom prst="rect">
            <a:avLst/>
          </a:prstGeom>
        </p:spPr>
      </p:pic>
      <p:sp>
        <p:nvSpPr>
          <p:cNvPr id="11" name="TextBox 10"/>
          <p:cNvSpPr txBox="1"/>
          <p:nvPr/>
        </p:nvSpPr>
        <p:spPr>
          <a:xfrm>
            <a:off x="4527194" y="2523744"/>
            <a:ext cx="3119018"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Tax Identification Certificate</a:t>
            </a:r>
          </a:p>
        </p:txBody>
      </p:sp>
      <p:sp>
        <p:nvSpPr>
          <p:cNvPr id="12" name="TextBox 11"/>
          <p:cNvSpPr txBox="1"/>
          <p:nvPr/>
        </p:nvSpPr>
        <p:spPr>
          <a:xfrm>
            <a:off x="4527194" y="2761487"/>
            <a:ext cx="3119018"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TIN registration with NBR for the local entity</a:t>
            </a:r>
          </a:p>
        </p:txBody>
      </p:sp>
      <p:sp>
        <p:nvSpPr>
          <p:cNvPr id="13" name="Rectangle 12"/>
          <p:cNvSpPr/>
          <p:nvPr/>
        </p:nvSpPr>
        <p:spPr>
          <a:xfrm>
            <a:off x="7865668" y="2267712"/>
            <a:ext cx="9525" cy="132588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2cd716845f_t.png"/>
          <p:cNvPicPr>
            <a:picLocks noChangeAspect="1"/>
          </p:cNvPicPr>
          <p:nvPr/>
        </p:nvPicPr>
        <p:blipFill>
          <a:blip r:embed="rId2"/>
          <a:stretch>
            <a:fillRect/>
          </a:stretch>
        </p:blipFill>
        <p:spPr>
          <a:xfrm>
            <a:off x="8048548" y="2107691"/>
            <a:ext cx="219456" cy="219456"/>
          </a:xfrm>
          <a:prstGeom prst="rect">
            <a:avLst/>
          </a:prstGeom>
        </p:spPr>
      </p:pic>
      <p:sp>
        <p:nvSpPr>
          <p:cNvPr id="15" name="TextBox 14"/>
          <p:cNvSpPr txBox="1"/>
          <p:nvPr/>
        </p:nvSpPr>
        <p:spPr>
          <a:xfrm>
            <a:off x="8066836" y="2523744"/>
            <a:ext cx="3119018"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Business Identification Certificate</a:t>
            </a:r>
          </a:p>
        </p:txBody>
      </p:sp>
      <p:sp>
        <p:nvSpPr>
          <p:cNvPr id="16" name="TextBox 15"/>
          <p:cNvSpPr txBox="1"/>
          <p:nvPr/>
        </p:nvSpPr>
        <p:spPr>
          <a:xfrm>
            <a:off x="8066836" y="2761487"/>
            <a:ext cx="3119018"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BIN, the VAT/business identification certificate</a:t>
            </a:r>
          </a:p>
        </p:txBody>
      </p:sp>
      <p:sp>
        <p:nvSpPr>
          <p:cNvPr id="17" name="Rectangle 16"/>
          <p:cNvSpPr/>
          <p:nvPr/>
        </p:nvSpPr>
        <p:spPr>
          <a:xfrm>
            <a:off x="786384" y="4160520"/>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c_b000332f21_m.png"/>
          <p:cNvPicPr>
            <a:picLocks noChangeAspect="1"/>
          </p:cNvPicPr>
          <p:nvPr/>
        </p:nvPicPr>
        <p:blipFill>
          <a:blip r:embed="rId4"/>
          <a:stretch>
            <a:fillRect/>
          </a:stretch>
        </p:blipFill>
        <p:spPr>
          <a:xfrm>
            <a:off x="969264" y="4055363"/>
            <a:ext cx="219456" cy="219456"/>
          </a:xfrm>
          <a:prstGeom prst="rect">
            <a:avLst/>
          </a:prstGeom>
        </p:spPr>
      </p:pic>
      <p:sp>
        <p:nvSpPr>
          <p:cNvPr id="19" name="TextBox 18"/>
          <p:cNvSpPr txBox="1"/>
          <p:nvPr/>
        </p:nvSpPr>
        <p:spPr>
          <a:xfrm>
            <a:off x="987552" y="4471416"/>
            <a:ext cx="4888839"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NBR Double Taxation Certificate</a:t>
            </a:r>
          </a:p>
        </p:txBody>
      </p:sp>
      <p:sp>
        <p:nvSpPr>
          <p:cNvPr id="20" name="TextBox 19"/>
          <p:cNvSpPr txBox="1"/>
          <p:nvPr/>
        </p:nvSpPr>
        <p:spPr>
          <a:xfrm>
            <a:off x="987552" y="4709159"/>
            <a:ext cx="4888839"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DTA certificate referencing the Bangladesh-Vietnam tax treaty</a:t>
            </a:r>
          </a:p>
        </p:txBody>
      </p:sp>
      <p:sp>
        <p:nvSpPr>
          <p:cNvPr id="21" name="Rectangle 20"/>
          <p:cNvSpPr/>
          <p:nvPr/>
        </p:nvSpPr>
        <p:spPr>
          <a:xfrm>
            <a:off x="6095847" y="4215383"/>
            <a:ext cx="9525" cy="132588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5bb33644a8_m.png"/>
          <p:cNvPicPr>
            <a:picLocks noChangeAspect="1"/>
          </p:cNvPicPr>
          <p:nvPr/>
        </p:nvPicPr>
        <p:blipFill>
          <a:blip r:embed="rId5"/>
          <a:stretch>
            <a:fillRect/>
          </a:stretch>
        </p:blipFill>
        <p:spPr>
          <a:xfrm>
            <a:off x="6278727" y="4055363"/>
            <a:ext cx="219456" cy="219456"/>
          </a:xfrm>
          <a:prstGeom prst="rect">
            <a:avLst/>
          </a:prstGeom>
        </p:spPr>
      </p:pic>
      <p:sp>
        <p:nvSpPr>
          <p:cNvPr id="23" name="TextBox 22"/>
          <p:cNvSpPr txBox="1"/>
          <p:nvPr/>
        </p:nvSpPr>
        <p:spPr>
          <a:xfrm>
            <a:off x="6297015" y="4471416"/>
            <a:ext cx="4888839"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Tax Exemption Certificate</a:t>
            </a:r>
          </a:p>
        </p:txBody>
      </p:sp>
      <p:sp>
        <p:nvSpPr>
          <p:cNvPr id="24" name="TextBox 23"/>
          <p:cNvSpPr txBox="1"/>
          <p:nvPr/>
        </p:nvSpPr>
        <p:spPr>
          <a:xfrm>
            <a:off x="6297015" y="4709159"/>
            <a:ext cx="4888839"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Valid NBR certificate, renewed annually, supporting treaty-rate withholding</a:t>
            </a:r>
          </a:p>
        </p:txBody>
      </p:sp>
      <p:sp>
        <p:nvSpPr>
          <p:cNvPr id="25" name="TextBox 24"/>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26" name="TextBox 25"/>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04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Part 1   /   02   /   BIDA &amp; Expatriate Compliance</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3000" b="1">
                <a:solidFill>
                  <a:srgbClr val="0E2830"/>
                </a:solidFill>
                <a:latin typeface="Outfit"/>
              </a:rPr>
              <a:t>Branch Registration &amp; Expatriate Staffing</a:t>
            </a:r>
          </a:p>
        </p:txBody>
      </p:sp>
      <p:sp>
        <p:nvSpPr>
          <p:cNvPr id="5" name="Rectangle 4"/>
          <p:cNvSpPr/>
          <p:nvPr/>
        </p:nvSpPr>
        <p:spPr>
          <a:xfrm>
            <a:off x="786384" y="2212848"/>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c_36b01450dd_t.png"/>
          <p:cNvPicPr>
            <a:picLocks noChangeAspect="1"/>
          </p:cNvPicPr>
          <p:nvPr/>
        </p:nvPicPr>
        <p:blipFill>
          <a:blip r:embed="rId2"/>
          <a:stretch>
            <a:fillRect/>
          </a:stretch>
        </p:blipFill>
        <p:spPr>
          <a:xfrm>
            <a:off x="969264" y="2107691"/>
            <a:ext cx="219456" cy="219456"/>
          </a:xfrm>
          <a:prstGeom prst="rect">
            <a:avLst/>
          </a:prstGeom>
        </p:spPr>
      </p:pic>
      <p:sp>
        <p:nvSpPr>
          <p:cNvPr id="7" name="TextBox 6"/>
          <p:cNvSpPr txBox="1"/>
          <p:nvPr/>
        </p:nvSpPr>
        <p:spPr>
          <a:xfrm>
            <a:off x="987552" y="2523744"/>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Branch Office Permission</a:t>
            </a:r>
          </a:p>
        </p:txBody>
      </p:sp>
      <p:sp>
        <p:nvSpPr>
          <p:cNvPr id="8" name="TextBox 7"/>
          <p:cNvSpPr txBox="1"/>
          <p:nvPr/>
        </p:nvSpPr>
        <p:spPr>
          <a:xfrm>
            <a:off x="987552" y="2761487"/>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Core BIDA approval to operate a branch office in Bangladesh</a:t>
            </a:r>
          </a:p>
        </p:txBody>
      </p:sp>
      <p:sp>
        <p:nvSpPr>
          <p:cNvPr id="9" name="Rectangle 8"/>
          <p:cNvSpPr/>
          <p:nvPr/>
        </p:nvSpPr>
        <p:spPr>
          <a:xfrm>
            <a:off x="3441115" y="2267712"/>
            <a:ext cx="9525" cy="1417319"/>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3aaf45fd9b_t.png"/>
          <p:cNvPicPr>
            <a:picLocks noChangeAspect="1"/>
          </p:cNvPicPr>
          <p:nvPr/>
        </p:nvPicPr>
        <p:blipFill>
          <a:blip r:embed="rId3"/>
          <a:stretch>
            <a:fillRect/>
          </a:stretch>
        </p:blipFill>
        <p:spPr>
          <a:xfrm>
            <a:off x="3623995" y="2107691"/>
            <a:ext cx="219456" cy="219456"/>
          </a:xfrm>
          <a:prstGeom prst="rect">
            <a:avLst/>
          </a:prstGeom>
        </p:spPr>
      </p:pic>
      <p:sp>
        <p:nvSpPr>
          <p:cNvPr id="11" name="TextBox 10"/>
          <p:cNvSpPr txBox="1"/>
          <p:nvPr/>
        </p:nvSpPr>
        <p:spPr>
          <a:xfrm>
            <a:off x="3642283" y="2523744"/>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Expert E-Visa Recommendation Letter</a:t>
            </a:r>
          </a:p>
        </p:txBody>
      </p:sp>
      <p:sp>
        <p:nvSpPr>
          <p:cNvPr id="12" name="TextBox 11"/>
          <p:cNvSpPr txBox="1"/>
          <p:nvPr/>
        </p:nvSpPr>
        <p:spPr>
          <a:xfrm>
            <a:off x="3642283" y="2944368"/>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BIDA recommendation supporting the expatriate's e-visa application</a:t>
            </a:r>
          </a:p>
        </p:txBody>
      </p:sp>
      <p:sp>
        <p:nvSpPr>
          <p:cNvPr id="13" name="Rectangle 12"/>
          <p:cNvSpPr/>
          <p:nvPr/>
        </p:nvSpPr>
        <p:spPr>
          <a:xfrm>
            <a:off x="6095847" y="2267712"/>
            <a:ext cx="9525" cy="1417319"/>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2cd716845f_t.png"/>
          <p:cNvPicPr>
            <a:picLocks noChangeAspect="1"/>
          </p:cNvPicPr>
          <p:nvPr/>
        </p:nvPicPr>
        <p:blipFill>
          <a:blip r:embed="rId4"/>
          <a:stretch>
            <a:fillRect/>
          </a:stretch>
        </p:blipFill>
        <p:spPr>
          <a:xfrm>
            <a:off x="6278727" y="2107691"/>
            <a:ext cx="219456" cy="219456"/>
          </a:xfrm>
          <a:prstGeom prst="rect">
            <a:avLst/>
          </a:prstGeom>
        </p:spPr>
      </p:pic>
      <p:sp>
        <p:nvSpPr>
          <p:cNvPr id="15" name="TextBox 14"/>
          <p:cNvSpPr txBox="1"/>
          <p:nvPr/>
        </p:nvSpPr>
        <p:spPr>
          <a:xfrm>
            <a:off x="6297015" y="2523744"/>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Expert Work Permit</a:t>
            </a:r>
          </a:p>
        </p:txBody>
      </p:sp>
      <p:sp>
        <p:nvSpPr>
          <p:cNvPr id="16" name="TextBox 15"/>
          <p:cNvSpPr txBox="1"/>
          <p:nvPr/>
        </p:nvSpPr>
        <p:spPr>
          <a:xfrm>
            <a:off x="6297015" y="2761487"/>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Work authorization for each expatriate employee</a:t>
            </a:r>
          </a:p>
        </p:txBody>
      </p:sp>
      <p:sp>
        <p:nvSpPr>
          <p:cNvPr id="17" name="Rectangle 16"/>
          <p:cNvSpPr/>
          <p:nvPr/>
        </p:nvSpPr>
        <p:spPr>
          <a:xfrm>
            <a:off x="8750579" y="2267712"/>
            <a:ext cx="9525" cy="1417319"/>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c_d35d0b5e0c_m.png"/>
          <p:cNvPicPr>
            <a:picLocks noChangeAspect="1"/>
          </p:cNvPicPr>
          <p:nvPr/>
        </p:nvPicPr>
        <p:blipFill>
          <a:blip r:embed="rId5"/>
          <a:stretch>
            <a:fillRect/>
          </a:stretch>
        </p:blipFill>
        <p:spPr>
          <a:xfrm>
            <a:off x="8933459" y="2107691"/>
            <a:ext cx="219456" cy="219456"/>
          </a:xfrm>
          <a:prstGeom prst="rect">
            <a:avLst/>
          </a:prstGeom>
        </p:spPr>
      </p:pic>
      <p:sp>
        <p:nvSpPr>
          <p:cNvPr id="19" name="TextBox 18"/>
          <p:cNvSpPr txBox="1"/>
          <p:nvPr/>
        </p:nvSpPr>
        <p:spPr>
          <a:xfrm>
            <a:off x="8951747" y="2523744"/>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Waiver Clause 7 &amp; 8</a:t>
            </a:r>
          </a:p>
        </p:txBody>
      </p:sp>
      <p:sp>
        <p:nvSpPr>
          <p:cNvPr id="20" name="TextBox 19"/>
          <p:cNvSpPr txBox="1"/>
          <p:nvPr/>
        </p:nvSpPr>
        <p:spPr>
          <a:xfrm>
            <a:off x="8951747" y="2761487"/>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Conditions in the BIDA permission letter that must be satisfied for outward remittance to proceed</a:t>
            </a:r>
          </a:p>
        </p:txBody>
      </p:sp>
      <p:sp>
        <p:nvSpPr>
          <p:cNvPr id="21" name="Rectangle 20"/>
          <p:cNvSpPr/>
          <p:nvPr/>
        </p:nvSpPr>
        <p:spPr>
          <a:xfrm>
            <a:off x="786384" y="4279392"/>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88b724913d_t.png"/>
          <p:cNvPicPr>
            <a:picLocks noChangeAspect="1"/>
          </p:cNvPicPr>
          <p:nvPr/>
        </p:nvPicPr>
        <p:blipFill>
          <a:blip r:embed="rId6"/>
          <a:stretch>
            <a:fillRect/>
          </a:stretch>
        </p:blipFill>
        <p:spPr>
          <a:xfrm>
            <a:off x="969264" y="4174235"/>
            <a:ext cx="219456" cy="219456"/>
          </a:xfrm>
          <a:prstGeom prst="rect">
            <a:avLst/>
          </a:prstGeom>
        </p:spPr>
      </p:pic>
      <p:sp>
        <p:nvSpPr>
          <p:cNvPr id="23" name="TextBox 22"/>
          <p:cNvSpPr txBox="1"/>
          <p:nvPr/>
        </p:nvSpPr>
        <p:spPr>
          <a:xfrm>
            <a:off x="987552" y="4590288"/>
            <a:ext cx="4888839"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BIDA staff ratio</a:t>
            </a:r>
          </a:p>
        </p:txBody>
      </p:sp>
      <p:sp>
        <p:nvSpPr>
          <p:cNvPr id="24" name="TextBox 23"/>
          <p:cNvSpPr txBox="1"/>
          <p:nvPr/>
        </p:nvSpPr>
        <p:spPr>
          <a:xfrm>
            <a:off x="987552" y="4828031"/>
            <a:ext cx="4888839" cy="457200"/>
          </a:xfrm>
          <a:prstGeom prst="rect">
            <a:avLst/>
          </a:prstGeom>
          <a:noFill/>
        </p:spPr>
        <p:txBody>
          <a:bodyPr wrap="square" lIns="0" rIns="0" tIns="0" bIns="0">
            <a:spAutoFit/>
          </a:bodyPr>
          <a:lstStyle/>
          <a:p>
            <a:pPr>
              <a:lnSpc>
                <a:spcPct val="100000"/>
              </a:lnSpc>
              <a:spcAft>
                <a:spcPts val="0"/>
              </a:spcAft>
            </a:pPr>
            <a:r>
              <a:rPr sz="2100" b="1" i="0">
                <a:solidFill>
                  <a:srgbClr val="0E2830"/>
                </a:solidFill>
                <a:latin typeface="Outfit"/>
              </a:rPr>
              <a:t>1 : 5</a:t>
            </a:r>
          </a:p>
        </p:txBody>
      </p:sp>
      <p:sp>
        <p:nvSpPr>
          <p:cNvPr id="25" name="TextBox 24"/>
          <p:cNvSpPr txBox="1"/>
          <p:nvPr/>
        </p:nvSpPr>
        <p:spPr>
          <a:xfrm>
            <a:off x="987552" y="5157216"/>
            <a:ext cx="4888839"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One expatriate supported by at least five Bangladeshi/local employees</a:t>
            </a:r>
          </a:p>
        </p:txBody>
      </p:sp>
      <p:sp>
        <p:nvSpPr>
          <p:cNvPr id="26" name="Rectangle 25"/>
          <p:cNvSpPr/>
          <p:nvPr/>
        </p:nvSpPr>
        <p:spPr>
          <a:xfrm>
            <a:off x="6095847" y="4334255"/>
            <a:ext cx="9525" cy="132588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c_3639e1767d_t.png"/>
          <p:cNvPicPr>
            <a:picLocks noChangeAspect="1"/>
          </p:cNvPicPr>
          <p:nvPr/>
        </p:nvPicPr>
        <p:blipFill>
          <a:blip r:embed="rId7"/>
          <a:stretch>
            <a:fillRect/>
          </a:stretch>
        </p:blipFill>
        <p:spPr>
          <a:xfrm>
            <a:off x="6278727" y="4174235"/>
            <a:ext cx="219456" cy="219456"/>
          </a:xfrm>
          <a:prstGeom prst="rect">
            <a:avLst/>
          </a:prstGeom>
        </p:spPr>
      </p:pic>
      <p:sp>
        <p:nvSpPr>
          <p:cNvPr id="28" name="TextBox 27"/>
          <p:cNvSpPr txBox="1"/>
          <p:nvPr/>
        </p:nvSpPr>
        <p:spPr>
          <a:xfrm>
            <a:off x="6297015" y="4590288"/>
            <a:ext cx="4888839"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Minimum inward remittance</a:t>
            </a:r>
          </a:p>
        </p:txBody>
      </p:sp>
      <p:sp>
        <p:nvSpPr>
          <p:cNvPr id="29" name="TextBox 28"/>
          <p:cNvSpPr txBox="1"/>
          <p:nvPr/>
        </p:nvSpPr>
        <p:spPr>
          <a:xfrm>
            <a:off x="6297015" y="4828031"/>
            <a:ext cx="4888839" cy="457200"/>
          </a:xfrm>
          <a:prstGeom prst="rect">
            <a:avLst/>
          </a:prstGeom>
          <a:noFill/>
        </p:spPr>
        <p:txBody>
          <a:bodyPr wrap="square" lIns="0" rIns="0" tIns="0" bIns="0">
            <a:spAutoFit/>
          </a:bodyPr>
          <a:lstStyle/>
          <a:p>
            <a:pPr>
              <a:lnSpc>
                <a:spcPct val="100000"/>
              </a:lnSpc>
              <a:spcAft>
                <a:spcPts val="0"/>
              </a:spcAft>
            </a:pPr>
            <a:r>
              <a:rPr sz="2100" b="1" i="0">
                <a:solidFill>
                  <a:srgbClr val="0E2830"/>
                </a:solidFill>
                <a:latin typeface="Outfit"/>
              </a:rPr>
              <a:t>USD 50,000</a:t>
            </a:r>
          </a:p>
        </p:txBody>
      </p:sp>
      <p:sp>
        <p:nvSpPr>
          <p:cNvPr id="30" name="TextBox 29"/>
          <p:cNvSpPr txBox="1"/>
          <p:nvPr/>
        </p:nvSpPr>
        <p:spPr>
          <a:xfrm>
            <a:off x="6297015" y="5157216"/>
            <a:ext cx="4888839"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Minimum encashment certificate of inward remittance as initial establishment cost. Applies to branch/liaison/rep offices, JVs, and 100% foreign-owned companies</a:t>
            </a:r>
          </a:p>
        </p:txBody>
      </p:sp>
      <p:sp>
        <p:nvSpPr>
          <p:cNvPr id="31" name="TextBox 30"/>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32" name="TextBox 31"/>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05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Part 1   /   03   /   CAAB &amp; Aviation Approvals</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3000" b="1">
                <a:solidFill>
                  <a:srgbClr val="0E2830"/>
                </a:solidFill>
                <a:latin typeface="Outfit"/>
              </a:rPr>
              <a:t>Traffic Rights &amp; Ground Operating Approvals</a:t>
            </a:r>
          </a:p>
        </p:txBody>
      </p:sp>
      <p:sp>
        <p:nvSpPr>
          <p:cNvPr id="5" name="Rectangle 4"/>
          <p:cNvSpPr/>
          <p:nvPr/>
        </p:nvSpPr>
        <p:spPr>
          <a:xfrm>
            <a:off x="786384" y="2212848"/>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c_5f212f4ccf_t.png"/>
          <p:cNvPicPr>
            <a:picLocks noChangeAspect="1"/>
          </p:cNvPicPr>
          <p:nvPr/>
        </p:nvPicPr>
        <p:blipFill>
          <a:blip r:embed="rId2"/>
          <a:stretch>
            <a:fillRect/>
          </a:stretch>
        </p:blipFill>
        <p:spPr>
          <a:xfrm>
            <a:off x="969264" y="2107691"/>
            <a:ext cx="219456" cy="219456"/>
          </a:xfrm>
          <a:prstGeom prst="rect">
            <a:avLst/>
          </a:prstGeom>
        </p:spPr>
      </p:pic>
      <p:sp>
        <p:nvSpPr>
          <p:cNvPr id="7" name="TextBox 6"/>
          <p:cNvSpPr txBox="1"/>
          <p:nvPr/>
        </p:nvSpPr>
        <p:spPr>
          <a:xfrm>
            <a:off x="987552" y="2523744"/>
            <a:ext cx="3119018"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Flight Operation Permission</a:t>
            </a:r>
          </a:p>
        </p:txBody>
      </p:sp>
      <p:sp>
        <p:nvSpPr>
          <p:cNvPr id="8" name="TextBox 7"/>
          <p:cNvSpPr txBox="1"/>
          <p:nvPr/>
        </p:nvSpPr>
        <p:spPr>
          <a:xfrm>
            <a:off x="987552" y="2761487"/>
            <a:ext cx="3119018"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Core CAAB approval to operate scheduled flights</a:t>
            </a:r>
          </a:p>
        </p:txBody>
      </p:sp>
      <p:sp>
        <p:nvSpPr>
          <p:cNvPr id="9" name="Rectangle 8"/>
          <p:cNvSpPr/>
          <p:nvPr/>
        </p:nvSpPr>
        <p:spPr>
          <a:xfrm>
            <a:off x="4326026" y="2267712"/>
            <a:ext cx="9525" cy="1207007"/>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c_f9915a1866_t.png"/>
          <p:cNvPicPr>
            <a:picLocks noChangeAspect="1"/>
          </p:cNvPicPr>
          <p:nvPr/>
        </p:nvPicPr>
        <p:blipFill>
          <a:blip r:embed="rId3"/>
          <a:stretch>
            <a:fillRect/>
          </a:stretch>
        </p:blipFill>
        <p:spPr>
          <a:xfrm>
            <a:off x="4508906" y="2107691"/>
            <a:ext cx="219456" cy="219456"/>
          </a:xfrm>
          <a:prstGeom prst="rect">
            <a:avLst/>
          </a:prstGeom>
        </p:spPr>
      </p:pic>
      <p:sp>
        <p:nvSpPr>
          <p:cNvPr id="11" name="TextBox 10"/>
          <p:cNvSpPr txBox="1"/>
          <p:nvPr/>
        </p:nvSpPr>
        <p:spPr>
          <a:xfrm>
            <a:off x="4527194" y="2523744"/>
            <a:ext cx="3119018"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Approved Passenger Fare / Tariff</a:t>
            </a:r>
          </a:p>
        </p:txBody>
      </p:sp>
      <p:sp>
        <p:nvSpPr>
          <p:cNvPr id="12" name="TextBox 11"/>
          <p:cNvSpPr txBox="1"/>
          <p:nvPr/>
        </p:nvSpPr>
        <p:spPr>
          <a:xfrm>
            <a:off x="4527194" y="2761487"/>
            <a:ext cx="3119018"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Fare filing approved before tickets can be sold</a:t>
            </a:r>
          </a:p>
        </p:txBody>
      </p:sp>
      <p:sp>
        <p:nvSpPr>
          <p:cNvPr id="13" name="Rectangle 12"/>
          <p:cNvSpPr/>
          <p:nvPr/>
        </p:nvSpPr>
        <p:spPr>
          <a:xfrm>
            <a:off x="7865668" y="2267712"/>
            <a:ext cx="9525" cy="1207007"/>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f780945f7_t.png"/>
          <p:cNvPicPr>
            <a:picLocks noChangeAspect="1"/>
          </p:cNvPicPr>
          <p:nvPr/>
        </p:nvPicPr>
        <p:blipFill>
          <a:blip r:embed="rId4"/>
          <a:stretch>
            <a:fillRect/>
          </a:stretch>
        </p:blipFill>
        <p:spPr>
          <a:xfrm>
            <a:off x="8048548" y="2107691"/>
            <a:ext cx="219456" cy="219456"/>
          </a:xfrm>
          <a:prstGeom prst="rect">
            <a:avLst/>
          </a:prstGeom>
        </p:spPr>
      </p:pic>
      <p:sp>
        <p:nvSpPr>
          <p:cNvPr id="15" name="TextBox 14"/>
          <p:cNvSpPr txBox="1"/>
          <p:nvPr/>
        </p:nvSpPr>
        <p:spPr>
          <a:xfrm>
            <a:off x="8066836" y="2523744"/>
            <a:ext cx="3119018"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Approved Cargo Rate / Tariff</a:t>
            </a:r>
          </a:p>
        </p:txBody>
      </p:sp>
      <p:sp>
        <p:nvSpPr>
          <p:cNvPr id="16" name="TextBox 15"/>
          <p:cNvSpPr txBox="1"/>
          <p:nvPr/>
        </p:nvSpPr>
        <p:spPr>
          <a:xfrm>
            <a:off x="8066836" y="2761487"/>
            <a:ext cx="3119018"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Cargo tariff approved before space can be sold</a:t>
            </a:r>
          </a:p>
        </p:txBody>
      </p:sp>
      <p:sp>
        <p:nvSpPr>
          <p:cNvPr id="17" name="Rectangle 16"/>
          <p:cNvSpPr/>
          <p:nvPr/>
        </p:nvSpPr>
        <p:spPr>
          <a:xfrm>
            <a:off x="786384" y="3785615"/>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c_af6d17bb97_t.png"/>
          <p:cNvPicPr>
            <a:picLocks noChangeAspect="1"/>
          </p:cNvPicPr>
          <p:nvPr/>
        </p:nvPicPr>
        <p:blipFill>
          <a:blip r:embed="rId5"/>
          <a:stretch>
            <a:fillRect/>
          </a:stretch>
        </p:blipFill>
        <p:spPr>
          <a:xfrm>
            <a:off x="969264" y="3680459"/>
            <a:ext cx="219456" cy="219456"/>
          </a:xfrm>
          <a:prstGeom prst="rect">
            <a:avLst/>
          </a:prstGeom>
        </p:spPr>
      </p:pic>
      <p:sp>
        <p:nvSpPr>
          <p:cNvPr id="19" name="TextBox 18"/>
          <p:cNvSpPr txBox="1"/>
          <p:nvPr/>
        </p:nvSpPr>
        <p:spPr>
          <a:xfrm>
            <a:off x="987552" y="4096511"/>
            <a:ext cx="3119018"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Flight Schedule</a:t>
            </a:r>
          </a:p>
        </p:txBody>
      </p:sp>
      <p:sp>
        <p:nvSpPr>
          <p:cNvPr id="20" name="TextBox 19"/>
          <p:cNvSpPr txBox="1"/>
          <p:nvPr/>
        </p:nvSpPr>
        <p:spPr>
          <a:xfrm>
            <a:off x="987552" y="4334255"/>
            <a:ext cx="3119018"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Timetable filed and approved; changes need advance notice</a:t>
            </a:r>
          </a:p>
        </p:txBody>
      </p:sp>
      <p:sp>
        <p:nvSpPr>
          <p:cNvPr id="21" name="Rectangle 20"/>
          <p:cNvSpPr/>
          <p:nvPr/>
        </p:nvSpPr>
        <p:spPr>
          <a:xfrm>
            <a:off x="786384" y="3785615"/>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26026" y="3840479"/>
            <a:ext cx="9525" cy="1207007"/>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_bfe0f097b2_t.png"/>
          <p:cNvPicPr>
            <a:picLocks noChangeAspect="1"/>
          </p:cNvPicPr>
          <p:nvPr/>
        </p:nvPicPr>
        <p:blipFill>
          <a:blip r:embed="rId6"/>
          <a:stretch>
            <a:fillRect/>
          </a:stretch>
        </p:blipFill>
        <p:spPr>
          <a:xfrm>
            <a:off x="4508906" y="3680459"/>
            <a:ext cx="219456" cy="219456"/>
          </a:xfrm>
          <a:prstGeom prst="rect">
            <a:avLst/>
          </a:prstGeom>
        </p:spPr>
      </p:pic>
      <p:sp>
        <p:nvSpPr>
          <p:cNvPr id="24" name="TextBox 23"/>
          <p:cNvSpPr txBox="1"/>
          <p:nvPr/>
        </p:nvSpPr>
        <p:spPr>
          <a:xfrm>
            <a:off x="4527194" y="4096511"/>
            <a:ext cx="3119018"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GSA Appointment</a:t>
            </a:r>
          </a:p>
        </p:txBody>
      </p:sp>
      <p:sp>
        <p:nvSpPr>
          <p:cNvPr id="25" name="TextBox 24"/>
          <p:cNvSpPr txBox="1"/>
          <p:nvPr/>
        </p:nvSpPr>
        <p:spPr>
          <a:xfrm>
            <a:off x="4527194" y="4334255"/>
            <a:ext cx="3119018"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Formal appointment of Flyport Ltd. as GSA, filed with CAAB</a:t>
            </a:r>
          </a:p>
        </p:txBody>
      </p:sp>
      <p:sp>
        <p:nvSpPr>
          <p:cNvPr id="26" name="Rectangle 25"/>
          <p:cNvSpPr/>
          <p:nvPr/>
        </p:nvSpPr>
        <p:spPr>
          <a:xfrm>
            <a:off x="786384" y="3785615"/>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865668" y="3840479"/>
            <a:ext cx="9525" cy="1207007"/>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_f2bea0a7ed_t.png"/>
          <p:cNvPicPr>
            <a:picLocks noChangeAspect="1"/>
          </p:cNvPicPr>
          <p:nvPr/>
        </p:nvPicPr>
        <p:blipFill>
          <a:blip r:embed="rId7"/>
          <a:stretch>
            <a:fillRect/>
          </a:stretch>
        </p:blipFill>
        <p:spPr>
          <a:xfrm>
            <a:off x="8048548" y="3680459"/>
            <a:ext cx="219456" cy="219456"/>
          </a:xfrm>
          <a:prstGeom prst="rect">
            <a:avLst/>
          </a:prstGeom>
        </p:spPr>
      </p:pic>
      <p:sp>
        <p:nvSpPr>
          <p:cNvPr id="29" name="TextBox 28"/>
          <p:cNvSpPr txBox="1"/>
          <p:nvPr/>
        </p:nvSpPr>
        <p:spPr>
          <a:xfrm>
            <a:off x="8066836" y="4096511"/>
            <a:ext cx="3119018"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No Objection Certificate</a:t>
            </a:r>
          </a:p>
        </p:txBody>
      </p:sp>
      <p:sp>
        <p:nvSpPr>
          <p:cNvPr id="30" name="TextBox 29"/>
          <p:cNvSpPr txBox="1"/>
          <p:nvPr/>
        </p:nvSpPr>
        <p:spPr>
          <a:xfrm>
            <a:off x="8066836" y="4334255"/>
            <a:ext cx="3119018"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NOC favouring the GSA, issued by CAAB</a:t>
            </a:r>
          </a:p>
        </p:txBody>
      </p:sp>
      <p:sp>
        <p:nvSpPr>
          <p:cNvPr id="31" name="TextBox 30"/>
          <p:cNvSpPr txBox="1"/>
          <p:nvPr/>
        </p:nvSpPr>
        <p:spPr>
          <a:xfrm>
            <a:off x="786384" y="5669280"/>
            <a:ext cx="10618927" cy="548640"/>
          </a:xfrm>
          <a:prstGeom prst="rect">
            <a:avLst/>
          </a:prstGeom>
          <a:noFill/>
        </p:spPr>
        <p:txBody>
          <a:bodyPr wrap="square" lIns="0" rIns="0" tIns="0" bIns="0">
            <a:spAutoFit/>
          </a:bodyPr>
          <a:lstStyle/>
          <a:p>
            <a:pPr>
              <a:lnSpc>
                <a:spcPct val="150000"/>
              </a:lnSpc>
              <a:spcAft>
                <a:spcPts val="0"/>
              </a:spcAft>
            </a:pPr>
            <a:r>
              <a:rPr sz="950" b="0" i="0">
                <a:solidFill>
                  <a:srgbClr val="52737D"/>
                </a:solidFill>
                <a:latin typeface="Plus Jakarta Sans"/>
              </a:rPr>
              <a:t>Also required on an annual basis: agreements with CAAB and Biman Bangladesh for fuel uplift, catering, and ground handling; plus city, airport office, and cargo-village lease agreements.</a:t>
            </a:r>
          </a:p>
        </p:txBody>
      </p:sp>
      <p:sp>
        <p:nvSpPr>
          <p:cNvPr id="32" name="TextBox 31"/>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33" name="TextBox 32"/>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06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Part 2   /   04   /   Bangladesh Bank &amp; AD Bank</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3000" b="1">
                <a:solidFill>
                  <a:srgbClr val="0E2830"/>
                </a:solidFill>
                <a:latin typeface="Outfit"/>
              </a:rPr>
              <a:t>The Regulatory Foundation. Four SPA Circulars</a:t>
            </a:r>
          </a:p>
        </p:txBody>
      </p:sp>
      <p:sp>
        <p:nvSpPr>
          <p:cNvPr id="5" name="TextBox 4"/>
          <p:cNvSpPr txBox="1"/>
          <p:nvPr/>
        </p:nvSpPr>
        <p:spPr>
          <a:xfrm>
            <a:off x="786384" y="2084831"/>
            <a:ext cx="9875520" cy="914400"/>
          </a:xfrm>
          <a:prstGeom prst="rect">
            <a:avLst/>
          </a:prstGeom>
          <a:noFill/>
        </p:spPr>
        <p:txBody>
          <a:bodyPr wrap="square" lIns="0" rIns="0" tIns="0" bIns="0">
            <a:spAutoFit/>
          </a:bodyPr>
          <a:lstStyle/>
          <a:p>
            <a:pPr>
              <a:lnSpc>
                <a:spcPct val="150000"/>
              </a:lnSpc>
              <a:spcAft>
                <a:spcPts val="0"/>
              </a:spcAft>
            </a:pPr>
            <a:r>
              <a:rPr sz="1200" b="0" i="0">
                <a:solidFill>
                  <a:srgbClr val="33555F"/>
                </a:solidFill>
                <a:latin typeface="Plus Jakarta Sans"/>
              </a:rPr>
              <a:t>Every remittance mechanic in this pack traces back to one of these four Bangladesh Bank circulars</a:t>
            </a:r>
          </a:p>
        </p:txBody>
      </p:sp>
      <p:sp>
        <p:nvSpPr>
          <p:cNvPr id="6" name="Rectangle 5"/>
          <p:cNvSpPr/>
          <p:nvPr/>
        </p:nvSpPr>
        <p:spPr>
          <a:xfrm>
            <a:off x="786384" y="2926080"/>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f2bea0a7ed_t.png"/>
          <p:cNvPicPr>
            <a:picLocks noChangeAspect="1"/>
          </p:cNvPicPr>
          <p:nvPr/>
        </p:nvPicPr>
        <p:blipFill>
          <a:blip r:embed="rId2"/>
          <a:stretch>
            <a:fillRect/>
          </a:stretch>
        </p:blipFill>
        <p:spPr>
          <a:xfrm>
            <a:off x="969264" y="2820924"/>
            <a:ext cx="219456" cy="219456"/>
          </a:xfrm>
          <a:prstGeom prst="rect">
            <a:avLst/>
          </a:prstGeom>
        </p:spPr>
      </p:pic>
      <p:sp>
        <p:nvSpPr>
          <p:cNvPr id="8" name="TextBox 7"/>
          <p:cNvSpPr txBox="1"/>
          <p:nvPr/>
        </p:nvSpPr>
        <p:spPr>
          <a:xfrm>
            <a:off x="987552" y="3236976"/>
            <a:ext cx="223410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Sep 3, 2020   /   SPA Circular No.1</a:t>
            </a:r>
          </a:p>
        </p:txBody>
      </p:sp>
      <p:sp>
        <p:nvSpPr>
          <p:cNvPr id="9" name="TextBox 8"/>
          <p:cNvSpPr txBox="1"/>
          <p:nvPr/>
        </p:nvSpPr>
        <p:spPr>
          <a:xfrm>
            <a:off x="987552" y="3474720"/>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Remittance of Surplus Earnings</a:t>
            </a:r>
          </a:p>
        </p:txBody>
      </p:sp>
      <p:sp>
        <p:nvSpPr>
          <p:cNvPr id="10" name="TextBox 9"/>
          <p:cNvSpPr txBox="1"/>
          <p:nvPr/>
        </p:nvSpPr>
        <p:spPr>
          <a:xfrm>
            <a:off x="987552" y="3895344"/>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Foundational circular: surplus-earnings basis, 10% refund provision, BSP billing summary replaces Form P/P-2</a:t>
            </a:r>
          </a:p>
        </p:txBody>
      </p:sp>
      <p:sp>
        <p:nvSpPr>
          <p:cNvPr id="11" name="Rectangle 10"/>
          <p:cNvSpPr/>
          <p:nvPr/>
        </p:nvSpPr>
        <p:spPr>
          <a:xfrm>
            <a:off x="3441115" y="2980944"/>
            <a:ext cx="9525" cy="2240279"/>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c_d974432387_t.png"/>
          <p:cNvPicPr>
            <a:picLocks noChangeAspect="1"/>
          </p:cNvPicPr>
          <p:nvPr/>
        </p:nvPicPr>
        <p:blipFill>
          <a:blip r:embed="rId3"/>
          <a:stretch>
            <a:fillRect/>
          </a:stretch>
        </p:blipFill>
        <p:spPr>
          <a:xfrm>
            <a:off x="3623995" y="2820924"/>
            <a:ext cx="219456" cy="219456"/>
          </a:xfrm>
          <a:prstGeom prst="rect">
            <a:avLst/>
          </a:prstGeom>
        </p:spPr>
      </p:pic>
      <p:sp>
        <p:nvSpPr>
          <p:cNvPr id="13" name="TextBox 12"/>
          <p:cNvSpPr txBox="1"/>
          <p:nvPr/>
        </p:nvSpPr>
        <p:spPr>
          <a:xfrm>
            <a:off x="3642283" y="3236976"/>
            <a:ext cx="223410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Nov 15, 2021   /   SPA Circular No.1</a:t>
            </a:r>
          </a:p>
        </p:txBody>
      </p:sp>
      <p:sp>
        <p:nvSpPr>
          <p:cNvPr id="14" name="TextBox 13"/>
          <p:cNvSpPr txBox="1"/>
          <p:nvPr/>
        </p:nvSpPr>
        <p:spPr>
          <a:xfrm>
            <a:off x="3642283" y="3474720"/>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Fuel/Oil Purchase in FX</a:t>
            </a:r>
          </a:p>
        </p:txBody>
      </p:sp>
      <p:sp>
        <p:nvSpPr>
          <p:cNvPr id="15" name="TextBox 14"/>
          <p:cNvSpPr txBox="1"/>
          <p:nvPr/>
        </p:nvSpPr>
        <p:spPr>
          <a:xfrm>
            <a:off x="3642283" y="3712463"/>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ADs may issue FX drafts favouring state-owned fuel/oil companies for local purchases</a:t>
            </a:r>
          </a:p>
        </p:txBody>
      </p:sp>
      <p:sp>
        <p:nvSpPr>
          <p:cNvPr id="16" name="Rectangle 15"/>
          <p:cNvSpPr/>
          <p:nvPr/>
        </p:nvSpPr>
        <p:spPr>
          <a:xfrm>
            <a:off x="6095847" y="2980944"/>
            <a:ext cx="9525" cy="2240279"/>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_97a726b169_t.png"/>
          <p:cNvPicPr>
            <a:picLocks noChangeAspect="1"/>
          </p:cNvPicPr>
          <p:nvPr/>
        </p:nvPicPr>
        <p:blipFill>
          <a:blip r:embed="rId4"/>
          <a:stretch>
            <a:fillRect/>
          </a:stretch>
        </p:blipFill>
        <p:spPr>
          <a:xfrm>
            <a:off x="6278727" y="2820924"/>
            <a:ext cx="219456" cy="219456"/>
          </a:xfrm>
          <a:prstGeom prst="rect">
            <a:avLst/>
          </a:prstGeom>
        </p:spPr>
      </p:pic>
      <p:sp>
        <p:nvSpPr>
          <p:cNvPr id="18" name="TextBox 17"/>
          <p:cNvSpPr txBox="1"/>
          <p:nvPr/>
        </p:nvSpPr>
        <p:spPr>
          <a:xfrm>
            <a:off x="6297015" y="3236976"/>
            <a:ext cx="223410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Nov 21, 2021   /   SPA Circular No.02</a:t>
            </a:r>
          </a:p>
        </p:txBody>
      </p:sp>
      <p:sp>
        <p:nvSpPr>
          <p:cNvPr id="19" name="TextBox 18"/>
          <p:cNvSpPr txBox="1"/>
          <p:nvPr/>
        </p:nvSpPr>
        <p:spPr>
          <a:xfrm>
            <a:off x="6297015" y="3474720"/>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Separate Accounts per Carrier</a:t>
            </a:r>
          </a:p>
        </p:txBody>
      </p:sp>
      <p:sp>
        <p:nvSpPr>
          <p:cNvPr id="20" name="TextBox 19"/>
          <p:cNvSpPr txBox="1"/>
          <p:nvPr/>
        </p:nvSpPr>
        <p:spPr>
          <a:xfrm>
            <a:off x="6297015" y="3712463"/>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GSAs representing multiple airlines must keep a dedicated bank account for each one</a:t>
            </a:r>
          </a:p>
        </p:txBody>
      </p:sp>
      <p:sp>
        <p:nvSpPr>
          <p:cNvPr id="21" name="Rectangle 20"/>
          <p:cNvSpPr/>
          <p:nvPr/>
        </p:nvSpPr>
        <p:spPr>
          <a:xfrm>
            <a:off x="8750579" y="2980944"/>
            <a:ext cx="9525" cy="2240279"/>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1fd2010cba_m.png"/>
          <p:cNvPicPr>
            <a:picLocks noChangeAspect="1"/>
          </p:cNvPicPr>
          <p:nvPr/>
        </p:nvPicPr>
        <p:blipFill>
          <a:blip r:embed="rId5"/>
          <a:stretch>
            <a:fillRect/>
          </a:stretch>
        </p:blipFill>
        <p:spPr>
          <a:xfrm>
            <a:off x="8933459" y="2820924"/>
            <a:ext cx="219456" cy="219456"/>
          </a:xfrm>
          <a:prstGeom prst="rect">
            <a:avLst/>
          </a:prstGeom>
        </p:spPr>
      </p:pic>
      <p:sp>
        <p:nvSpPr>
          <p:cNvPr id="23" name="TextBox 22"/>
          <p:cNvSpPr txBox="1"/>
          <p:nvPr/>
        </p:nvSpPr>
        <p:spPr>
          <a:xfrm>
            <a:off x="8951747" y="3236976"/>
            <a:ext cx="2234107" cy="457200"/>
          </a:xfrm>
          <a:prstGeom prst="rect">
            <a:avLst/>
          </a:prstGeom>
          <a:noFill/>
        </p:spPr>
        <p:txBody>
          <a:bodyPr wrap="square" lIns="0" rIns="0" tIns="0" bIns="0">
            <a:spAutoFit/>
          </a:bodyPr>
          <a:lstStyle/>
          <a:p>
            <a:pPr>
              <a:lnSpc>
                <a:spcPct val="130000"/>
              </a:lnSpc>
              <a:spcAft>
                <a:spcPts val="0"/>
              </a:spcAft>
            </a:pPr>
            <a:r>
              <a:rPr sz="750" b="0" i="0" cap="all" spc="150">
                <a:solidFill>
                  <a:srgbClr val="C10073"/>
                </a:solidFill>
                <a:latin typeface="IBM Plex Mono"/>
              </a:rPr>
              <a:t>Aug 9, 2023   /   SPA Circular No-3</a:t>
            </a:r>
          </a:p>
        </p:txBody>
      </p:sp>
      <p:sp>
        <p:nvSpPr>
          <p:cNvPr id="24" name="TextBox 23"/>
          <p:cNvSpPr txBox="1"/>
          <p:nvPr/>
        </p:nvSpPr>
        <p:spPr>
          <a:xfrm>
            <a:off x="8951747" y="3474720"/>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OEMS / OIMS Freight Certificates</a:t>
            </a:r>
          </a:p>
        </p:txBody>
      </p:sp>
      <p:sp>
        <p:nvSpPr>
          <p:cNvPr id="25" name="TextBox 24"/>
          <p:cNvSpPr txBox="1"/>
          <p:nvPr/>
        </p:nvSpPr>
        <p:spPr>
          <a:xfrm>
            <a:off x="8951747" y="3895344"/>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Digital Form FF-Export Prepaid / FF-Import Collect replace manual freight certificates</a:t>
            </a:r>
          </a:p>
        </p:txBody>
      </p:sp>
      <p:sp>
        <p:nvSpPr>
          <p:cNvPr id="26" name="TextBox 25"/>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27" name="TextBox 26"/>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07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Part 2   /   05   /   Bangladesh Bank &amp; AD Bank</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2900" b="1">
                <a:solidFill>
                  <a:srgbClr val="0E2830"/>
                </a:solidFill>
                <a:latin typeface="Outfit"/>
              </a:rPr>
              <a:t>Core Remittance Principle &amp; Dedicated Accounts</a:t>
            </a:r>
          </a:p>
        </p:txBody>
      </p:sp>
      <p:sp>
        <p:nvSpPr>
          <p:cNvPr id="5" name="Rectangle 4"/>
          <p:cNvSpPr/>
          <p:nvPr/>
        </p:nvSpPr>
        <p:spPr>
          <a:xfrm>
            <a:off x="786384" y="2212848"/>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87552" y="2178100"/>
            <a:ext cx="68580" cy="68580"/>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2432304"/>
            <a:ext cx="4888839"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From the 2020 foundational circular</a:t>
            </a:r>
          </a:p>
        </p:txBody>
      </p:sp>
      <p:sp>
        <p:nvSpPr>
          <p:cNvPr id="8" name="TextBox 7"/>
          <p:cNvSpPr txBox="1"/>
          <p:nvPr/>
        </p:nvSpPr>
        <p:spPr>
          <a:xfrm>
            <a:off x="987552" y="2670048"/>
            <a:ext cx="4888839"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Surplus earnings, and what the AD bank must see</a:t>
            </a:r>
          </a:p>
        </p:txBody>
      </p:sp>
      <p:sp>
        <p:nvSpPr>
          <p:cNvPr id="9" name="Oval 8"/>
          <p:cNvSpPr/>
          <p:nvPr/>
        </p:nvSpPr>
        <p:spPr>
          <a:xfrm>
            <a:off x="1005840" y="2958084"/>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 y="2907791"/>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Surplus earnings are calculated on the basis of passage and freight collections</a:t>
            </a:r>
          </a:p>
        </p:txBody>
      </p:sp>
      <p:sp>
        <p:nvSpPr>
          <p:cNvPr id="11" name="Oval 10"/>
          <p:cNvSpPr/>
          <p:nvPr/>
        </p:nvSpPr>
        <p:spPr>
          <a:xfrm>
            <a:off x="1005840" y="3131820"/>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33856" y="3081527"/>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ADs remit based on actual realization if: collections are bank-statement supported, a minimum 10% provision is held for refunds on unavailed journeys, and disbursements/tax are properly adjusted</a:t>
            </a:r>
          </a:p>
        </p:txBody>
      </p:sp>
      <p:sp>
        <p:nvSpPr>
          <p:cNvPr id="13" name="Oval 12"/>
          <p:cNvSpPr/>
          <p:nvPr/>
        </p:nvSpPr>
        <p:spPr>
          <a:xfrm>
            <a:off x="1005840" y="3552444"/>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33856" y="3502151"/>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Unused provision from the prior period is added back in the following period</a:t>
            </a:r>
          </a:p>
        </p:txBody>
      </p:sp>
      <p:sp>
        <p:nvSpPr>
          <p:cNvPr id="15" name="Oval 14"/>
          <p:cNvSpPr/>
          <p:nvPr/>
        </p:nvSpPr>
        <p:spPr>
          <a:xfrm>
            <a:off x="1005840" y="372617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33856" y="3675887"/>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Remittance is only allowed from available funds, never borrowed funds, in the designated account</a:t>
            </a:r>
          </a:p>
        </p:txBody>
      </p:sp>
      <p:sp>
        <p:nvSpPr>
          <p:cNvPr id="17" name="Rectangle 16"/>
          <p:cNvSpPr/>
          <p:nvPr/>
        </p:nvSpPr>
        <p:spPr>
          <a:xfrm>
            <a:off x="6095847" y="2267712"/>
            <a:ext cx="9525" cy="3154679"/>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c_46a7e3c4a5_m.png"/>
          <p:cNvPicPr>
            <a:picLocks noChangeAspect="1"/>
          </p:cNvPicPr>
          <p:nvPr/>
        </p:nvPicPr>
        <p:blipFill>
          <a:blip r:embed="rId2"/>
          <a:stretch>
            <a:fillRect/>
          </a:stretch>
        </p:blipFill>
        <p:spPr>
          <a:xfrm>
            <a:off x="6278727" y="2107691"/>
            <a:ext cx="219456" cy="219456"/>
          </a:xfrm>
          <a:prstGeom prst="rect">
            <a:avLst/>
          </a:prstGeom>
        </p:spPr>
      </p:pic>
      <p:sp>
        <p:nvSpPr>
          <p:cNvPr id="19" name="TextBox 18"/>
          <p:cNvSpPr txBox="1"/>
          <p:nvPr/>
        </p:nvSpPr>
        <p:spPr>
          <a:xfrm>
            <a:off x="6297015" y="2523744"/>
            <a:ext cx="4888839" cy="457200"/>
          </a:xfrm>
          <a:prstGeom prst="rect">
            <a:avLst/>
          </a:prstGeom>
          <a:noFill/>
        </p:spPr>
        <p:txBody>
          <a:bodyPr wrap="square" lIns="0" rIns="0" tIns="0" bIns="0">
            <a:spAutoFit/>
          </a:bodyPr>
          <a:lstStyle/>
          <a:p>
            <a:pPr>
              <a:lnSpc>
                <a:spcPct val="130000"/>
              </a:lnSpc>
              <a:spcAft>
                <a:spcPts val="0"/>
              </a:spcAft>
            </a:pPr>
            <a:r>
              <a:rPr sz="750" b="0" i="0" cap="all" spc="150">
                <a:solidFill>
                  <a:srgbClr val="C10073"/>
                </a:solidFill>
                <a:latin typeface="IBM Plex Mono"/>
              </a:rPr>
              <a:t>2021 Circular No.02   /   Dedicated accounts</a:t>
            </a:r>
          </a:p>
        </p:txBody>
      </p:sp>
      <p:sp>
        <p:nvSpPr>
          <p:cNvPr id="20" name="TextBox 19"/>
          <p:cNvSpPr txBox="1"/>
          <p:nvPr/>
        </p:nvSpPr>
        <p:spPr>
          <a:xfrm>
            <a:off x="6297015" y="2761487"/>
            <a:ext cx="4888839"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No restriction on a resident entity acting as GSA for more than one airline.</a:t>
            </a:r>
          </a:p>
        </p:txBody>
      </p:sp>
      <p:sp>
        <p:nvSpPr>
          <p:cNvPr id="21" name="Oval 20"/>
          <p:cNvSpPr/>
          <p:nvPr/>
        </p:nvSpPr>
        <p:spPr>
          <a:xfrm>
            <a:off x="6315303" y="3232403"/>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3319" y="3182111"/>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But to bring discipline to remittances:</a:t>
            </a:r>
          </a:p>
        </p:txBody>
      </p:sp>
      <p:sp>
        <p:nvSpPr>
          <p:cNvPr id="23" name="Oval 22"/>
          <p:cNvSpPr/>
          <p:nvPr/>
        </p:nvSpPr>
        <p:spPr>
          <a:xfrm>
            <a:off x="6315303" y="340613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3319" y="3355847"/>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A separate, dedicated bank account is required for each airline or shipping line represented. Collections for Vietnam Airlines must stay in their own account, distinct from any other principal Flyport represents.</a:t>
            </a:r>
          </a:p>
        </p:txBody>
      </p:sp>
      <p:sp>
        <p:nvSpPr>
          <p:cNvPr id="25" name="Oval 24"/>
          <p:cNvSpPr/>
          <p:nvPr/>
        </p:nvSpPr>
        <p:spPr>
          <a:xfrm>
            <a:off x="6315303" y="3826763"/>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3319" y="3776472"/>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ADs were required to guide multi-carrier GSAs to separate accounts within 3 months of issuance.</a:t>
            </a:r>
          </a:p>
        </p:txBody>
      </p:sp>
      <p:sp>
        <p:nvSpPr>
          <p:cNvPr id="27" name="TextBox 26"/>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28" name="TextBox 27"/>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08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Part 2   /   06   /   Bangladesh Bank &amp; AD Bank</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2900" b="1">
                <a:solidFill>
                  <a:srgbClr val="0E2830"/>
                </a:solidFill>
                <a:latin typeface="Outfit"/>
              </a:rPr>
              <a:t>AD Bank's Role &amp; the Waiver-Clause Bridge</a:t>
            </a:r>
          </a:p>
        </p:txBody>
      </p:sp>
      <p:sp>
        <p:nvSpPr>
          <p:cNvPr id="5" name="TextBox 4"/>
          <p:cNvSpPr txBox="1"/>
          <p:nvPr/>
        </p:nvSpPr>
        <p:spPr>
          <a:xfrm>
            <a:off x="786384" y="2084831"/>
            <a:ext cx="10424160" cy="914400"/>
          </a:xfrm>
          <a:prstGeom prst="rect">
            <a:avLst/>
          </a:prstGeom>
          <a:noFill/>
        </p:spPr>
        <p:txBody>
          <a:bodyPr wrap="square" lIns="0" rIns="0" tIns="0" bIns="0">
            <a:spAutoFit/>
          </a:bodyPr>
          <a:lstStyle/>
          <a:p>
            <a:pPr>
              <a:lnSpc>
                <a:spcPct val="150000"/>
              </a:lnSpc>
              <a:spcAft>
                <a:spcPts val="0"/>
              </a:spcAft>
            </a:pPr>
            <a:r>
              <a:rPr sz="1100" b="0" i="0">
                <a:solidFill>
                  <a:srgbClr val="33555F"/>
                </a:solidFill>
                <a:latin typeface="Plus Jakarta Sans"/>
              </a:rPr>
              <a:t>An Authorized Dealer (AD) bank maintains a dedicated account and transaction records for Vietnam Airlines, ensuring segregation, monitoring, disbursement, reconciliation, and remittance, then executes all procedure in favour of the airline and submits remittance documents to Bangladesh Bank.</a:t>
            </a:r>
          </a:p>
        </p:txBody>
      </p:sp>
      <p:sp>
        <p:nvSpPr>
          <p:cNvPr id="6" name="Rectangle 5"/>
          <p:cNvSpPr/>
          <p:nvPr/>
        </p:nvSpPr>
        <p:spPr>
          <a:xfrm>
            <a:off x="786384" y="3246120"/>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d35d0b5e0c_m.png"/>
          <p:cNvPicPr>
            <a:picLocks noChangeAspect="1"/>
          </p:cNvPicPr>
          <p:nvPr/>
        </p:nvPicPr>
        <p:blipFill>
          <a:blip r:embed="rId2"/>
          <a:stretch>
            <a:fillRect/>
          </a:stretch>
        </p:blipFill>
        <p:spPr>
          <a:xfrm>
            <a:off x="969264" y="3140963"/>
            <a:ext cx="219456" cy="219456"/>
          </a:xfrm>
          <a:prstGeom prst="rect">
            <a:avLst/>
          </a:prstGeom>
        </p:spPr>
      </p:pic>
      <p:sp>
        <p:nvSpPr>
          <p:cNvPr id="8" name="TextBox 7"/>
          <p:cNvSpPr txBox="1"/>
          <p:nvPr/>
        </p:nvSpPr>
        <p:spPr>
          <a:xfrm>
            <a:off x="987552" y="3557015"/>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Waiver Clause 7 &amp; 8</a:t>
            </a:r>
          </a:p>
        </p:txBody>
      </p:sp>
      <p:sp>
        <p:nvSpPr>
          <p:cNvPr id="9" name="TextBox 8"/>
          <p:cNvSpPr txBox="1"/>
          <p:nvPr/>
        </p:nvSpPr>
        <p:spPr>
          <a:xfrm>
            <a:off x="987552" y="3794759"/>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The same BIDA permission-letter conditions from Part 1. Bangladesh Bank and the AD bank rely on these being satisfied before outward remittance can proceed</a:t>
            </a:r>
          </a:p>
        </p:txBody>
      </p:sp>
      <p:sp>
        <p:nvSpPr>
          <p:cNvPr id="10" name="Rectangle 9"/>
          <p:cNvSpPr/>
          <p:nvPr/>
        </p:nvSpPr>
        <p:spPr>
          <a:xfrm>
            <a:off x="3441115" y="3300984"/>
            <a:ext cx="9525" cy="1691639"/>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_f2bea0a7ed_t.png"/>
          <p:cNvPicPr>
            <a:picLocks noChangeAspect="1"/>
          </p:cNvPicPr>
          <p:nvPr/>
        </p:nvPicPr>
        <p:blipFill>
          <a:blip r:embed="rId3"/>
          <a:stretch>
            <a:fillRect/>
          </a:stretch>
        </p:blipFill>
        <p:spPr>
          <a:xfrm>
            <a:off x="3623995" y="3140963"/>
            <a:ext cx="219456" cy="219456"/>
          </a:xfrm>
          <a:prstGeom prst="rect">
            <a:avLst/>
          </a:prstGeom>
        </p:spPr>
      </p:pic>
      <p:sp>
        <p:nvSpPr>
          <p:cNvPr id="12" name="TextBox 11"/>
          <p:cNvSpPr txBox="1"/>
          <p:nvPr/>
        </p:nvSpPr>
        <p:spPr>
          <a:xfrm>
            <a:off x="3642283" y="3557015"/>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Notification to Central Bank</a:t>
            </a:r>
          </a:p>
        </p:txBody>
      </p:sp>
      <p:sp>
        <p:nvSpPr>
          <p:cNvPr id="13" name="TextBox 12"/>
          <p:cNvSpPr txBox="1"/>
          <p:nvPr/>
        </p:nvSpPr>
        <p:spPr>
          <a:xfrm>
            <a:off x="3642283" y="3794759"/>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Formal notification to Bangladesh Bank of Flyport as the appointed GSA for Vietnam Airlines</a:t>
            </a:r>
          </a:p>
        </p:txBody>
      </p:sp>
      <p:sp>
        <p:nvSpPr>
          <p:cNvPr id="14" name="Rectangle 13"/>
          <p:cNvSpPr/>
          <p:nvPr/>
        </p:nvSpPr>
        <p:spPr>
          <a:xfrm>
            <a:off x="6095847" y="3300984"/>
            <a:ext cx="9525" cy="1691639"/>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8e78978064_t.png"/>
          <p:cNvPicPr>
            <a:picLocks noChangeAspect="1"/>
          </p:cNvPicPr>
          <p:nvPr/>
        </p:nvPicPr>
        <p:blipFill>
          <a:blip r:embed="rId4"/>
          <a:stretch>
            <a:fillRect/>
          </a:stretch>
        </p:blipFill>
        <p:spPr>
          <a:xfrm>
            <a:off x="6278727" y="3140963"/>
            <a:ext cx="219456" cy="219456"/>
          </a:xfrm>
          <a:prstGeom prst="rect">
            <a:avLst/>
          </a:prstGeom>
        </p:spPr>
      </p:pic>
      <p:sp>
        <p:nvSpPr>
          <p:cNvPr id="16" name="TextBox 15"/>
          <p:cNvSpPr txBox="1"/>
          <p:nvPr/>
        </p:nvSpPr>
        <p:spPr>
          <a:xfrm>
            <a:off x="6297015" y="3557015"/>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Monthly Reporting</a:t>
            </a:r>
          </a:p>
        </p:txBody>
      </p:sp>
      <p:sp>
        <p:nvSpPr>
          <p:cNvPr id="17" name="TextBox 16"/>
          <p:cNvSpPr txBox="1"/>
          <p:nvPr/>
        </p:nvSpPr>
        <p:spPr>
          <a:xfrm>
            <a:off x="6297015" y="3794759"/>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Routine monthly reporting to Bangladesh Bank on the airline's collections and remittances</a:t>
            </a:r>
          </a:p>
        </p:txBody>
      </p:sp>
      <p:sp>
        <p:nvSpPr>
          <p:cNvPr id="18" name="Rectangle 17"/>
          <p:cNvSpPr/>
          <p:nvPr/>
        </p:nvSpPr>
        <p:spPr>
          <a:xfrm>
            <a:off x="8750579" y="3300984"/>
            <a:ext cx="9525" cy="1691639"/>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_af6d17bb97_t.png"/>
          <p:cNvPicPr>
            <a:picLocks noChangeAspect="1"/>
          </p:cNvPicPr>
          <p:nvPr/>
        </p:nvPicPr>
        <p:blipFill>
          <a:blip r:embed="rId5"/>
          <a:stretch>
            <a:fillRect/>
          </a:stretch>
        </p:blipFill>
        <p:spPr>
          <a:xfrm>
            <a:off x="8933459" y="3140963"/>
            <a:ext cx="219456" cy="219456"/>
          </a:xfrm>
          <a:prstGeom prst="rect">
            <a:avLst/>
          </a:prstGeom>
        </p:spPr>
      </p:pic>
      <p:sp>
        <p:nvSpPr>
          <p:cNvPr id="20" name="TextBox 19"/>
          <p:cNvSpPr txBox="1"/>
          <p:nvPr/>
        </p:nvSpPr>
        <p:spPr>
          <a:xfrm>
            <a:off x="8951747" y="3557015"/>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Monthly Post-Facto Approval</a:t>
            </a:r>
          </a:p>
        </p:txBody>
      </p:sp>
      <p:sp>
        <p:nvSpPr>
          <p:cNvPr id="21" name="TextBox 20"/>
          <p:cNvSpPr txBox="1"/>
          <p:nvPr/>
        </p:nvSpPr>
        <p:spPr>
          <a:xfrm>
            <a:off x="8951747" y="3794759"/>
            <a:ext cx="223410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Each month's remittance is submitted for Bangladesh Bank's after-the-fact approval</a:t>
            </a:r>
          </a:p>
        </p:txBody>
      </p:sp>
      <p:sp>
        <p:nvSpPr>
          <p:cNvPr id="22" name="TextBox 21"/>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23" name="TextBox 22"/>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09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Part 2   /   07   /   Bangladesh Bank &amp; AD Bank</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2900" b="1">
                <a:solidFill>
                  <a:srgbClr val="0E2830"/>
                </a:solidFill>
                <a:latin typeface="Outfit"/>
              </a:rPr>
              <a:t>Two Special-Purpose FX Mechanisms</a:t>
            </a:r>
          </a:p>
        </p:txBody>
      </p:sp>
      <p:sp>
        <p:nvSpPr>
          <p:cNvPr id="5" name="Rectangle 4"/>
          <p:cNvSpPr/>
          <p:nvPr/>
        </p:nvSpPr>
        <p:spPr>
          <a:xfrm>
            <a:off x="786384" y="2212848"/>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c_d974432387_t.png"/>
          <p:cNvPicPr>
            <a:picLocks noChangeAspect="1"/>
          </p:cNvPicPr>
          <p:nvPr/>
        </p:nvPicPr>
        <p:blipFill>
          <a:blip r:embed="rId2"/>
          <a:stretch>
            <a:fillRect/>
          </a:stretch>
        </p:blipFill>
        <p:spPr>
          <a:xfrm>
            <a:off x="969264" y="2107691"/>
            <a:ext cx="219456" cy="219456"/>
          </a:xfrm>
          <a:prstGeom prst="rect">
            <a:avLst/>
          </a:prstGeom>
        </p:spPr>
      </p:pic>
      <p:sp>
        <p:nvSpPr>
          <p:cNvPr id="7" name="TextBox 6"/>
          <p:cNvSpPr txBox="1"/>
          <p:nvPr/>
        </p:nvSpPr>
        <p:spPr>
          <a:xfrm>
            <a:off x="987552" y="2523744"/>
            <a:ext cx="4888839"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2021 Circular No.1</a:t>
            </a:r>
          </a:p>
        </p:txBody>
      </p:sp>
      <p:sp>
        <p:nvSpPr>
          <p:cNvPr id="8" name="TextBox 7"/>
          <p:cNvSpPr txBox="1"/>
          <p:nvPr/>
        </p:nvSpPr>
        <p:spPr>
          <a:xfrm>
            <a:off x="987552" y="2761487"/>
            <a:ext cx="4888839"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Fuel / Oil Purchase in FX</a:t>
            </a:r>
          </a:p>
        </p:txBody>
      </p:sp>
      <p:sp>
        <p:nvSpPr>
          <p:cNvPr id="9" name="Oval 8"/>
          <p:cNvSpPr/>
          <p:nvPr/>
        </p:nvSpPr>
        <p:spPr>
          <a:xfrm>
            <a:off x="1005840" y="3049523"/>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 y="2999231"/>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Airlines already pay local expenses from local earnings under GFET</a:t>
            </a:r>
          </a:p>
        </p:txBody>
      </p:sp>
      <p:sp>
        <p:nvSpPr>
          <p:cNvPr id="11" name="Oval 10"/>
          <p:cNvSpPr/>
          <p:nvPr/>
        </p:nvSpPr>
        <p:spPr>
          <a:xfrm>
            <a:off x="1005840" y="322325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33856" y="3172967"/>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To ease fuel/oil purchase, the AD bank may issue FX drafts favouring state-owned fuel/oil selling companies</a:t>
            </a:r>
          </a:p>
        </p:txBody>
      </p:sp>
      <p:sp>
        <p:nvSpPr>
          <p:cNvPr id="13" name="Oval 12"/>
          <p:cNvSpPr/>
          <p:nvPr/>
        </p:nvSpPr>
        <p:spPr>
          <a:xfrm>
            <a:off x="1005840" y="352043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33856" y="3470147"/>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Equivalent Taka must be shown in the disbursement statement with documentary evidence</a:t>
            </a:r>
          </a:p>
        </p:txBody>
      </p:sp>
      <p:sp>
        <p:nvSpPr>
          <p:cNvPr id="15" name="Oval 14"/>
          <p:cNvSpPr/>
          <p:nvPr/>
        </p:nvSpPr>
        <p:spPr>
          <a:xfrm>
            <a:off x="1005840" y="381761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33856" y="3767327"/>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Payments are reported via the online TM Form monitoring system, with schedules to BB's Statistics Department</a:t>
            </a:r>
          </a:p>
        </p:txBody>
      </p:sp>
      <p:sp>
        <p:nvSpPr>
          <p:cNvPr id="17" name="Oval 16"/>
          <p:cNvSpPr/>
          <p:nvPr/>
        </p:nvSpPr>
        <p:spPr>
          <a:xfrm>
            <a:off x="1005840" y="411479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33856" y="4064507"/>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ADs receiving the FX drafts may retain amounts in margin or approved FC accounts (with BB permission), used only for import-payment settlement</a:t>
            </a:r>
          </a:p>
        </p:txBody>
      </p:sp>
      <p:sp>
        <p:nvSpPr>
          <p:cNvPr id="19" name="Rectangle 18"/>
          <p:cNvSpPr/>
          <p:nvPr/>
        </p:nvSpPr>
        <p:spPr>
          <a:xfrm>
            <a:off x="6095847" y="2267712"/>
            <a:ext cx="9525" cy="324612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c_1fd2010cba_m.png"/>
          <p:cNvPicPr>
            <a:picLocks noChangeAspect="1"/>
          </p:cNvPicPr>
          <p:nvPr/>
        </p:nvPicPr>
        <p:blipFill>
          <a:blip r:embed="rId3"/>
          <a:stretch>
            <a:fillRect/>
          </a:stretch>
        </p:blipFill>
        <p:spPr>
          <a:xfrm>
            <a:off x="6278727" y="2107691"/>
            <a:ext cx="219456" cy="219456"/>
          </a:xfrm>
          <a:prstGeom prst="rect">
            <a:avLst/>
          </a:prstGeom>
        </p:spPr>
      </p:pic>
      <p:sp>
        <p:nvSpPr>
          <p:cNvPr id="21" name="TextBox 20"/>
          <p:cNvSpPr txBox="1"/>
          <p:nvPr/>
        </p:nvSpPr>
        <p:spPr>
          <a:xfrm>
            <a:off x="6297015" y="2523744"/>
            <a:ext cx="4888839" cy="457200"/>
          </a:xfrm>
          <a:prstGeom prst="rect">
            <a:avLst/>
          </a:prstGeom>
          <a:noFill/>
        </p:spPr>
        <p:txBody>
          <a:bodyPr wrap="square" lIns="0" rIns="0" tIns="0" bIns="0">
            <a:spAutoFit/>
          </a:bodyPr>
          <a:lstStyle/>
          <a:p>
            <a:pPr>
              <a:lnSpc>
                <a:spcPct val="130000"/>
              </a:lnSpc>
              <a:spcAft>
                <a:spcPts val="0"/>
              </a:spcAft>
            </a:pPr>
            <a:r>
              <a:rPr sz="750" b="0" i="0" cap="all" spc="150">
                <a:solidFill>
                  <a:srgbClr val="C10073"/>
                </a:solidFill>
                <a:latin typeface="IBM Plex Mono"/>
              </a:rPr>
              <a:t>2023 Circular No-3</a:t>
            </a:r>
          </a:p>
        </p:txBody>
      </p:sp>
      <p:sp>
        <p:nvSpPr>
          <p:cNvPr id="22" name="TextBox 21"/>
          <p:cNvSpPr txBox="1"/>
          <p:nvPr/>
        </p:nvSpPr>
        <p:spPr>
          <a:xfrm>
            <a:off x="6297015" y="2761487"/>
            <a:ext cx="4888839"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OEMS / OIMS Freight Certificates</a:t>
            </a:r>
          </a:p>
        </p:txBody>
      </p:sp>
      <p:sp>
        <p:nvSpPr>
          <p:cNvPr id="23" name="Oval 22"/>
          <p:cNvSpPr/>
          <p:nvPr/>
        </p:nvSpPr>
        <p:spPr>
          <a:xfrm>
            <a:off x="6315303" y="3049523"/>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3319" y="2999231"/>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ADs now generate two digital forms instead of manual certificates</a:t>
            </a:r>
          </a:p>
        </p:txBody>
      </p:sp>
      <p:sp>
        <p:nvSpPr>
          <p:cNvPr id="25" name="Oval 24"/>
          <p:cNvSpPr/>
          <p:nvPr/>
        </p:nvSpPr>
        <p:spPr>
          <a:xfrm>
            <a:off x="6315303" y="322325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3319" y="3172967"/>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Form FF-Export Prepaid, freight charge on prepaid basis against export, generated via OEMS</a:t>
            </a:r>
          </a:p>
        </p:txBody>
      </p:sp>
      <p:sp>
        <p:nvSpPr>
          <p:cNvPr id="27" name="Oval 26"/>
          <p:cNvSpPr/>
          <p:nvPr/>
        </p:nvSpPr>
        <p:spPr>
          <a:xfrm>
            <a:off x="6315303" y="352043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3319" y="3470147"/>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Form FF-Import Collect, freight charge against FOB (or similar) import, generated via OIMS</a:t>
            </a:r>
          </a:p>
        </p:txBody>
      </p:sp>
      <p:sp>
        <p:nvSpPr>
          <p:cNvPr id="29" name="Oval 28"/>
          <p:cNvSpPr/>
          <p:nvPr/>
        </p:nvSpPr>
        <p:spPr>
          <a:xfrm>
            <a:off x="6315303" y="381761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3319" y="3767327"/>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Exporter/Importer provides the relevant form to the freight forwarder, airline, or shipping company</a:t>
            </a:r>
          </a:p>
        </p:txBody>
      </p:sp>
      <p:sp>
        <p:nvSpPr>
          <p:cNvPr id="31" name="Oval 30"/>
          <p:cNvSpPr/>
          <p:nvPr/>
        </p:nvSpPr>
        <p:spPr>
          <a:xfrm>
            <a:off x="6315303" y="411479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43319" y="4064507"/>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The form is then submitted to the designated AD bank when remitting surplus earnings or freight charges to head office / principal abroad</a:t>
            </a:r>
          </a:p>
        </p:txBody>
      </p:sp>
      <p:sp>
        <p:nvSpPr>
          <p:cNvPr id="33" name="TextBox 32"/>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34" name="TextBox 33"/>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Part 3   /   08   /   Monthly Remittance Operations</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3000" b="1">
                <a:solidFill>
                  <a:srgbClr val="0E2830"/>
                </a:solidFill>
                <a:latin typeface="Outfit"/>
              </a:rPr>
              <a:t>Our Remittance Process Flow</a:t>
            </a:r>
          </a:p>
        </p:txBody>
      </p:sp>
      <p:sp>
        <p:nvSpPr>
          <p:cNvPr id="5" name="TextBox 4"/>
          <p:cNvSpPr txBox="1"/>
          <p:nvPr/>
        </p:nvSpPr>
        <p:spPr>
          <a:xfrm>
            <a:off x="786384" y="2084831"/>
            <a:ext cx="9875520" cy="914400"/>
          </a:xfrm>
          <a:prstGeom prst="rect">
            <a:avLst/>
          </a:prstGeom>
          <a:noFill/>
        </p:spPr>
        <p:txBody>
          <a:bodyPr wrap="square" lIns="0" rIns="0" tIns="0" bIns="0">
            <a:spAutoFit/>
          </a:bodyPr>
          <a:lstStyle/>
          <a:p>
            <a:pPr>
              <a:lnSpc>
                <a:spcPct val="150000"/>
              </a:lnSpc>
              <a:spcAft>
                <a:spcPts val="0"/>
              </a:spcAft>
            </a:pPr>
            <a:r>
              <a:rPr sz="1200" b="0" i="0">
                <a:solidFill>
                  <a:srgbClr val="33555F"/>
                </a:solidFill>
                <a:latin typeface="Plus Jakarta Sans"/>
              </a:rPr>
              <a:t>Our own AD-bank procedure, start to finish, for a single month's cycle</a:t>
            </a:r>
          </a:p>
        </p:txBody>
      </p:sp>
      <p:sp>
        <p:nvSpPr>
          <p:cNvPr id="6" name="Rectangle 5"/>
          <p:cNvSpPr/>
          <p:nvPr/>
        </p:nvSpPr>
        <p:spPr>
          <a:xfrm>
            <a:off x="786384" y="2926080"/>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_8e78978064_t.png"/>
          <p:cNvPicPr>
            <a:picLocks noChangeAspect="1"/>
          </p:cNvPicPr>
          <p:nvPr/>
        </p:nvPicPr>
        <p:blipFill>
          <a:blip r:embed="rId2"/>
          <a:stretch>
            <a:fillRect/>
          </a:stretch>
        </p:blipFill>
        <p:spPr>
          <a:xfrm>
            <a:off x="969264" y="2820924"/>
            <a:ext cx="219456" cy="219456"/>
          </a:xfrm>
          <a:prstGeom prst="rect">
            <a:avLst/>
          </a:prstGeom>
        </p:spPr>
      </p:pic>
      <p:sp>
        <p:nvSpPr>
          <p:cNvPr id="8" name="TextBox 7"/>
          <p:cNvSpPr txBox="1"/>
          <p:nvPr/>
        </p:nvSpPr>
        <p:spPr>
          <a:xfrm>
            <a:off x="987552" y="3236976"/>
            <a:ext cx="134919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1</a:t>
            </a:r>
          </a:p>
        </p:txBody>
      </p:sp>
      <p:sp>
        <p:nvSpPr>
          <p:cNvPr id="9" name="TextBox 8"/>
          <p:cNvSpPr txBox="1"/>
          <p:nvPr/>
        </p:nvSpPr>
        <p:spPr>
          <a:xfrm>
            <a:off x="987552" y="3474720"/>
            <a:ext cx="134919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Files received from client</a:t>
            </a:r>
          </a:p>
        </p:txBody>
      </p:sp>
      <p:sp>
        <p:nvSpPr>
          <p:cNvPr id="10" name="TextBox 9"/>
          <p:cNvSpPr txBox="1"/>
          <p:nvPr/>
        </p:nvSpPr>
        <p:spPr>
          <a:xfrm>
            <a:off x="987552" y="3895344"/>
            <a:ext cx="134919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Pax + Cargo + Disbursement files</a:t>
            </a:r>
          </a:p>
        </p:txBody>
      </p:sp>
      <p:sp>
        <p:nvSpPr>
          <p:cNvPr id="11" name="Rectangle 10"/>
          <p:cNvSpPr/>
          <p:nvPr/>
        </p:nvSpPr>
        <p:spPr>
          <a:xfrm>
            <a:off x="2556205" y="2980944"/>
            <a:ext cx="9525" cy="205740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c_f2bea0a7ed_t.png"/>
          <p:cNvPicPr>
            <a:picLocks noChangeAspect="1"/>
          </p:cNvPicPr>
          <p:nvPr/>
        </p:nvPicPr>
        <p:blipFill>
          <a:blip r:embed="rId3"/>
          <a:stretch>
            <a:fillRect/>
          </a:stretch>
        </p:blipFill>
        <p:spPr>
          <a:xfrm>
            <a:off x="2739085" y="2820924"/>
            <a:ext cx="219456" cy="219456"/>
          </a:xfrm>
          <a:prstGeom prst="rect">
            <a:avLst/>
          </a:prstGeom>
        </p:spPr>
      </p:pic>
      <p:sp>
        <p:nvSpPr>
          <p:cNvPr id="13" name="TextBox 12"/>
          <p:cNvSpPr txBox="1"/>
          <p:nvPr/>
        </p:nvSpPr>
        <p:spPr>
          <a:xfrm>
            <a:off x="2757373" y="3236976"/>
            <a:ext cx="134919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2</a:t>
            </a:r>
          </a:p>
        </p:txBody>
      </p:sp>
      <p:sp>
        <p:nvSpPr>
          <p:cNvPr id="14" name="TextBox 13"/>
          <p:cNvSpPr txBox="1"/>
          <p:nvPr/>
        </p:nvSpPr>
        <p:spPr>
          <a:xfrm>
            <a:off x="2757373" y="3474720"/>
            <a:ext cx="134919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Bank scrutinizes files</a:t>
            </a:r>
          </a:p>
        </p:txBody>
      </p:sp>
      <p:sp>
        <p:nvSpPr>
          <p:cNvPr id="15" name="TextBox 14"/>
          <p:cNvSpPr txBox="1"/>
          <p:nvPr/>
        </p:nvSpPr>
        <p:spPr>
          <a:xfrm>
            <a:off x="2757373" y="3895344"/>
            <a:ext cx="134919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Discrepancies notified / referred back</a:t>
            </a:r>
          </a:p>
        </p:txBody>
      </p:sp>
      <p:sp>
        <p:nvSpPr>
          <p:cNvPr id="16" name="Rectangle 15"/>
          <p:cNvSpPr/>
          <p:nvPr/>
        </p:nvSpPr>
        <p:spPr>
          <a:xfrm>
            <a:off x="4326026" y="2980944"/>
            <a:ext cx="9525" cy="205740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_d35d0b5e0c_t.png"/>
          <p:cNvPicPr>
            <a:picLocks noChangeAspect="1"/>
          </p:cNvPicPr>
          <p:nvPr/>
        </p:nvPicPr>
        <p:blipFill>
          <a:blip r:embed="rId4"/>
          <a:stretch>
            <a:fillRect/>
          </a:stretch>
        </p:blipFill>
        <p:spPr>
          <a:xfrm>
            <a:off x="4508906" y="2820924"/>
            <a:ext cx="219456" cy="219456"/>
          </a:xfrm>
          <a:prstGeom prst="rect">
            <a:avLst/>
          </a:prstGeom>
        </p:spPr>
      </p:pic>
      <p:sp>
        <p:nvSpPr>
          <p:cNvPr id="18" name="TextBox 17"/>
          <p:cNvSpPr txBox="1"/>
          <p:nvPr/>
        </p:nvSpPr>
        <p:spPr>
          <a:xfrm>
            <a:off x="4527194" y="3236976"/>
            <a:ext cx="134919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3</a:t>
            </a:r>
          </a:p>
        </p:txBody>
      </p:sp>
      <p:sp>
        <p:nvSpPr>
          <p:cNvPr id="19" name="TextBox 18"/>
          <p:cNvSpPr txBox="1"/>
          <p:nvPr/>
        </p:nvSpPr>
        <p:spPr>
          <a:xfrm>
            <a:off x="4527194" y="3474720"/>
            <a:ext cx="134919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Client rectifies discrepancies</a:t>
            </a:r>
          </a:p>
        </p:txBody>
      </p:sp>
      <p:sp>
        <p:nvSpPr>
          <p:cNvPr id="20" name="TextBox 19"/>
          <p:cNvSpPr txBox="1"/>
          <p:nvPr/>
        </p:nvSpPr>
        <p:spPr>
          <a:xfrm>
            <a:off x="4527194" y="3895344"/>
            <a:ext cx="134919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Corrected files resubmitted</a:t>
            </a:r>
          </a:p>
        </p:txBody>
      </p:sp>
      <p:sp>
        <p:nvSpPr>
          <p:cNvPr id="21" name="Rectangle 20"/>
          <p:cNvSpPr/>
          <p:nvPr/>
        </p:nvSpPr>
        <p:spPr>
          <a:xfrm>
            <a:off x="6095847" y="2980944"/>
            <a:ext cx="9525" cy="205740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e093c067ba_t.png"/>
          <p:cNvPicPr>
            <a:picLocks noChangeAspect="1"/>
          </p:cNvPicPr>
          <p:nvPr/>
        </p:nvPicPr>
        <p:blipFill>
          <a:blip r:embed="rId5"/>
          <a:stretch>
            <a:fillRect/>
          </a:stretch>
        </p:blipFill>
        <p:spPr>
          <a:xfrm>
            <a:off x="6278727" y="2820924"/>
            <a:ext cx="219456" cy="219456"/>
          </a:xfrm>
          <a:prstGeom prst="rect">
            <a:avLst/>
          </a:prstGeom>
        </p:spPr>
      </p:pic>
      <p:sp>
        <p:nvSpPr>
          <p:cNvPr id="23" name="TextBox 22"/>
          <p:cNvSpPr txBox="1"/>
          <p:nvPr/>
        </p:nvSpPr>
        <p:spPr>
          <a:xfrm>
            <a:off x="6297015" y="3236976"/>
            <a:ext cx="134919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4</a:t>
            </a:r>
          </a:p>
        </p:txBody>
      </p:sp>
      <p:sp>
        <p:nvSpPr>
          <p:cNvPr id="24" name="TextBox 23"/>
          <p:cNvSpPr txBox="1"/>
          <p:nvPr/>
        </p:nvSpPr>
        <p:spPr>
          <a:xfrm>
            <a:off x="6297015" y="3474720"/>
            <a:ext cx="134919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Surplus earning confirmed</a:t>
            </a:r>
          </a:p>
        </p:txBody>
      </p:sp>
      <p:sp>
        <p:nvSpPr>
          <p:cNvPr id="25" name="TextBox 24"/>
          <p:cNvSpPr txBox="1"/>
          <p:nvPr/>
        </p:nvSpPr>
        <p:spPr>
          <a:xfrm>
            <a:off x="6297015" y="3895344"/>
            <a:ext cx="134919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Net remittable amount agreed</a:t>
            </a:r>
          </a:p>
        </p:txBody>
      </p:sp>
      <p:sp>
        <p:nvSpPr>
          <p:cNvPr id="26" name="Rectangle 25"/>
          <p:cNvSpPr/>
          <p:nvPr/>
        </p:nvSpPr>
        <p:spPr>
          <a:xfrm>
            <a:off x="7865668" y="2980944"/>
            <a:ext cx="9525" cy="205740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c_8b3bfb046a_t.png"/>
          <p:cNvPicPr>
            <a:picLocks noChangeAspect="1"/>
          </p:cNvPicPr>
          <p:nvPr/>
        </p:nvPicPr>
        <p:blipFill>
          <a:blip r:embed="rId6"/>
          <a:stretch>
            <a:fillRect/>
          </a:stretch>
        </p:blipFill>
        <p:spPr>
          <a:xfrm>
            <a:off x="8048548" y="2820924"/>
            <a:ext cx="219456" cy="219456"/>
          </a:xfrm>
          <a:prstGeom prst="rect">
            <a:avLst/>
          </a:prstGeom>
        </p:spPr>
      </p:pic>
      <p:sp>
        <p:nvSpPr>
          <p:cNvPr id="28" name="TextBox 27"/>
          <p:cNvSpPr txBox="1"/>
          <p:nvPr/>
        </p:nvSpPr>
        <p:spPr>
          <a:xfrm>
            <a:off x="8066836" y="3236976"/>
            <a:ext cx="134919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5</a:t>
            </a:r>
          </a:p>
        </p:txBody>
      </p:sp>
      <p:sp>
        <p:nvSpPr>
          <p:cNvPr id="29" name="TextBox 28"/>
          <p:cNvSpPr txBox="1"/>
          <p:nvPr/>
        </p:nvSpPr>
        <p:spPr>
          <a:xfrm>
            <a:off x="8066836" y="3474720"/>
            <a:ext cx="134919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Remittance executed</a:t>
            </a:r>
          </a:p>
        </p:txBody>
      </p:sp>
      <p:sp>
        <p:nvSpPr>
          <p:cNvPr id="30" name="TextBox 29"/>
          <p:cNvSpPr txBox="1"/>
          <p:nvPr/>
        </p:nvSpPr>
        <p:spPr>
          <a:xfrm>
            <a:off x="8066836" y="3895344"/>
            <a:ext cx="134919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AD bank transfers funds abroad</a:t>
            </a:r>
          </a:p>
        </p:txBody>
      </p:sp>
      <p:sp>
        <p:nvSpPr>
          <p:cNvPr id="31" name="Rectangle 30"/>
          <p:cNvSpPr/>
          <p:nvPr/>
        </p:nvSpPr>
        <p:spPr>
          <a:xfrm>
            <a:off x="9635490" y="2980944"/>
            <a:ext cx="9525" cy="205740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c_46a7e3c4a5_m.png"/>
          <p:cNvPicPr>
            <a:picLocks noChangeAspect="1"/>
          </p:cNvPicPr>
          <p:nvPr/>
        </p:nvPicPr>
        <p:blipFill>
          <a:blip r:embed="rId7"/>
          <a:stretch>
            <a:fillRect/>
          </a:stretch>
        </p:blipFill>
        <p:spPr>
          <a:xfrm>
            <a:off x="9818369" y="2820924"/>
            <a:ext cx="219456" cy="219456"/>
          </a:xfrm>
          <a:prstGeom prst="rect">
            <a:avLst/>
          </a:prstGeom>
        </p:spPr>
      </p:pic>
      <p:sp>
        <p:nvSpPr>
          <p:cNvPr id="33" name="TextBox 32"/>
          <p:cNvSpPr txBox="1"/>
          <p:nvPr/>
        </p:nvSpPr>
        <p:spPr>
          <a:xfrm>
            <a:off x="9836658" y="3236976"/>
            <a:ext cx="1349197" cy="457200"/>
          </a:xfrm>
          <a:prstGeom prst="rect">
            <a:avLst/>
          </a:prstGeom>
          <a:noFill/>
        </p:spPr>
        <p:txBody>
          <a:bodyPr wrap="square" lIns="0" rIns="0" tIns="0" bIns="0">
            <a:spAutoFit/>
          </a:bodyPr>
          <a:lstStyle/>
          <a:p>
            <a:pPr>
              <a:lnSpc>
                <a:spcPct val="130000"/>
              </a:lnSpc>
              <a:spcAft>
                <a:spcPts val="0"/>
              </a:spcAft>
            </a:pPr>
            <a:r>
              <a:rPr sz="750" b="0" i="0" cap="all" spc="150">
                <a:solidFill>
                  <a:srgbClr val="C10073"/>
                </a:solidFill>
                <a:latin typeface="IBM Plex Mono"/>
              </a:rPr>
              <a:t>6</a:t>
            </a:r>
          </a:p>
        </p:txBody>
      </p:sp>
      <p:sp>
        <p:nvSpPr>
          <p:cNvPr id="34" name="TextBox 33"/>
          <p:cNvSpPr txBox="1"/>
          <p:nvPr/>
        </p:nvSpPr>
        <p:spPr>
          <a:xfrm>
            <a:off x="9836658" y="3474720"/>
            <a:ext cx="134919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Filed for Post Facto Approval</a:t>
            </a:r>
          </a:p>
        </p:txBody>
      </p:sp>
      <p:sp>
        <p:nvSpPr>
          <p:cNvPr id="35" name="TextBox 34"/>
          <p:cNvSpPr txBox="1"/>
          <p:nvPr/>
        </p:nvSpPr>
        <p:spPr>
          <a:xfrm>
            <a:off x="9836658" y="3895344"/>
            <a:ext cx="1349197"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Submitted to Bangladesh Bank after remittance</a:t>
            </a:r>
          </a:p>
        </p:txBody>
      </p:sp>
      <p:sp>
        <p:nvSpPr>
          <p:cNvPr id="36" name="TextBox 35"/>
          <p:cNvSpPr txBox="1"/>
          <p:nvPr/>
        </p:nvSpPr>
        <p:spPr>
          <a:xfrm>
            <a:off x="786384" y="5577840"/>
            <a:ext cx="10618927" cy="457200"/>
          </a:xfrm>
          <a:prstGeom prst="rect">
            <a:avLst/>
          </a:prstGeom>
          <a:noFill/>
        </p:spPr>
        <p:txBody>
          <a:bodyPr wrap="square" lIns="0" rIns="0" tIns="0" bIns="0">
            <a:spAutoFit/>
          </a:bodyPr>
          <a:lstStyle/>
          <a:p>
            <a:pPr>
              <a:lnSpc>
                <a:spcPct val="145000"/>
              </a:lnSpc>
            </a:pPr>
            <a:r>
              <a:rPr sz="1050" b="1">
                <a:solidFill>
                  <a:srgbClr val="C10073"/>
                </a:solidFill>
                <a:latin typeface="Plus Jakarta Sans"/>
              </a:rPr>
              <a:t>Note the order.  </a:t>
            </a:r>
            <a:r>
              <a:rPr sz="1050">
                <a:solidFill>
                  <a:srgbClr val="33555F"/>
                </a:solidFill>
                <a:latin typeface="Plus Jakarta Sans"/>
              </a:rPr>
              <a:t>Bangladesh Bank approval is Post Facto. It's obtained after the remittance is executed, not before.</a:t>
            </a:r>
          </a:p>
        </p:txBody>
      </p:sp>
      <p:sp>
        <p:nvSpPr>
          <p:cNvPr id="37" name="TextBox 36"/>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38" name="TextBox 37"/>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Part 3   /   09   /   Monthly Remittance Operations</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3000" b="1">
                <a:solidFill>
                  <a:srgbClr val="0E2830"/>
                </a:solidFill>
                <a:latin typeface="Outfit"/>
              </a:rPr>
              <a:t>Monthly Surplus-Earnings Calculator</a:t>
            </a:r>
          </a:p>
        </p:txBody>
      </p:sp>
      <p:sp>
        <p:nvSpPr>
          <p:cNvPr id="5" name="Rectangle 4"/>
          <p:cNvSpPr/>
          <p:nvPr/>
        </p:nvSpPr>
        <p:spPr>
          <a:xfrm>
            <a:off x="786384" y="2194560"/>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2286000"/>
            <a:ext cx="6400800" cy="274320"/>
          </a:xfrm>
          <a:prstGeom prst="rect">
            <a:avLst/>
          </a:prstGeom>
          <a:noFill/>
        </p:spPr>
        <p:txBody>
          <a:bodyPr wrap="square" lIns="0" rIns="0" tIns="0" bIns="0">
            <a:spAutoFit/>
          </a:bodyPr>
          <a:lstStyle/>
          <a:p>
            <a:pPr>
              <a:lnSpc>
                <a:spcPct val="140000"/>
              </a:lnSpc>
              <a:spcAft>
                <a:spcPts val="0"/>
              </a:spcAft>
            </a:pPr>
            <a:r>
              <a:rPr sz="750" b="0" i="0" cap="all" spc="150">
                <a:solidFill>
                  <a:srgbClr val="52737D"/>
                </a:solidFill>
                <a:latin typeface="IBM Plex Mono"/>
              </a:rPr>
              <a:t>Line</a:t>
            </a:r>
          </a:p>
        </p:txBody>
      </p:sp>
      <p:sp>
        <p:nvSpPr>
          <p:cNvPr id="7" name="TextBox 6"/>
          <p:cNvSpPr txBox="1"/>
          <p:nvPr/>
        </p:nvSpPr>
        <p:spPr>
          <a:xfrm>
            <a:off x="9027871" y="2286000"/>
            <a:ext cx="2377440" cy="274320"/>
          </a:xfrm>
          <a:prstGeom prst="rect">
            <a:avLst/>
          </a:prstGeom>
          <a:noFill/>
        </p:spPr>
        <p:txBody>
          <a:bodyPr wrap="square" lIns="0" rIns="0" tIns="0" bIns="0">
            <a:spAutoFit/>
          </a:bodyPr>
          <a:lstStyle/>
          <a:p>
            <a:pPr algn="r">
              <a:lnSpc>
                <a:spcPct val="140000"/>
              </a:lnSpc>
              <a:spcAft>
                <a:spcPts val="0"/>
              </a:spcAft>
            </a:pPr>
            <a:r>
              <a:rPr sz="750" b="0" i="0" cap="all" spc="150">
                <a:solidFill>
                  <a:srgbClr val="52737D"/>
                </a:solidFill>
                <a:latin typeface="IBM Plex Mono"/>
              </a:rPr>
              <a:t>Amount, BDT</a:t>
            </a:r>
          </a:p>
        </p:txBody>
      </p:sp>
      <p:sp>
        <p:nvSpPr>
          <p:cNvPr id="8" name="Rectangle 7"/>
          <p:cNvSpPr/>
          <p:nvPr/>
        </p:nvSpPr>
        <p:spPr>
          <a:xfrm>
            <a:off x="786384" y="2578608"/>
            <a:ext cx="10618927"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660903"/>
            <a:ext cx="8595360" cy="274320"/>
          </a:xfrm>
          <a:prstGeom prst="rect">
            <a:avLst/>
          </a:prstGeom>
          <a:noFill/>
        </p:spPr>
        <p:txBody>
          <a:bodyPr wrap="square" lIns="0" rIns="0" tIns="0" bIns="0">
            <a:spAutoFit/>
          </a:bodyPr>
          <a:lstStyle/>
          <a:p>
            <a:pPr>
              <a:lnSpc>
                <a:spcPct val="125000"/>
              </a:lnSpc>
              <a:spcAft>
                <a:spcPts val="0"/>
              </a:spcAft>
            </a:pPr>
            <a:r>
              <a:rPr sz="950" b="0" i="0">
                <a:solidFill>
                  <a:srgbClr val="33555F"/>
                </a:solidFill>
                <a:latin typeface="Plus Jakarta Sans"/>
              </a:rPr>
              <a:t>Pax Sales Collection</a:t>
            </a:r>
          </a:p>
        </p:txBody>
      </p:sp>
      <p:sp>
        <p:nvSpPr>
          <p:cNvPr id="10" name="TextBox 9"/>
          <p:cNvSpPr txBox="1"/>
          <p:nvPr/>
        </p:nvSpPr>
        <p:spPr>
          <a:xfrm>
            <a:off x="9027871" y="2660903"/>
            <a:ext cx="2377440" cy="274320"/>
          </a:xfrm>
          <a:prstGeom prst="rect">
            <a:avLst/>
          </a:prstGeom>
          <a:noFill/>
        </p:spPr>
        <p:txBody>
          <a:bodyPr wrap="square" lIns="0" rIns="0" tIns="0" bIns="0">
            <a:spAutoFit/>
          </a:bodyPr>
          <a:lstStyle/>
          <a:p>
            <a:pPr algn="r">
              <a:lnSpc>
                <a:spcPct val="140000"/>
              </a:lnSpc>
              <a:spcAft>
                <a:spcPts val="0"/>
              </a:spcAft>
            </a:pPr>
            <a:r>
              <a:rPr sz="950" b="0" i="0">
                <a:solidFill>
                  <a:srgbClr val="33555F"/>
                </a:solidFill>
                <a:latin typeface="IBM Plex Mono"/>
              </a:rPr>
              <a:t>XXX</a:t>
            </a:r>
          </a:p>
        </p:txBody>
      </p:sp>
      <p:sp>
        <p:nvSpPr>
          <p:cNvPr id="11" name="Rectangle 10"/>
          <p:cNvSpPr/>
          <p:nvPr/>
        </p:nvSpPr>
        <p:spPr>
          <a:xfrm>
            <a:off x="786384" y="2884932"/>
            <a:ext cx="10618927"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 y="2967227"/>
            <a:ext cx="8595360" cy="274320"/>
          </a:xfrm>
          <a:prstGeom prst="rect">
            <a:avLst/>
          </a:prstGeom>
          <a:noFill/>
        </p:spPr>
        <p:txBody>
          <a:bodyPr wrap="square" lIns="0" rIns="0" tIns="0" bIns="0">
            <a:spAutoFit/>
          </a:bodyPr>
          <a:lstStyle/>
          <a:p>
            <a:pPr>
              <a:lnSpc>
                <a:spcPct val="125000"/>
              </a:lnSpc>
              <a:spcAft>
                <a:spcPts val="0"/>
              </a:spcAft>
            </a:pPr>
            <a:r>
              <a:rPr sz="950" b="0" i="0">
                <a:solidFill>
                  <a:srgbClr val="33555F"/>
                </a:solidFill>
                <a:latin typeface="Plus Jakarta Sans"/>
              </a:rPr>
              <a:t>Add: Cargo Sales Collection</a:t>
            </a:r>
          </a:p>
        </p:txBody>
      </p:sp>
      <p:sp>
        <p:nvSpPr>
          <p:cNvPr id="13" name="TextBox 12"/>
          <p:cNvSpPr txBox="1"/>
          <p:nvPr/>
        </p:nvSpPr>
        <p:spPr>
          <a:xfrm>
            <a:off x="9027871" y="2967227"/>
            <a:ext cx="2377440" cy="274320"/>
          </a:xfrm>
          <a:prstGeom prst="rect">
            <a:avLst/>
          </a:prstGeom>
          <a:noFill/>
        </p:spPr>
        <p:txBody>
          <a:bodyPr wrap="square" lIns="0" rIns="0" tIns="0" bIns="0">
            <a:spAutoFit/>
          </a:bodyPr>
          <a:lstStyle/>
          <a:p>
            <a:pPr algn="r">
              <a:lnSpc>
                <a:spcPct val="140000"/>
              </a:lnSpc>
              <a:spcAft>
                <a:spcPts val="0"/>
              </a:spcAft>
            </a:pPr>
            <a:r>
              <a:rPr sz="950" b="0" i="0">
                <a:solidFill>
                  <a:srgbClr val="33555F"/>
                </a:solidFill>
                <a:latin typeface="IBM Plex Mono"/>
              </a:rPr>
              <a:t>XXX</a:t>
            </a:r>
          </a:p>
        </p:txBody>
      </p:sp>
      <p:sp>
        <p:nvSpPr>
          <p:cNvPr id="14" name="Rectangle 13"/>
          <p:cNvSpPr/>
          <p:nvPr/>
        </p:nvSpPr>
        <p:spPr>
          <a:xfrm>
            <a:off x="786384" y="3191256"/>
            <a:ext cx="10618927"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3273551"/>
            <a:ext cx="8595360" cy="274320"/>
          </a:xfrm>
          <a:prstGeom prst="rect">
            <a:avLst/>
          </a:prstGeom>
          <a:noFill/>
        </p:spPr>
        <p:txBody>
          <a:bodyPr wrap="square" lIns="0" rIns="0" tIns="0" bIns="0">
            <a:spAutoFit/>
          </a:bodyPr>
          <a:lstStyle/>
          <a:p>
            <a:pPr>
              <a:lnSpc>
                <a:spcPct val="125000"/>
              </a:lnSpc>
              <a:spcAft>
                <a:spcPts val="0"/>
              </a:spcAft>
            </a:pPr>
            <a:r>
              <a:rPr sz="950" b="0" i="0">
                <a:solidFill>
                  <a:srgbClr val="33555F"/>
                </a:solidFill>
                <a:latin typeface="Plus Jakarta Sans"/>
              </a:rPr>
              <a:t>Add: Airline's Over-the-Counter Sale</a:t>
            </a:r>
          </a:p>
        </p:txBody>
      </p:sp>
      <p:sp>
        <p:nvSpPr>
          <p:cNvPr id="16" name="TextBox 15"/>
          <p:cNvSpPr txBox="1"/>
          <p:nvPr/>
        </p:nvSpPr>
        <p:spPr>
          <a:xfrm>
            <a:off x="9027871" y="3273551"/>
            <a:ext cx="2377440" cy="274320"/>
          </a:xfrm>
          <a:prstGeom prst="rect">
            <a:avLst/>
          </a:prstGeom>
          <a:noFill/>
        </p:spPr>
        <p:txBody>
          <a:bodyPr wrap="square" lIns="0" rIns="0" tIns="0" bIns="0">
            <a:spAutoFit/>
          </a:bodyPr>
          <a:lstStyle/>
          <a:p>
            <a:pPr algn="r">
              <a:lnSpc>
                <a:spcPct val="140000"/>
              </a:lnSpc>
              <a:spcAft>
                <a:spcPts val="0"/>
              </a:spcAft>
            </a:pPr>
            <a:r>
              <a:rPr sz="950" b="0" i="0">
                <a:solidFill>
                  <a:srgbClr val="33555F"/>
                </a:solidFill>
                <a:latin typeface="IBM Plex Mono"/>
              </a:rPr>
              <a:t>XXX</a:t>
            </a:r>
          </a:p>
        </p:txBody>
      </p:sp>
      <p:sp>
        <p:nvSpPr>
          <p:cNvPr id="17" name="Rectangle 16"/>
          <p:cNvSpPr/>
          <p:nvPr/>
        </p:nvSpPr>
        <p:spPr>
          <a:xfrm>
            <a:off x="786384" y="3497579"/>
            <a:ext cx="10618927"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3579875"/>
            <a:ext cx="8595360" cy="274320"/>
          </a:xfrm>
          <a:prstGeom prst="rect">
            <a:avLst/>
          </a:prstGeom>
          <a:noFill/>
        </p:spPr>
        <p:txBody>
          <a:bodyPr wrap="square" lIns="0" rIns="0" tIns="0" bIns="0">
            <a:spAutoFit/>
          </a:bodyPr>
          <a:lstStyle/>
          <a:p>
            <a:pPr>
              <a:lnSpc>
                <a:spcPct val="125000"/>
              </a:lnSpc>
              <a:spcAft>
                <a:spcPts val="0"/>
              </a:spcAft>
            </a:pPr>
            <a:r>
              <a:rPr sz="950" b="0" i="0">
                <a:solidFill>
                  <a:srgbClr val="33555F"/>
                </a:solidFill>
                <a:latin typeface="Plus Jakarta Sans"/>
              </a:rPr>
              <a:t>Add: Misc. Receipts (excess baggage, postal earnings, extra charges)</a:t>
            </a:r>
          </a:p>
        </p:txBody>
      </p:sp>
      <p:sp>
        <p:nvSpPr>
          <p:cNvPr id="19" name="TextBox 18"/>
          <p:cNvSpPr txBox="1"/>
          <p:nvPr/>
        </p:nvSpPr>
        <p:spPr>
          <a:xfrm>
            <a:off x="9027871" y="3579875"/>
            <a:ext cx="2377440" cy="274320"/>
          </a:xfrm>
          <a:prstGeom prst="rect">
            <a:avLst/>
          </a:prstGeom>
          <a:noFill/>
        </p:spPr>
        <p:txBody>
          <a:bodyPr wrap="square" lIns="0" rIns="0" tIns="0" bIns="0">
            <a:spAutoFit/>
          </a:bodyPr>
          <a:lstStyle/>
          <a:p>
            <a:pPr algn="r">
              <a:lnSpc>
                <a:spcPct val="140000"/>
              </a:lnSpc>
              <a:spcAft>
                <a:spcPts val="0"/>
              </a:spcAft>
            </a:pPr>
            <a:r>
              <a:rPr sz="950" b="0" i="0">
                <a:solidFill>
                  <a:srgbClr val="33555F"/>
                </a:solidFill>
                <a:latin typeface="IBM Plex Mono"/>
              </a:rPr>
              <a:t>XXX</a:t>
            </a:r>
          </a:p>
        </p:txBody>
      </p:sp>
      <p:sp>
        <p:nvSpPr>
          <p:cNvPr id="20" name="Rectangle 19"/>
          <p:cNvSpPr/>
          <p:nvPr/>
        </p:nvSpPr>
        <p:spPr>
          <a:xfrm>
            <a:off x="786384" y="3803904"/>
            <a:ext cx="10618927"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3886200"/>
            <a:ext cx="8595360" cy="274320"/>
          </a:xfrm>
          <a:prstGeom prst="rect">
            <a:avLst/>
          </a:prstGeom>
          <a:noFill/>
        </p:spPr>
        <p:txBody>
          <a:bodyPr wrap="square" lIns="0" rIns="0" tIns="0" bIns="0">
            <a:spAutoFit/>
          </a:bodyPr>
          <a:lstStyle/>
          <a:p>
            <a:pPr>
              <a:lnSpc>
                <a:spcPct val="125000"/>
              </a:lnSpc>
              <a:spcAft>
                <a:spcPts val="0"/>
              </a:spcAft>
            </a:pPr>
            <a:r>
              <a:rPr sz="950" b="1" i="0">
                <a:solidFill>
                  <a:srgbClr val="0E2830"/>
                </a:solidFill>
                <a:latin typeface="Plus Jakarta Sans"/>
              </a:rPr>
              <a:t>A.  Total Collection for the Month</a:t>
            </a:r>
          </a:p>
        </p:txBody>
      </p:sp>
      <p:sp>
        <p:nvSpPr>
          <p:cNvPr id="22" name="TextBox 21"/>
          <p:cNvSpPr txBox="1"/>
          <p:nvPr/>
        </p:nvSpPr>
        <p:spPr>
          <a:xfrm>
            <a:off x="9027871" y="3886200"/>
            <a:ext cx="2377440" cy="274320"/>
          </a:xfrm>
          <a:prstGeom prst="rect">
            <a:avLst/>
          </a:prstGeom>
          <a:noFill/>
        </p:spPr>
        <p:txBody>
          <a:bodyPr wrap="square" lIns="0" rIns="0" tIns="0" bIns="0">
            <a:spAutoFit/>
          </a:bodyPr>
          <a:lstStyle/>
          <a:p>
            <a:pPr algn="r">
              <a:lnSpc>
                <a:spcPct val="140000"/>
              </a:lnSpc>
              <a:spcAft>
                <a:spcPts val="0"/>
              </a:spcAft>
            </a:pPr>
            <a:r>
              <a:rPr sz="950" b="1" i="0">
                <a:solidFill>
                  <a:srgbClr val="0E2830"/>
                </a:solidFill>
                <a:latin typeface="IBM Plex Mono"/>
              </a:rPr>
              <a:t>XXXXXX</a:t>
            </a:r>
          </a:p>
        </p:txBody>
      </p:sp>
      <p:sp>
        <p:nvSpPr>
          <p:cNvPr id="23" name="Rectangle 22"/>
          <p:cNvSpPr/>
          <p:nvPr/>
        </p:nvSpPr>
        <p:spPr>
          <a:xfrm>
            <a:off x="786384" y="4110228"/>
            <a:ext cx="10618927"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4192524"/>
            <a:ext cx="8595360" cy="274320"/>
          </a:xfrm>
          <a:prstGeom prst="rect">
            <a:avLst/>
          </a:prstGeom>
          <a:noFill/>
        </p:spPr>
        <p:txBody>
          <a:bodyPr wrap="square" lIns="0" rIns="0" tIns="0" bIns="0">
            <a:spAutoFit/>
          </a:bodyPr>
          <a:lstStyle/>
          <a:p>
            <a:pPr>
              <a:lnSpc>
                <a:spcPct val="125000"/>
              </a:lnSpc>
              <a:spcAft>
                <a:spcPts val="0"/>
              </a:spcAft>
            </a:pPr>
            <a:r>
              <a:rPr sz="950" b="0" i="0">
                <a:solidFill>
                  <a:srgbClr val="33555F"/>
                </a:solidFill>
                <a:latin typeface="Plus Jakarta Sans"/>
              </a:rPr>
              <a:t>Less: Disbursement for the Month</a:t>
            </a:r>
          </a:p>
        </p:txBody>
      </p:sp>
      <p:sp>
        <p:nvSpPr>
          <p:cNvPr id="25" name="TextBox 24"/>
          <p:cNvSpPr txBox="1"/>
          <p:nvPr/>
        </p:nvSpPr>
        <p:spPr>
          <a:xfrm>
            <a:off x="9027871" y="4192524"/>
            <a:ext cx="2377440" cy="274320"/>
          </a:xfrm>
          <a:prstGeom prst="rect">
            <a:avLst/>
          </a:prstGeom>
          <a:noFill/>
        </p:spPr>
        <p:txBody>
          <a:bodyPr wrap="square" lIns="0" rIns="0" tIns="0" bIns="0">
            <a:spAutoFit/>
          </a:bodyPr>
          <a:lstStyle/>
          <a:p>
            <a:pPr algn="r">
              <a:lnSpc>
                <a:spcPct val="140000"/>
              </a:lnSpc>
              <a:spcAft>
                <a:spcPts val="0"/>
              </a:spcAft>
            </a:pPr>
            <a:r>
              <a:rPr sz="950" b="0" i="0">
                <a:solidFill>
                  <a:srgbClr val="33555F"/>
                </a:solidFill>
                <a:latin typeface="IBM Plex Mono"/>
              </a:rPr>
              <a:t>XXX</a:t>
            </a:r>
          </a:p>
        </p:txBody>
      </p:sp>
      <p:sp>
        <p:nvSpPr>
          <p:cNvPr id="26" name="Rectangle 25"/>
          <p:cNvSpPr/>
          <p:nvPr/>
        </p:nvSpPr>
        <p:spPr>
          <a:xfrm>
            <a:off x="786384" y="4416552"/>
            <a:ext cx="10618927"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 y="4498848"/>
            <a:ext cx="8595360" cy="274320"/>
          </a:xfrm>
          <a:prstGeom prst="rect">
            <a:avLst/>
          </a:prstGeom>
          <a:noFill/>
        </p:spPr>
        <p:txBody>
          <a:bodyPr wrap="square" lIns="0" rIns="0" tIns="0" bIns="0">
            <a:spAutoFit/>
          </a:bodyPr>
          <a:lstStyle/>
          <a:p>
            <a:pPr>
              <a:lnSpc>
                <a:spcPct val="125000"/>
              </a:lnSpc>
              <a:spcAft>
                <a:spcPts val="0"/>
              </a:spcAft>
            </a:pPr>
            <a:r>
              <a:rPr sz="950" b="0" i="0">
                <a:solidFill>
                  <a:srgbClr val="33555F"/>
                </a:solidFill>
                <a:latin typeface="Plus Jakarta Sans"/>
              </a:rPr>
              <a:t>Less: Other Adjustment</a:t>
            </a:r>
          </a:p>
        </p:txBody>
      </p:sp>
      <p:sp>
        <p:nvSpPr>
          <p:cNvPr id="28" name="TextBox 27"/>
          <p:cNvSpPr txBox="1"/>
          <p:nvPr/>
        </p:nvSpPr>
        <p:spPr>
          <a:xfrm>
            <a:off x="9027871" y="4498848"/>
            <a:ext cx="2377440" cy="274320"/>
          </a:xfrm>
          <a:prstGeom prst="rect">
            <a:avLst/>
          </a:prstGeom>
          <a:noFill/>
        </p:spPr>
        <p:txBody>
          <a:bodyPr wrap="square" lIns="0" rIns="0" tIns="0" bIns="0">
            <a:spAutoFit/>
          </a:bodyPr>
          <a:lstStyle/>
          <a:p>
            <a:pPr algn="r">
              <a:lnSpc>
                <a:spcPct val="140000"/>
              </a:lnSpc>
              <a:spcAft>
                <a:spcPts val="0"/>
              </a:spcAft>
            </a:pPr>
            <a:r>
              <a:rPr sz="950" b="0" i="0">
                <a:solidFill>
                  <a:srgbClr val="33555F"/>
                </a:solidFill>
                <a:latin typeface="IBM Plex Mono"/>
              </a:rPr>
              <a:t>XXX</a:t>
            </a:r>
          </a:p>
        </p:txBody>
      </p:sp>
      <p:sp>
        <p:nvSpPr>
          <p:cNvPr id="29" name="Rectangle 28"/>
          <p:cNvSpPr/>
          <p:nvPr/>
        </p:nvSpPr>
        <p:spPr>
          <a:xfrm>
            <a:off x="786384" y="4722876"/>
            <a:ext cx="10618927"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 y="4805172"/>
            <a:ext cx="8595360" cy="274320"/>
          </a:xfrm>
          <a:prstGeom prst="rect">
            <a:avLst/>
          </a:prstGeom>
          <a:noFill/>
        </p:spPr>
        <p:txBody>
          <a:bodyPr wrap="square" lIns="0" rIns="0" tIns="0" bIns="0">
            <a:spAutoFit/>
          </a:bodyPr>
          <a:lstStyle/>
          <a:p>
            <a:pPr>
              <a:lnSpc>
                <a:spcPct val="125000"/>
              </a:lnSpc>
              <a:spcAft>
                <a:spcPts val="0"/>
              </a:spcAft>
            </a:pPr>
            <a:r>
              <a:rPr sz="950" b="1" i="0">
                <a:solidFill>
                  <a:srgbClr val="0E2830"/>
                </a:solidFill>
                <a:latin typeface="Plus Jakarta Sans"/>
              </a:rPr>
              <a:t>B.  Total Disbursement for the Month</a:t>
            </a:r>
          </a:p>
        </p:txBody>
      </p:sp>
      <p:sp>
        <p:nvSpPr>
          <p:cNvPr id="31" name="TextBox 30"/>
          <p:cNvSpPr txBox="1"/>
          <p:nvPr/>
        </p:nvSpPr>
        <p:spPr>
          <a:xfrm>
            <a:off x="9027871" y="4805172"/>
            <a:ext cx="2377440" cy="274320"/>
          </a:xfrm>
          <a:prstGeom prst="rect">
            <a:avLst/>
          </a:prstGeom>
          <a:noFill/>
        </p:spPr>
        <p:txBody>
          <a:bodyPr wrap="square" lIns="0" rIns="0" tIns="0" bIns="0">
            <a:spAutoFit/>
          </a:bodyPr>
          <a:lstStyle/>
          <a:p>
            <a:pPr algn="r">
              <a:lnSpc>
                <a:spcPct val="140000"/>
              </a:lnSpc>
              <a:spcAft>
                <a:spcPts val="0"/>
              </a:spcAft>
            </a:pPr>
            <a:r>
              <a:rPr sz="950" b="1" i="0">
                <a:solidFill>
                  <a:srgbClr val="0E2830"/>
                </a:solidFill>
                <a:latin typeface="IBM Plex Mono"/>
              </a:rPr>
              <a:t>XXXXXX</a:t>
            </a:r>
          </a:p>
        </p:txBody>
      </p:sp>
      <p:sp>
        <p:nvSpPr>
          <p:cNvPr id="32" name="Rectangle 31"/>
          <p:cNvSpPr/>
          <p:nvPr/>
        </p:nvSpPr>
        <p:spPr>
          <a:xfrm>
            <a:off x="786384" y="5029200"/>
            <a:ext cx="10618927"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6384" y="5111496"/>
            <a:ext cx="8595360" cy="274320"/>
          </a:xfrm>
          <a:prstGeom prst="rect">
            <a:avLst/>
          </a:prstGeom>
          <a:noFill/>
        </p:spPr>
        <p:txBody>
          <a:bodyPr wrap="square" lIns="0" rIns="0" tIns="0" bIns="0">
            <a:spAutoFit/>
          </a:bodyPr>
          <a:lstStyle/>
          <a:p>
            <a:pPr>
              <a:lnSpc>
                <a:spcPct val="125000"/>
              </a:lnSpc>
              <a:spcAft>
                <a:spcPts val="0"/>
              </a:spcAft>
            </a:pPr>
            <a:r>
              <a:rPr sz="950" b="0" i="0">
                <a:solidFill>
                  <a:srgbClr val="33555F"/>
                </a:solidFill>
                <a:latin typeface="Plus Jakarta Sans"/>
              </a:rPr>
              <a:t>i.  Provision for refund, 10% of passenger revenue (current month)</a:t>
            </a:r>
          </a:p>
        </p:txBody>
      </p:sp>
      <p:sp>
        <p:nvSpPr>
          <p:cNvPr id="34" name="TextBox 33"/>
          <p:cNvSpPr txBox="1"/>
          <p:nvPr/>
        </p:nvSpPr>
        <p:spPr>
          <a:xfrm>
            <a:off x="9027871" y="5111496"/>
            <a:ext cx="2377440" cy="274320"/>
          </a:xfrm>
          <a:prstGeom prst="rect">
            <a:avLst/>
          </a:prstGeom>
          <a:noFill/>
        </p:spPr>
        <p:txBody>
          <a:bodyPr wrap="square" lIns="0" rIns="0" tIns="0" bIns="0">
            <a:spAutoFit/>
          </a:bodyPr>
          <a:lstStyle/>
          <a:p>
            <a:pPr algn="r">
              <a:lnSpc>
                <a:spcPct val="140000"/>
              </a:lnSpc>
              <a:spcAft>
                <a:spcPts val="0"/>
              </a:spcAft>
            </a:pPr>
            <a:r>
              <a:rPr sz="950" b="0" i="0">
                <a:solidFill>
                  <a:srgbClr val="33555F"/>
                </a:solidFill>
                <a:latin typeface="IBM Plex Mono"/>
              </a:rPr>
              <a:t>XXX</a:t>
            </a:r>
          </a:p>
        </p:txBody>
      </p:sp>
      <p:sp>
        <p:nvSpPr>
          <p:cNvPr id="35" name="Rectangle 34"/>
          <p:cNvSpPr/>
          <p:nvPr/>
        </p:nvSpPr>
        <p:spPr>
          <a:xfrm>
            <a:off x="786384" y="5335524"/>
            <a:ext cx="10618927"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 y="5417820"/>
            <a:ext cx="8595360" cy="274320"/>
          </a:xfrm>
          <a:prstGeom prst="rect">
            <a:avLst/>
          </a:prstGeom>
          <a:noFill/>
        </p:spPr>
        <p:txBody>
          <a:bodyPr wrap="square" lIns="0" rIns="0" tIns="0" bIns="0">
            <a:spAutoFit/>
          </a:bodyPr>
          <a:lstStyle/>
          <a:p>
            <a:pPr>
              <a:lnSpc>
                <a:spcPct val="125000"/>
              </a:lnSpc>
              <a:spcAft>
                <a:spcPts val="0"/>
              </a:spcAft>
            </a:pPr>
            <a:r>
              <a:rPr sz="950" b="0" i="0">
                <a:solidFill>
                  <a:srgbClr val="33555F"/>
                </a:solidFill>
                <a:latin typeface="Plus Jakarta Sans"/>
              </a:rPr>
              <a:t>ii.  Unused provision for refund, earlier period (previous month)</a:t>
            </a:r>
          </a:p>
        </p:txBody>
      </p:sp>
      <p:sp>
        <p:nvSpPr>
          <p:cNvPr id="37" name="TextBox 36"/>
          <p:cNvSpPr txBox="1"/>
          <p:nvPr/>
        </p:nvSpPr>
        <p:spPr>
          <a:xfrm>
            <a:off x="9027871" y="5417820"/>
            <a:ext cx="2377440" cy="274320"/>
          </a:xfrm>
          <a:prstGeom prst="rect">
            <a:avLst/>
          </a:prstGeom>
          <a:noFill/>
        </p:spPr>
        <p:txBody>
          <a:bodyPr wrap="square" lIns="0" rIns="0" tIns="0" bIns="0">
            <a:spAutoFit/>
          </a:bodyPr>
          <a:lstStyle/>
          <a:p>
            <a:pPr algn="r">
              <a:lnSpc>
                <a:spcPct val="140000"/>
              </a:lnSpc>
              <a:spcAft>
                <a:spcPts val="0"/>
              </a:spcAft>
            </a:pPr>
            <a:r>
              <a:rPr sz="950" b="0" i="0">
                <a:solidFill>
                  <a:srgbClr val="33555F"/>
                </a:solidFill>
                <a:latin typeface="IBM Plex Mono"/>
              </a:rPr>
              <a:t>XXX</a:t>
            </a:r>
          </a:p>
        </p:txBody>
      </p:sp>
      <p:sp>
        <p:nvSpPr>
          <p:cNvPr id="38" name="Rectangle 37"/>
          <p:cNvSpPr/>
          <p:nvPr/>
        </p:nvSpPr>
        <p:spPr>
          <a:xfrm>
            <a:off x="786384" y="5641848"/>
            <a:ext cx="10618927"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6384" y="5724144"/>
            <a:ext cx="8595360" cy="274320"/>
          </a:xfrm>
          <a:prstGeom prst="rect">
            <a:avLst/>
          </a:prstGeom>
          <a:noFill/>
        </p:spPr>
        <p:txBody>
          <a:bodyPr wrap="square" lIns="0" rIns="0" tIns="0" bIns="0">
            <a:spAutoFit/>
          </a:bodyPr>
          <a:lstStyle/>
          <a:p>
            <a:pPr>
              <a:lnSpc>
                <a:spcPct val="125000"/>
              </a:lnSpc>
              <a:spcAft>
                <a:spcPts val="0"/>
              </a:spcAft>
            </a:pPr>
            <a:r>
              <a:rPr sz="950" b="1" i="0">
                <a:solidFill>
                  <a:srgbClr val="0E2830"/>
                </a:solidFill>
                <a:latin typeface="Plus Jakarta Sans"/>
              </a:rPr>
              <a:t>C.  Net Provision (i - ii)</a:t>
            </a:r>
          </a:p>
        </p:txBody>
      </p:sp>
      <p:sp>
        <p:nvSpPr>
          <p:cNvPr id="40" name="TextBox 39"/>
          <p:cNvSpPr txBox="1"/>
          <p:nvPr/>
        </p:nvSpPr>
        <p:spPr>
          <a:xfrm>
            <a:off x="9027871" y="5724144"/>
            <a:ext cx="2377440" cy="274320"/>
          </a:xfrm>
          <a:prstGeom prst="rect">
            <a:avLst/>
          </a:prstGeom>
          <a:noFill/>
        </p:spPr>
        <p:txBody>
          <a:bodyPr wrap="square" lIns="0" rIns="0" tIns="0" bIns="0">
            <a:spAutoFit/>
          </a:bodyPr>
          <a:lstStyle/>
          <a:p>
            <a:pPr algn="r">
              <a:lnSpc>
                <a:spcPct val="140000"/>
              </a:lnSpc>
              <a:spcAft>
                <a:spcPts val="0"/>
              </a:spcAft>
            </a:pPr>
            <a:r>
              <a:rPr sz="950" b="1" i="0">
                <a:solidFill>
                  <a:srgbClr val="0E2830"/>
                </a:solidFill>
                <a:latin typeface="IBM Plex Mono"/>
              </a:rPr>
              <a:t>XXXXXX</a:t>
            </a:r>
          </a:p>
        </p:txBody>
      </p:sp>
      <p:sp>
        <p:nvSpPr>
          <p:cNvPr id="41" name="Rectangle 40"/>
          <p:cNvSpPr/>
          <p:nvPr/>
        </p:nvSpPr>
        <p:spPr>
          <a:xfrm>
            <a:off x="786384" y="5948172"/>
            <a:ext cx="10618927" cy="19050"/>
          </a:xfrm>
          <a:prstGeom prst="rect">
            <a:avLst/>
          </a:prstGeom>
          <a:solidFill>
            <a:srgbClr val="C6DD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6384" y="6030468"/>
            <a:ext cx="8595360" cy="274320"/>
          </a:xfrm>
          <a:prstGeom prst="rect">
            <a:avLst/>
          </a:prstGeom>
          <a:noFill/>
        </p:spPr>
        <p:txBody>
          <a:bodyPr wrap="square" lIns="0" rIns="0" tIns="0" bIns="0">
            <a:spAutoFit/>
          </a:bodyPr>
          <a:lstStyle/>
          <a:p>
            <a:pPr>
              <a:lnSpc>
                <a:spcPct val="125000"/>
              </a:lnSpc>
              <a:spcAft>
                <a:spcPts val="0"/>
              </a:spcAft>
            </a:pPr>
            <a:r>
              <a:rPr sz="950" b="1" i="0">
                <a:solidFill>
                  <a:srgbClr val="C10073"/>
                </a:solidFill>
                <a:latin typeface="Plus Jakarta Sans"/>
              </a:rPr>
              <a:t>Net Surplus Earnings to be Remitted for the Month  (A - B - C)</a:t>
            </a:r>
          </a:p>
        </p:txBody>
      </p:sp>
      <p:sp>
        <p:nvSpPr>
          <p:cNvPr id="43" name="TextBox 42"/>
          <p:cNvSpPr txBox="1"/>
          <p:nvPr/>
        </p:nvSpPr>
        <p:spPr>
          <a:xfrm>
            <a:off x="9027871" y="6030468"/>
            <a:ext cx="2377440" cy="274320"/>
          </a:xfrm>
          <a:prstGeom prst="rect">
            <a:avLst/>
          </a:prstGeom>
          <a:noFill/>
        </p:spPr>
        <p:txBody>
          <a:bodyPr wrap="square" lIns="0" rIns="0" tIns="0" bIns="0">
            <a:spAutoFit/>
          </a:bodyPr>
          <a:lstStyle/>
          <a:p>
            <a:pPr algn="r">
              <a:lnSpc>
                <a:spcPct val="140000"/>
              </a:lnSpc>
              <a:spcAft>
                <a:spcPts val="0"/>
              </a:spcAft>
            </a:pPr>
            <a:r>
              <a:rPr sz="950" b="1" i="0">
                <a:solidFill>
                  <a:srgbClr val="C10073"/>
                </a:solidFill>
                <a:latin typeface="IBM Plex Mono"/>
              </a:rPr>
              <a:t>XXXXXX</a:t>
            </a:r>
          </a:p>
        </p:txBody>
      </p:sp>
      <p:sp>
        <p:nvSpPr>
          <p:cNvPr id="44" name="TextBox 43"/>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45" name="TextBox 44"/>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Part 3   /   10   /   Monthly Remittance Operations</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2900" b="1">
                <a:solidFill>
                  <a:srgbClr val="0E2830"/>
                </a:solidFill>
                <a:latin typeface="Outfit"/>
              </a:rPr>
              <a:t>Post Facto Approval &amp; File Types</a:t>
            </a:r>
          </a:p>
        </p:txBody>
      </p:sp>
      <p:sp>
        <p:nvSpPr>
          <p:cNvPr id="5" name="Rectangle 4"/>
          <p:cNvSpPr/>
          <p:nvPr/>
        </p:nvSpPr>
        <p:spPr>
          <a:xfrm>
            <a:off x="786384" y="2212848"/>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c_f2bea0a7ed_t.png"/>
          <p:cNvPicPr>
            <a:picLocks noChangeAspect="1"/>
          </p:cNvPicPr>
          <p:nvPr/>
        </p:nvPicPr>
        <p:blipFill>
          <a:blip r:embed="rId2"/>
          <a:stretch>
            <a:fillRect/>
          </a:stretch>
        </p:blipFill>
        <p:spPr>
          <a:xfrm>
            <a:off x="969264" y="2107691"/>
            <a:ext cx="219456" cy="219456"/>
          </a:xfrm>
          <a:prstGeom prst="rect">
            <a:avLst/>
          </a:prstGeom>
        </p:spPr>
      </p:pic>
      <p:sp>
        <p:nvSpPr>
          <p:cNvPr id="7" name="TextBox 6"/>
          <p:cNvSpPr txBox="1"/>
          <p:nvPr/>
        </p:nvSpPr>
        <p:spPr>
          <a:xfrm>
            <a:off x="987552" y="2523744"/>
            <a:ext cx="3119018"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Post Facto Approval</a:t>
            </a:r>
          </a:p>
        </p:txBody>
      </p:sp>
      <p:sp>
        <p:nvSpPr>
          <p:cNvPr id="8" name="TextBox 7"/>
          <p:cNvSpPr txBox="1"/>
          <p:nvPr/>
        </p:nvSpPr>
        <p:spPr>
          <a:xfrm>
            <a:off x="987552" y="2761487"/>
            <a:ext cx="3119018"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Comes after remittance</a:t>
            </a:r>
          </a:p>
        </p:txBody>
      </p:sp>
      <p:sp>
        <p:nvSpPr>
          <p:cNvPr id="9" name="TextBox 8"/>
          <p:cNvSpPr txBox="1"/>
          <p:nvPr/>
        </p:nvSpPr>
        <p:spPr>
          <a:xfrm>
            <a:off x="987552" y="2999231"/>
            <a:ext cx="3119018"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PFA is obtained from Bangladesh Bank after the transfer, not as a pre-approval</a:t>
            </a:r>
          </a:p>
        </p:txBody>
      </p:sp>
      <p:sp>
        <p:nvSpPr>
          <p:cNvPr id="10" name="Rectangle 9"/>
          <p:cNvSpPr/>
          <p:nvPr/>
        </p:nvSpPr>
        <p:spPr>
          <a:xfrm>
            <a:off x="4326026" y="2267712"/>
            <a:ext cx="9525" cy="132588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c_af6d17bb97_t.png"/>
          <p:cNvPicPr>
            <a:picLocks noChangeAspect="1"/>
          </p:cNvPicPr>
          <p:nvPr/>
        </p:nvPicPr>
        <p:blipFill>
          <a:blip r:embed="rId3"/>
          <a:stretch>
            <a:fillRect/>
          </a:stretch>
        </p:blipFill>
        <p:spPr>
          <a:xfrm>
            <a:off x="4508906" y="2107691"/>
            <a:ext cx="219456" cy="219456"/>
          </a:xfrm>
          <a:prstGeom prst="rect">
            <a:avLst/>
          </a:prstGeom>
        </p:spPr>
      </p:pic>
      <p:sp>
        <p:nvSpPr>
          <p:cNvPr id="12" name="TextBox 11"/>
          <p:cNvSpPr txBox="1"/>
          <p:nvPr/>
        </p:nvSpPr>
        <p:spPr>
          <a:xfrm>
            <a:off x="4527194" y="2523744"/>
            <a:ext cx="3119018"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Six-month repatriation window</a:t>
            </a:r>
          </a:p>
        </p:txBody>
      </p:sp>
      <p:sp>
        <p:nvSpPr>
          <p:cNvPr id="13" name="TextBox 12"/>
          <p:cNvSpPr txBox="1"/>
          <p:nvPr/>
        </p:nvSpPr>
        <p:spPr>
          <a:xfrm>
            <a:off x="4527194" y="2761487"/>
            <a:ext cx="3119018"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Airlines can remit funds up to six months from the date documents were last approved by Bangladesh Bank</a:t>
            </a:r>
          </a:p>
        </p:txBody>
      </p:sp>
      <p:sp>
        <p:nvSpPr>
          <p:cNvPr id="14" name="Rectangle 13"/>
          <p:cNvSpPr/>
          <p:nvPr/>
        </p:nvSpPr>
        <p:spPr>
          <a:xfrm>
            <a:off x="7865668" y="2267712"/>
            <a:ext cx="9525" cy="132588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8e78978064_t.png"/>
          <p:cNvPicPr>
            <a:picLocks noChangeAspect="1"/>
          </p:cNvPicPr>
          <p:nvPr/>
        </p:nvPicPr>
        <p:blipFill>
          <a:blip r:embed="rId4"/>
          <a:stretch>
            <a:fillRect/>
          </a:stretch>
        </p:blipFill>
        <p:spPr>
          <a:xfrm>
            <a:off x="8048548" y="2107691"/>
            <a:ext cx="219456" cy="219456"/>
          </a:xfrm>
          <a:prstGeom prst="rect">
            <a:avLst/>
          </a:prstGeom>
        </p:spPr>
      </p:pic>
      <p:sp>
        <p:nvSpPr>
          <p:cNvPr id="16" name="TextBox 15"/>
          <p:cNvSpPr txBox="1"/>
          <p:nvPr/>
        </p:nvSpPr>
        <p:spPr>
          <a:xfrm>
            <a:off x="8066836" y="2523744"/>
            <a:ext cx="3119018"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Fully manual today</a:t>
            </a:r>
          </a:p>
        </p:txBody>
      </p:sp>
      <p:sp>
        <p:nvSpPr>
          <p:cNvPr id="17" name="TextBox 16"/>
          <p:cNvSpPr txBox="1"/>
          <p:nvPr/>
        </p:nvSpPr>
        <p:spPr>
          <a:xfrm>
            <a:off x="8066836" y="2761487"/>
            <a:ext cx="3119018" cy="1280160"/>
          </a:xfrm>
          <a:prstGeom prst="rect">
            <a:avLst/>
          </a:prstGeom>
          <a:noFill/>
        </p:spPr>
        <p:txBody>
          <a:bodyPr wrap="square" lIns="0" rIns="0" tIns="0" bIns="0">
            <a:spAutoFit/>
          </a:bodyPr>
          <a:lstStyle/>
          <a:p>
            <a:pPr>
              <a:lnSpc>
                <a:spcPct val="145000"/>
              </a:lnSpc>
              <a:spcAft>
                <a:spcPts val="0"/>
              </a:spcAft>
            </a:pPr>
            <a:r>
              <a:rPr sz="880" b="0" i="0">
                <a:solidFill>
                  <a:srgbClr val="52737D"/>
                </a:solidFill>
                <a:latin typeface="Plus Jakarta Sans"/>
              </a:rPr>
              <a:t>The end-to-end PFA flow runs on hard-copy documentation, with verification at various levels</a:t>
            </a:r>
          </a:p>
        </p:txBody>
      </p:sp>
      <p:sp>
        <p:nvSpPr>
          <p:cNvPr id="18" name="Rectangle 17"/>
          <p:cNvSpPr/>
          <p:nvPr/>
        </p:nvSpPr>
        <p:spPr>
          <a:xfrm>
            <a:off x="786384" y="4160520"/>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87552" y="4125772"/>
            <a:ext cx="68580" cy="68580"/>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4379976"/>
            <a:ext cx="4888839"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Core files</a:t>
            </a:r>
          </a:p>
        </p:txBody>
      </p:sp>
      <p:sp>
        <p:nvSpPr>
          <p:cNvPr id="21" name="Oval 20"/>
          <p:cNvSpPr/>
          <p:nvPr/>
        </p:nvSpPr>
        <p:spPr>
          <a:xfrm>
            <a:off x="1005840" y="4668012"/>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33856" y="4617720"/>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Passenger Collection file</a:t>
            </a:r>
          </a:p>
        </p:txBody>
      </p:sp>
      <p:sp>
        <p:nvSpPr>
          <p:cNvPr id="23" name="Oval 22"/>
          <p:cNvSpPr/>
          <p:nvPr/>
        </p:nvSpPr>
        <p:spPr>
          <a:xfrm>
            <a:off x="1005840" y="4841748"/>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33856" y="4791456"/>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Cargo Collection file</a:t>
            </a:r>
          </a:p>
        </p:txBody>
      </p:sp>
      <p:sp>
        <p:nvSpPr>
          <p:cNvPr id="25" name="Oval 24"/>
          <p:cNvSpPr/>
          <p:nvPr/>
        </p:nvSpPr>
        <p:spPr>
          <a:xfrm>
            <a:off x="1005840" y="5015484"/>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33856" y="4965192"/>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Disbursement file</a:t>
            </a:r>
          </a:p>
        </p:txBody>
      </p:sp>
      <p:sp>
        <p:nvSpPr>
          <p:cNvPr id="27" name="Rectangle 26"/>
          <p:cNvSpPr/>
          <p:nvPr/>
        </p:nvSpPr>
        <p:spPr>
          <a:xfrm>
            <a:off x="6095847" y="4215383"/>
            <a:ext cx="9525" cy="150876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297015" y="4125772"/>
            <a:ext cx="68580" cy="68580"/>
          </a:xfrm>
          <a:prstGeom prst="ellipse">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7015" y="4379976"/>
            <a:ext cx="4888839"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Supplementary files</a:t>
            </a:r>
          </a:p>
        </p:txBody>
      </p:sp>
      <p:sp>
        <p:nvSpPr>
          <p:cNvPr id="30" name="Oval 29"/>
          <p:cNvSpPr/>
          <p:nvPr/>
        </p:nvSpPr>
        <p:spPr>
          <a:xfrm>
            <a:off x="6315303" y="4668012"/>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3319" y="4617720"/>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Miscellaneous file</a:t>
            </a:r>
          </a:p>
        </p:txBody>
      </p:sp>
      <p:sp>
        <p:nvSpPr>
          <p:cNvPr id="32" name="Oval 31"/>
          <p:cNvSpPr/>
          <p:nvPr/>
        </p:nvSpPr>
        <p:spPr>
          <a:xfrm>
            <a:off x="6315303" y="4841748"/>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3319" y="4791456"/>
            <a:ext cx="4742535"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Refund statement file</a:t>
            </a:r>
          </a:p>
        </p:txBody>
      </p:sp>
      <p:sp>
        <p:nvSpPr>
          <p:cNvPr id="34" name="TextBox 33"/>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35" name="TextBox 34"/>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Part 4   /   11   /   Documentation &amp; Roadmap</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3000" b="1">
                <a:solidFill>
                  <a:srgbClr val="0E2830"/>
                </a:solidFill>
                <a:latin typeface="Outfit"/>
              </a:rPr>
              <a:t>Documentation Required, Annual Basis</a:t>
            </a:r>
          </a:p>
        </p:txBody>
      </p:sp>
      <p:sp>
        <p:nvSpPr>
          <p:cNvPr id="5" name="Rectangle 4"/>
          <p:cNvSpPr/>
          <p:nvPr/>
        </p:nvSpPr>
        <p:spPr>
          <a:xfrm>
            <a:off x="786384" y="2212848"/>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c_3578ddd62b_t.png"/>
          <p:cNvPicPr>
            <a:picLocks noChangeAspect="1"/>
          </p:cNvPicPr>
          <p:nvPr/>
        </p:nvPicPr>
        <p:blipFill>
          <a:blip r:embed="rId2"/>
          <a:stretch>
            <a:fillRect/>
          </a:stretch>
        </p:blipFill>
        <p:spPr>
          <a:xfrm>
            <a:off x="969264" y="2107691"/>
            <a:ext cx="219456" cy="219456"/>
          </a:xfrm>
          <a:prstGeom prst="rect">
            <a:avLst/>
          </a:prstGeom>
        </p:spPr>
      </p:pic>
      <p:sp>
        <p:nvSpPr>
          <p:cNvPr id="7" name="TextBox 6"/>
          <p:cNvSpPr txBox="1"/>
          <p:nvPr/>
        </p:nvSpPr>
        <p:spPr>
          <a:xfrm>
            <a:off x="987552" y="2523744"/>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Valid Branch Office permission, with subsequent waiver approval, from BIDA</a:t>
            </a:r>
          </a:p>
        </p:txBody>
      </p:sp>
      <p:sp>
        <p:nvSpPr>
          <p:cNvPr id="8" name="Rectangle 7"/>
          <p:cNvSpPr/>
          <p:nvPr/>
        </p:nvSpPr>
        <p:spPr>
          <a:xfrm>
            <a:off x="3441115" y="2267712"/>
            <a:ext cx="9525" cy="132588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_3578ddd62b_t.png"/>
          <p:cNvPicPr>
            <a:picLocks noChangeAspect="1"/>
          </p:cNvPicPr>
          <p:nvPr/>
        </p:nvPicPr>
        <p:blipFill>
          <a:blip r:embed="rId2"/>
          <a:stretch>
            <a:fillRect/>
          </a:stretch>
        </p:blipFill>
        <p:spPr>
          <a:xfrm>
            <a:off x="3623995" y="2107691"/>
            <a:ext cx="219456" cy="219456"/>
          </a:xfrm>
          <a:prstGeom prst="rect">
            <a:avLst/>
          </a:prstGeom>
        </p:spPr>
      </p:pic>
      <p:sp>
        <p:nvSpPr>
          <p:cNvPr id="10" name="TextBox 9"/>
          <p:cNvSpPr txBox="1"/>
          <p:nvPr/>
        </p:nvSpPr>
        <p:spPr>
          <a:xfrm>
            <a:off x="3642283" y="2523744"/>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Valid GSA agreement</a:t>
            </a:r>
          </a:p>
        </p:txBody>
      </p:sp>
      <p:sp>
        <p:nvSpPr>
          <p:cNvPr id="11" name="Rectangle 10"/>
          <p:cNvSpPr/>
          <p:nvPr/>
        </p:nvSpPr>
        <p:spPr>
          <a:xfrm>
            <a:off x="6095847" y="2267712"/>
            <a:ext cx="9525" cy="132588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c_3578ddd62b_t.png"/>
          <p:cNvPicPr>
            <a:picLocks noChangeAspect="1"/>
          </p:cNvPicPr>
          <p:nvPr/>
        </p:nvPicPr>
        <p:blipFill>
          <a:blip r:embed="rId2"/>
          <a:stretch>
            <a:fillRect/>
          </a:stretch>
        </p:blipFill>
        <p:spPr>
          <a:xfrm>
            <a:off x="6278727" y="2107691"/>
            <a:ext cx="219456" cy="219456"/>
          </a:xfrm>
          <a:prstGeom prst="rect">
            <a:avLst/>
          </a:prstGeom>
        </p:spPr>
      </p:pic>
      <p:sp>
        <p:nvSpPr>
          <p:cNvPr id="13" name="TextBox 12"/>
          <p:cNvSpPr txBox="1"/>
          <p:nvPr/>
        </p:nvSpPr>
        <p:spPr>
          <a:xfrm>
            <a:off x="6297015" y="2523744"/>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City &amp; airport office lease agreement, plus airport cargo-village lease agreement</a:t>
            </a:r>
          </a:p>
        </p:txBody>
      </p:sp>
      <p:sp>
        <p:nvSpPr>
          <p:cNvPr id="14" name="Rectangle 13"/>
          <p:cNvSpPr/>
          <p:nvPr/>
        </p:nvSpPr>
        <p:spPr>
          <a:xfrm>
            <a:off x="8750579" y="2267712"/>
            <a:ext cx="9525" cy="132588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3578ddd62b_t.png"/>
          <p:cNvPicPr>
            <a:picLocks noChangeAspect="1"/>
          </p:cNvPicPr>
          <p:nvPr/>
        </p:nvPicPr>
        <p:blipFill>
          <a:blip r:embed="rId2"/>
          <a:stretch>
            <a:fillRect/>
          </a:stretch>
        </p:blipFill>
        <p:spPr>
          <a:xfrm>
            <a:off x="8933459" y="2107691"/>
            <a:ext cx="219456" cy="219456"/>
          </a:xfrm>
          <a:prstGeom prst="rect">
            <a:avLst/>
          </a:prstGeom>
        </p:spPr>
      </p:pic>
      <p:sp>
        <p:nvSpPr>
          <p:cNvPr id="16" name="TextBox 15"/>
          <p:cNvSpPr txBox="1"/>
          <p:nvPr/>
        </p:nvSpPr>
        <p:spPr>
          <a:xfrm>
            <a:off x="8951747" y="2523744"/>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Agreements with CAAB &amp; Biman Bangladesh for fuel uplift, catering, and ground handling</a:t>
            </a:r>
          </a:p>
        </p:txBody>
      </p:sp>
      <p:sp>
        <p:nvSpPr>
          <p:cNvPr id="17" name="Rectangle 16"/>
          <p:cNvSpPr/>
          <p:nvPr/>
        </p:nvSpPr>
        <p:spPr>
          <a:xfrm>
            <a:off x="786384" y="3904487"/>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c_3578ddd62b_t.png"/>
          <p:cNvPicPr>
            <a:picLocks noChangeAspect="1"/>
          </p:cNvPicPr>
          <p:nvPr/>
        </p:nvPicPr>
        <p:blipFill>
          <a:blip r:embed="rId2"/>
          <a:stretch>
            <a:fillRect/>
          </a:stretch>
        </p:blipFill>
        <p:spPr>
          <a:xfrm>
            <a:off x="969264" y="3799331"/>
            <a:ext cx="219456" cy="219456"/>
          </a:xfrm>
          <a:prstGeom prst="rect">
            <a:avLst/>
          </a:prstGeom>
        </p:spPr>
      </p:pic>
      <p:sp>
        <p:nvSpPr>
          <p:cNvPr id="19" name="TextBox 18"/>
          <p:cNvSpPr txBox="1"/>
          <p:nvPr/>
        </p:nvSpPr>
        <p:spPr>
          <a:xfrm>
            <a:off x="987552" y="4215383"/>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No Objection Certificate (NOC) favouring the GSA, from CAAB</a:t>
            </a:r>
          </a:p>
        </p:txBody>
      </p:sp>
      <p:sp>
        <p:nvSpPr>
          <p:cNvPr id="20" name="Rectangle 19"/>
          <p:cNvSpPr/>
          <p:nvPr/>
        </p:nvSpPr>
        <p:spPr>
          <a:xfrm>
            <a:off x="786384" y="3904487"/>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41115" y="3959351"/>
            <a:ext cx="9525" cy="132588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3578ddd62b_t.png"/>
          <p:cNvPicPr>
            <a:picLocks noChangeAspect="1"/>
          </p:cNvPicPr>
          <p:nvPr/>
        </p:nvPicPr>
        <p:blipFill>
          <a:blip r:embed="rId2"/>
          <a:stretch>
            <a:fillRect/>
          </a:stretch>
        </p:blipFill>
        <p:spPr>
          <a:xfrm>
            <a:off x="3623995" y="3799331"/>
            <a:ext cx="219456" cy="219456"/>
          </a:xfrm>
          <a:prstGeom prst="rect">
            <a:avLst/>
          </a:prstGeom>
        </p:spPr>
      </p:pic>
      <p:sp>
        <p:nvSpPr>
          <p:cNvPr id="23" name="TextBox 22"/>
          <p:cNvSpPr txBox="1"/>
          <p:nvPr/>
        </p:nvSpPr>
        <p:spPr>
          <a:xfrm>
            <a:off x="3642283" y="4215383"/>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Valid Tax Exemption Certificate from NBR</a:t>
            </a:r>
          </a:p>
        </p:txBody>
      </p:sp>
      <p:sp>
        <p:nvSpPr>
          <p:cNvPr id="24" name="Rectangle 23"/>
          <p:cNvSpPr/>
          <p:nvPr/>
        </p:nvSpPr>
        <p:spPr>
          <a:xfrm>
            <a:off x="786384" y="3904487"/>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095847" y="3959351"/>
            <a:ext cx="9525" cy="132588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c_3578ddd62b_t.png"/>
          <p:cNvPicPr>
            <a:picLocks noChangeAspect="1"/>
          </p:cNvPicPr>
          <p:nvPr/>
        </p:nvPicPr>
        <p:blipFill>
          <a:blip r:embed="rId2"/>
          <a:stretch>
            <a:fillRect/>
          </a:stretch>
        </p:blipFill>
        <p:spPr>
          <a:xfrm>
            <a:off x="6278727" y="3799331"/>
            <a:ext cx="219456" cy="219456"/>
          </a:xfrm>
          <a:prstGeom prst="rect">
            <a:avLst/>
          </a:prstGeom>
        </p:spPr>
      </p:pic>
      <p:sp>
        <p:nvSpPr>
          <p:cNvPr id="27" name="TextBox 26"/>
          <p:cNvSpPr txBox="1"/>
          <p:nvPr/>
        </p:nvSpPr>
        <p:spPr>
          <a:xfrm>
            <a:off x="6297015" y="4215383"/>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Valid Work Permit for each expatriate</a:t>
            </a:r>
          </a:p>
        </p:txBody>
      </p:sp>
      <p:sp>
        <p:nvSpPr>
          <p:cNvPr id="28" name="Rectangle 27"/>
          <p:cNvSpPr/>
          <p:nvPr/>
        </p:nvSpPr>
        <p:spPr>
          <a:xfrm>
            <a:off x="786384" y="3904487"/>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750579" y="3959351"/>
            <a:ext cx="9525" cy="132588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3578ddd62b_t.png"/>
          <p:cNvPicPr>
            <a:picLocks noChangeAspect="1"/>
          </p:cNvPicPr>
          <p:nvPr/>
        </p:nvPicPr>
        <p:blipFill>
          <a:blip r:embed="rId2"/>
          <a:stretch>
            <a:fillRect/>
          </a:stretch>
        </p:blipFill>
        <p:spPr>
          <a:xfrm>
            <a:off x="8933459" y="3799331"/>
            <a:ext cx="219456" cy="219456"/>
          </a:xfrm>
          <a:prstGeom prst="rect">
            <a:avLst/>
          </a:prstGeom>
        </p:spPr>
      </p:pic>
      <p:sp>
        <p:nvSpPr>
          <p:cNvPr id="31" name="TextBox 30"/>
          <p:cNvSpPr txBox="1"/>
          <p:nvPr/>
        </p:nvSpPr>
        <p:spPr>
          <a:xfrm>
            <a:off x="8951747" y="4215383"/>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Updated VAT registration, Trade Licence, and Tax Certificate</a:t>
            </a:r>
          </a:p>
        </p:txBody>
      </p:sp>
      <p:sp>
        <p:nvSpPr>
          <p:cNvPr id="32" name="TextBox 31"/>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33" name="TextBox 32"/>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Part 4   /   12   /   Documentation &amp; Roadmap</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3000" b="1">
                <a:solidFill>
                  <a:srgbClr val="0E2830"/>
                </a:solidFill>
                <a:latin typeface="Outfit"/>
              </a:rPr>
              <a:t>Documentation Required, Monthly Basis</a:t>
            </a:r>
          </a:p>
        </p:txBody>
      </p:sp>
      <p:sp>
        <p:nvSpPr>
          <p:cNvPr id="5" name="Rectangle 4"/>
          <p:cNvSpPr/>
          <p:nvPr/>
        </p:nvSpPr>
        <p:spPr>
          <a:xfrm>
            <a:off x="786384" y="2212848"/>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c_8e78978064_t.png"/>
          <p:cNvPicPr>
            <a:picLocks noChangeAspect="1"/>
          </p:cNvPicPr>
          <p:nvPr/>
        </p:nvPicPr>
        <p:blipFill>
          <a:blip r:embed="rId2"/>
          <a:stretch>
            <a:fillRect/>
          </a:stretch>
        </p:blipFill>
        <p:spPr>
          <a:xfrm>
            <a:off x="969264" y="2107691"/>
            <a:ext cx="219456" cy="219456"/>
          </a:xfrm>
          <a:prstGeom prst="rect">
            <a:avLst/>
          </a:prstGeom>
        </p:spPr>
      </p:pic>
      <p:sp>
        <p:nvSpPr>
          <p:cNvPr id="7" name="TextBox 6"/>
          <p:cNvSpPr txBox="1"/>
          <p:nvPr/>
        </p:nvSpPr>
        <p:spPr>
          <a:xfrm>
            <a:off x="987552" y="2523744"/>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Regulatory Annexures</a:t>
            </a:r>
          </a:p>
        </p:txBody>
      </p:sp>
      <p:sp>
        <p:nvSpPr>
          <p:cNvPr id="8" name="Oval 7"/>
          <p:cNvSpPr/>
          <p:nvPr/>
        </p:nvSpPr>
        <p:spPr>
          <a:xfrm>
            <a:off x="1005840" y="281177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33856" y="2761487"/>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Annexure A, App. 5/42, 5/43, 5/46, 5/47</a:t>
            </a:r>
          </a:p>
        </p:txBody>
      </p:sp>
      <p:sp>
        <p:nvSpPr>
          <p:cNvPr id="10" name="Oval 9"/>
          <p:cNvSpPr/>
          <p:nvPr/>
        </p:nvSpPr>
        <p:spPr>
          <a:xfrm>
            <a:off x="1005840" y="3108960"/>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33856" y="3058668"/>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Annexure FA(I)</a:t>
            </a:r>
          </a:p>
        </p:txBody>
      </p:sp>
      <p:sp>
        <p:nvSpPr>
          <p:cNvPr id="12" name="Oval 11"/>
          <p:cNvSpPr/>
          <p:nvPr/>
        </p:nvSpPr>
        <p:spPr>
          <a:xfrm>
            <a:off x="1005840" y="3282696"/>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33856" y="3232403"/>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Annexure 1</a:t>
            </a:r>
          </a:p>
        </p:txBody>
      </p:sp>
      <p:sp>
        <p:nvSpPr>
          <p:cNvPr id="14" name="Oval 13"/>
          <p:cNvSpPr/>
          <p:nvPr/>
        </p:nvSpPr>
        <p:spPr>
          <a:xfrm>
            <a:off x="1005840" y="3456432"/>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33856" y="3406139"/>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Letter of undertaking</a:t>
            </a:r>
          </a:p>
        </p:txBody>
      </p:sp>
      <p:sp>
        <p:nvSpPr>
          <p:cNvPr id="16" name="Rectangle 15"/>
          <p:cNvSpPr/>
          <p:nvPr/>
        </p:nvSpPr>
        <p:spPr>
          <a:xfrm>
            <a:off x="3441115" y="2267712"/>
            <a:ext cx="9525" cy="214884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_1fd2010cba_t.png"/>
          <p:cNvPicPr>
            <a:picLocks noChangeAspect="1"/>
          </p:cNvPicPr>
          <p:nvPr/>
        </p:nvPicPr>
        <p:blipFill>
          <a:blip r:embed="rId3"/>
          <a:stretch>
            <a:fillRect/>
          </a:stretch>
        </p:blipFill>
        <p:spPr>
          <a:xfrm>
            <a:off x="3623995" y="2107691"/>
            <a:ext cx="219456" cy="219456"/>
          </a:xfrm>
          <a:prstGeom prst="rect">
            <a:avLst/>
          </a:prstGeom>
        </p:spPr>
      </p:pic>
      <p:sp>
        <p:nvSpPr>
          <p:cNvPr id="18" name="TextBox 17"/>
          <p:cNvSpPr txBox="1"/>
          <p:nvPr/>
        </p:nvSpPr>
        <p:spPr>
          <a:xfrm>
            <a:off x="3642283" y="2523744"/>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Financial Records</a:t>
            </a:r>
          </a:p>
        </p:txBody>
      </p:sp>
      <p:sp>
        <p:nvSpPr>
          <p:cNvPr id="19" name="Oval 18"/>
          <p:cNvSpPr/>
          <p:nvPr/>
        </p:nvSpPr>
        <p:spPr>
          <a:xfrm>
            <a:off x="3660571" y="281177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88587" y="2761487"/>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Collection &amp; disbursement summary</a:t>
            </a:r>
          </a:p>
        </p:txBody>
      </p:sp>
      <p:sp>
        <p:nvSpPr>
          <p:cNvPr id="21" name="Oval 20"/>
          <p:cNvSpPr/>
          <p:nvPr/>
        </p:nvSpPr>
        <p:spPr>
          <a:xfrm>
            <a:off x="3660571" y="2985515"/>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88587" y="2935223"/>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Bank statement</a:t>
            </a:r>
          </a:p>
        </p:txBody>
      </p:sp>
      <p:sp>
        <p:nvSpPr>
          <p:cNvPr id="23" name="Oval 22"/>
          <p:cNvSpPr/>
          <p:nvPr/>
        </p:nvSpPr>
        <p:spPr>
          <a:xfrm>
            <a:off x="3660571" y="3159251"/>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88587" y="3108959"/>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AIT and refund statement</a:t>
            </a:r>
          </a:p>
        </p:txBody>
      </p:sp>
      <p:sp>
        <p:nvSpPr>
          <p:cNvPr id="25" name="Rectangle 24"/>
          <p:cNvSpPr/>
          <p:nvPr/>
        </p:nvSpPr>
        <p:spPr>
          <a:xfrm>
            <a:off x="6095847" y="2267712"/>
            <a:ext cx="9525" cy="214884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c_5e0da0bc76_t.png"/>
          <p:cNvPicPr>
            <a:picLocks noChangeAspect="1"/>
          </p:cNvPicPr>
          <p:nvPr/>
        </p:nvPicPr>
        <p:blipFill>
          <a:blip r:embed="rId4"/>
          <a:stretch>
            <a:fillRect/>
          </a:stretch>
        </p:blipFill>
        <p:spPr>
          <a:xfrm>
            <a:off x="6278727" y="2107691"/>
            <a:ext cx="219456" cy="219456"/>
          </a:xfrm>
          <a:prstGeom prst="rect">
            <a:avLst/>
          </a:prstGeom>
        </p:spPr>
      </p:pic>
      <p:sp>
        <p:nvSpPr>
          <p:cNvPr id="27" name="TextBox 26"/>
          <p:cNvSpPr txBox="1"/>
          <p:nvPr/>
        </p:nvSpPr>
        <p:spPr>
          <a:xfrm>
            <a:off x="6297015" y="2523744"/>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Sales Reports</a:t>
            </a:r>
          </a:p>
        </p:txBody>
      </p:sp>
      <p:sp>
        <p:nvSpPr>
          <p:cNvPr id="28" name="Oval 27"/>
          <p:cNvSpPr/>
          <p:nvPr/>
        </p:nvSpPr>
        <p:spPr>
          <a:xfrm>
            <a:off x="6315303" y="281177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3319" y="2761487"/>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BSP report</a:t>
            </a:r>
          </a:p>
        </p:txBody>
      </p:sp>
      <p:sp>
        <p:nvSpPr>
          <p:cNvPr id="30" name="Oval 29"/>
          <p:cNvSpPr/>
          <p:nvPr/>
        </p:nvSpPr>
        <p:spPr>
          <a:xfrm>
            <a:off x="6315303" y="2985515"/>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3319" y="2935223"/>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CASS report</a:t>
            </a:r>
          </a:p>
        </p:txBody>
      </p:sp>
      <p:sp>
        <p:nvSpPr>
          <p:cNvPr id="32" name="Oval 31"/>
          <p:cNvSpPr/>
          <p:nvPr/>
        </p:nvSpPr>
        <p:spPr>
          <a:xfrm>
            <a:off x="6315303" y="3159251"/>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3319" y="3108959"/>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Airline billing summary</a:t>
            </a:r>
          </a:p>
        </p:txBody>
      </p:sp>
      <p:sp>
        <p:nvSpPr>
          <p:cNvPr id="34" name="Rectangle 33"/>
          <p:cNvSpPr/>
          <p:nvPr/>
        </p:nvSpPr>
        <p:spPr>
          <a:xfrm>
            <a:off x="8750579" y="2267712"/>
            <a:ext cx="9525" cy="214884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c_dd72ada2db_m.png"/>
          <p:cNvPicPr>
            <a:picLocks noChangeAspect="1"/>
          </p:cNvPicPr>
          <p:nvPr/>
        </p:nvPicPr>
        <p:blipFill>
          <a:blip r:embed="rId5"/>
          <a:stretch>
            <a:fillRect/>
          </a:stretch>
        </p:blipFill>
        <p:spPr>
          <a:xfrm>
            <a:off x="8933459" y="2107691"/>
            <a:ext cx="219456" cy="219456"/>
          </a:xfrm>
          <a:prstGeom prst="rect">
            <a:avLst/>
          </a:prstGeom>
        </p:spPr>
      </p:pic>
      <p:sp>
        <p:nvSpPr>
          <p:cNvPr id="36" name="TextBox 35"/>
          <p:cNvSpPr txBox="1"/>
          <p:nvPr/>
        </p:nvSpPr>
        <p:spPr>
          <a:xfrm>
            <a:off x="8951747" y="2523744"/>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Tax &amp; Fee Payments</a:t>
            </a:r>
          </a:p>
        </p:txBody>
      </p:sp>
      <p:sp>
        <p:nvSpPr>
          <p:cNvPr id="37" name="Oval 36"/>
          <p:cNvSpPr/>
          <p:nvPr/>
        </p:nvSpPr>
        <p:spPr>
          <a:xfrm>
            <a:off x="8970035" y="2811779"/>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98051" y="2761487"/>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Challans for relevant VAT / tax</a:t>
            </a:r>
          </a:p>
        </p:txBody>
      </p:sp>
      <p:sp>
        <p:nvSpPr>
          <p:cNvPr id="39" name="Oval 38"/>
          <p:cNvSpPr/>
          <p:nvPr/>
        </p:nvSpPr>
        <p:spPr>
          <a:xfrm>
            <a:off x="8970035" y="2985515"/>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98051" y="2935223"/>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Payment summary, embarkation, airport &amp; passenger development fee</a:t>
            </a:r>
          </a:p>
        </p:txBody>
      </p:sp>
      <p:sp>
        <p:nvSpPr>
          <p:cNvPr id="41" name="TextBox 40"/>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42" name="TextBox 41"/>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86868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Part 4   /   13   /   Documentation &amp; Roadmap</a:t>
            </a:r>
          </a:p>
        </p:txBody>
      </p:sp>
      <p:sp>
        <p:nvSpPr>
          <p:cNvPr id="4" name="TextBox 3"/>
          <p:cNvSpPr txBox="1"/>
          <p:nvPr/>
        </p:nvSpPr>
        <p:spPr>
          <a:xfrm>
            <a:off x="786384" y="1225296"/>
            <a:ext cx="10618927" cy="1325880"/>
          </a:xfrm>
          <a:prstGeom prst="rect">
            <a:avLst/>
          </a:prstGeom>
          <a:noFill/>
        </p:spPr>
        <p:txBody>
          <a:bodyPr wrap="square" lIns="0" rIns="0" tIns="0" bIns="0">
            <a:spAutoFit/>
          </a:bodyPr>
          <a:lstStyle/>
          <a:p>
            <a:pPr>
              <a:lnSpc>
                <a:spcPct val="106000"/>
              </a:lnSpc>
            </a:pPr>
            <a:r>
              <a:rPr sz="3000" b="1">
                <a:solidFill>
                  <a:srgbClr val="0E2830"/>
                </a:solidFill>
                <a:latin typeface="Outfit"/>
              </a:rPr>
              <a:t>The Launch Roadmap</a:t>
            </a:r>
          </a:p>
        </p:txBody>
      </p:sp>
      <p:sp>
        <p:nvSpPr>
          <p:cNvPr id="5" name="Rectangle 4"/>
          <p:cNvSpPr/>
          <p:nvPr/>
        </p:nvSpPr>
        <p:spPr>
          <a:xfrm>
            <a:off x="786384" y="2212848"/>
            <a:ext cx="10618927" cy="1905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87552" y="2178100"/>
            <a:ext cx="68580" cy="68580"/>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2432304"/>
            <a:ext cx="223410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Phase 1</a:t>
            </a:r>
          </a:p>
        </p:txBody>
      </p:sp>
      <p:sp>
        <p:nvSpPr>
          <p:cNvPr id="8" name="TextBox 7"/>
          <p:cNvSpPr txBox="1"/>
          <p:nvPr/>
        </p:nvSpPr>
        <p:spPr>
          <a:xfrm>
            <a:off x="987552" y="2670048"/>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Legal &amp; Regulatory Foundation</a:t>
            </a:r>
          </a:p>
        </p:txBody>
      </p:sp>
      <p:sp>
        <p:nvSpPr>
          <p:cNvPr id="9" name="Oval 8"/>
          <p:cNvSpPr/>
          <p:nvPr/>
        </p:nvSpPr>
        <p:spPr>
          <a:xfrm>
            <a:off x="1005840" y="2958084"/>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 y="2907791"/>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Corporate registration (Trade Licence, TIN, BIN)</a:t>
            </a:r>
          </a:p>
        </p:txBody>
      </p:sp>
      <p:sp>
        <p:nvSpPr>
          <p:cNvPr id="11" name="Oval 10"/>
          <p:cNvSpPr/>
          <p:nvPr/>
        </p:nvSpPr>
        <p:spPr>
          <a:xfrm>
            <a:off x="1005840" y="3255264"/>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33856" y="3204972"/>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BIDA branch permission &amp; waiver clauses</a:t>
            </a:r>
          </a:p>
        </p:txBody>
      </p:sp>
      <p:sp>
        <p:nvSpPr>
          <p:cNvPr id="13" name="Oval 12"/>
          <p:cNvSpPr/>
          <p:nvPr/>
        </p:nvSpPr>
        <p:spPr>
          <a:xfrm>
            <a:off x="1005840" y="3552444"/>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33856" y="3502152"/>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CAAB designation under the ASA</a:t>
            </a:r>
          </a:p>
        </p:txBody>
      </p:sp>
      <p:sp>
        <p:nvSpPr>
          <p:cNvPr id="15" name="Rectangle 14"/>
          <p:cNvSpPr/>
          <p:nvPr/>
        </p:nvSpPr>
        <p:spPr>
          <a:xfrm>
            <a:off x="3441115" y="2267712"/>
            <a:ext cx="9525" cy="297180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42283" y="2178100"/>
            <a:ext cx="68580" cy="68580"/>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42283" y="2432304"/>
            <a:ext cx="223410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Phase 2</a:t>
            </a:r>
          </a:p>
        </p:txBody>
      </p:sp>
      <p:sp>
        <p:nvSpPr>
          <p:cNvPr id="18" name="TextBox 17"/>
          <p:cNvSpPr txBox="1"/>
          <p:nvPr/>
        </p:nvSpPr>
        <p:spPr>
          <a:xfrm>
            <a:off x="3642283" y="2670048"/>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Banking &amp; Tax Set-Up</a:t>
            </a:r>
          </a:p>
        </p:txBody>
      </p:sp>
      <p:sp>
        <p:nvSpPr>
          <p:cNvPr id="19" name="Oval 18"/>
          <p:cNvSpPr/>
          <p:nvPr/>
        </p:nvSpPr>
        <p:spPr>
          <a:xfrm>
            <a:off x="3660571" y="2958084"/>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788587" y="2907791"/>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Dedicated AD-bank account for Vietnam Airlines</a:t>
            </a:r>
          </a:p>
        </p:txBody>
      </p:sp>
      <p:sp>
        <p:nvSpPr>
          <p:cNvPr id="21" name="Oval 20"/>
          <p:cNvSpPr/>
          <p:nvPr/>
        </p:nvSpPr>
        <p:spPr>
          <a:xfrm>
            <a:off x="3660571" y="3255264"/>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88587" y="3204972"/>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NBR double-taxation &amp; tax exemption certificates</a:t>
            </a:r>
          </a:p>
        </p:txBody>
      </p:sp>
      <p:sp>
        <p:nvSpPr>
          <p:cNvPr id="23" name="Oval 22"/>
          <p:cNvSpPr/>
          <p:nvPr/>
        </p:nvSpPr>
        <p:spPr>
          <a:xfrm>
            <a:off x="3660571" y="3552444"/>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88587" y="3502152"/>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Bangladesh Bank GSA notification</a:t>
            </a:r>
          </a:p>
        </p:txBody>
      </p:sp>
      <p:sp>
        <p:nvSpPr>
          <p:cNvPr id="25" name="Rectangle 24"/>
          <p:cNvSpPr/>
          <p:nvPr/>
        </p:nvSpPr>
        <p:spPr>
          <a:xfrm>
            <a:off x="6095847" y="2267712"/>
            <a:ext cx="9525" cy="297180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97015" y="2178100"/>
            <a:ext cx="68580" cy="68580"/>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97015" y="2432304"/>
            <a:ext cx="2234107" cy="457200"/>
          </a:xfrm>
          <a:prstGeom prst="rect">
            <a:avLst/>
          </a:prstGeom>
          <a:noFill/>
        </p:spPr>
        <p:txBody>
          <a:bodyPr wrap="square" lIns="0" rIns="0" tIns="0" bIns="0">
            <a:spAutoFit/>
          </a:bodyPr>
          <a:lstStyle/>
          <a:p>
            <a:pPr>
              <a:lnSpc>
                <a:spcPct val="130000"/>
              </a:lnSpc>
              <a:spcAft>
                <a:spcPts val="0"/>
              </a:spcAft>
            </a:pPr>
            <a:r>
              <a:rPr sz="750" b="0" i="0" cap="all" spc="150">
                <a:solidFill>
                  <a:srgbClr val="0C7A80"/>
                </a:solidFill>
                <a:latin typeface="IBM Plex Mono"/>
              </a:rPr>
              <a:t>Phase 3</a:t>
            </a:r>
          </a:p>
        </p:txBody>
      </p:sp>
      <p:sp>
        <p:nvSpPr>
          <p:cNvPr id="28" name="TextBox 27"/>
          <p:cNvSpPr txBox="1"/>
          <p:nvPr/>
        </p:nvSpPr>
        <p:spPr>
          <a:xfrm>
            <a:off x="6297015" y="2670048"/>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Operational Launch</a:t>
            </a:r>
          </a:p>
        </p:txBody>
      </p:sp>
      <p:sp>
        <p:nvSpPr>
          <p:cNvPr id="29" name="Oval 28"/>
          <p:cNvSpPr/>
          <p:nvPr/>
        </p:nvSpPr>
        <p:spPr>
          <a:xfrm>
            <a:off x="6315303" y="2958084"/>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3319" y="2907791"/>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GSA appointment filed with CAAB</a:t>
            </a:r>
          </a:p>
        </p:txBody>
      </p:sp>
      <p:sp>
        <p:nvSpPr>
          <p:cNvPr id="31" name="Oval 30"/>
          <p:cNvSpPr/>
          <p:nvPr/>
        </p:nvSpPr>
        <p:spPr>
          <a:xfrm>
            <a:off x="6315303" y="3131820"/>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43319" y="3081527"/>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Fare, cargo tariff &amp; schedule approval</a:t>
            </a:r>
          </a:p>
        </p:txBody>
      </p:sp>
      <p:sp>
        <p:nvSpPr>
          <p:cNvPr id="33" name="Oval 32"/>
          <p:cNvSpPr/>
          <p:nvPr/>
        </p:nvSpPr>
        <p:spPr>
          <a:xfrm>
            <a:off x="6315303" y="3429000"/>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3319" y="3378708"/>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Expatriate &amp; local staffing (1:5 ratio)</a:t>
            </a:r>
          </a:p>
        </p:txBody>
      </p:sp>
      <p:sp>
        <p:nvSpPr>
          <p:cNvPr id="35" name="Rectangle 34"/>
          <p:cNvSpPr/>
          <p:nvPr/>
        </p:nvSpPr>
        <p:spPr>
          <a:xfrm>
            <a:off x="8750579" y="2267712"/>
            <a:ext cx="9525" cy="2971800"/>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951747" y="2178100"/>
            <a:ext cx="68580" cy="68580"/>
          </a:xfrm>
          <a:prstGeom prst="ellipse">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51747" y="2432304"/>
            <a:ext cx="2234107" cy="457200"/>
          </a:xfrm>
          <a:prstGeom prst="rect">
            <a:avLst/>
          </a:prstGeom>
          <a:noFill/>
        </p:spPr>
        <p:txBody>
          <a:bodyPr wrap="square" lIns="0" rIns="0" tIns="0" bIns="0">
            <a:spAutoFit/>
          </a:bodyPr>
          <a:lstStyle/>
          <a:p>
            <a:pPr>
              <a:lnSpc>
                <a:spcPct val="130000"/>
              </a:lnSpc>
              <a:spcAft>
                <a:spcPts val="0"/>
              </a:spcAft>
            </a:pPr>
            <a:r>
              <a:rPr sz="750" b="0" i="0" cap="all" spc="150">
                <a:solidFill>
                  <a:srgbClr val="C10073"/>
                </a:solidFill>
                <a:latin typeface="IBM Plex Mono"/>
              </a:rPr>
              <a:t>Phase 4</a:t>
            </a:r>
          </a:p>
        </p:txBody>
      </p:sp>
      <p:sp>
        <p:nvSpPr>
          <p:cNvPr id="38" name="TextBox 37"/>
          <p:cNvSpPr txBox="1"/>
          <p:nvPr/>
        </p:nvSpPr>
        <p:spPr>
          <a:xfrm>
            <a:off x="8951747" y="2670048"/>
            <a:ext cx="2234107" cy="566928"/>
          </a:xfrm>
          <a:prstGeom prst="rect">
            <a:avLst/>
          </a:prstGeom>
          <a:noFill/>
        </p:spPr>
        <p:txBody>
          <a:bodyPr wrap="square" lIns="0" rIns="0" tIns="0" bIns="0">
            <a:spAutoFit/>
          </a:bodyPr>
          <a:lstStyle/>
          <a:p>
            <a:pPr>
              <a:lnSpc>
                <a:spcPct val="118000"/>
              </a:lnSpc>
              <a:spcAft>
                <a:spcPts val="0"/>
              </a:spcAft>
            </a:pPr>
            <a:r>
              <a:rPr sz="1150" b="1" i="0">
                <a:solidFill>
                  <a:srgbClr val="0E2830"/>
                </a:solidFill>
                <a:latin typeface="Outfit"/>
              </a:rPr>
              <a:t>Ongoing Monthly Cycle</a:t>
            </a:r>
          </a:p>
        </p:txBody>
      </p:sp>
      <p:sp>
        <p:nvSpPr>
          <p:cNvPr id="39" name="Oval 38"/>
          <p:cNvSpPr/>
          <p:nvPr/>
        </p:nvSpPr>
        <p:spPr>
          <a:xfrm>
            <a:off x="8970035" y="2958084"/>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98051" y="2907791"/>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Remittance process flow &amp; PFA filing</a:t>
            </a:r>
          </a:p>
        </p:txBody>
      </p:sp>
      <p:sp>
        <p:nvSpPr>
          <p:cNvPr id="41" name="Oval 40"/>
          <p:cNvSpPr/>
          <p:nvPr/>
        </p:nvSpPr>
        <p:spPr>
          <a:xfrm>
            <a:off x="8970035" y="3131820"/>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98051" y="3081527"/>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Annual &amp; monthly documentation</a:t>
            </a:r>
          </a:p>
        </p:txBody>
      </p:sp>
      <p:sp>
        <p:nvSpPr>
          <p:cNvPr id="43" name="Oval 42"/>
          <p:cNvSpPr/>
          <p:nvPr/>
        </p:nvSpPr>
        <p:spPr>
          <a:xfrm>
            <a:off x="8970035" y="3305556"/>
            <a:ext cx="41148" cy="41148"/>
          </a:xfrm>
          <a:prstGeom prst="ellipse">
            <a:avLst/>
          </a:prstGeom>
          <a:solidFill>
            <a:srgbClr val="39C0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98051" y="3255263"/>
            <a:ext cx="2087803" cy="548640"/>
          </a:xfrm>
          <a:prstGeom prst="rect">
            <a:avLst/>
          </a:prstGeom>
          <a:noFill/>
        </p:spPr>
        <p:txBody>
          <a:bodyPr wrap="square" lIns="0" rIns="0" tIns="0" bIns="0">
            <a:spAutoFit/>
          </a:bodyPr>
          <a:lstStyle/>
          <a:p>
            <a:pPr>
              <a:lnSpc>
                <a:spcPct val="142000"/>
              </a:lnSpc>
              <a:spcAft>
                <a:spcPts val="0"/>
              </a:spcAft>
            </a:pPr>
            <a:r>
              <a:rPr sz="860" b="0" i="0">
                <a:solidFill>
                  <a:srgbClr val="52737D"/>
                </a:solidFill>
                <a:latin typeface="Plus Jakarta Sans"/>
              </a:rPr>
              <a:t>Financial Statements &amp; GSA Manpower, still to be scoped</a:t>
            </a:r>
          </a:p>
        </p:txBody>
      </p:sp>
      <p:sp>
        <p:nvSpPr>
          <p:cNvPr id="45" name="TextBox 44"/>
          <p:cNvSpPr txBox="1"/>
          <p:nvPr/>
        </p:nvSpPr>
        <p:spPr>
          <a:xfrm>
            <a:off x="1463040" y="6400800"/>
            <a:ext cx="7315200" cy="274320"/>
          </a:xfrm>
          <a:prstGeom prst="rect">
            <a:avLst/>
          </a:prstGeom>
          <a:noFill/>
        </p:spPr>
        <p:txBody>
          <a:bodyPr wrap="square" lIns="0" rIns="0" tIns="0" bIns="0">
            <a:spAutoFit/>
          </a:bodyPr>
          <a:lstStyle/>
          <a:p>
            <a:pPr>
              <a:lnSpc>
                <a:spcPct val="140000"/>
              </a:lnSpc>
              <a:spcAft>
                <a:spcPts val="0"/>
              </a:spcAft>
            </a:pPr>
            <a:r>
              <a:rPr sz="700" b="0" i="0" cap="all" spc="140">
                <a:solidFill>
                  <a:srgbClr val="52737D"/>
                </a:solidFill>
                <a:latin typeface="IBM Plex Mono"/>
              </a:rPr>
              <a:t>FLYPORT LTD.   |   VIETNAM AIRLINES BANGLADESH . LAUNCH PLAN</a:t>
            </a:r>
          </a:p>
        </p:txBody>
      </p:sp>
      <p:sp>
        <p:nvSpPr>
          <p:cNvPr id="46" name="TextBox 45"/>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DFEFE"/>
              </a:gs>
              <a:gs pos="38000">
                <a:srgbClr val="EAF6F7"/>
              </a:gs>
              <a:gs pos="72000">
                <a:srgbClr val="FCF0F6"/>
              </a:gs>
              <a:gs pos="100000">
                <a:srgbClr val="FDFEFE"/>
              </a:gs>
            </a:gsLst>
            <a:lin ang="468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1508760"/>
            <a:ext cx="10618927" cy="274320"/>
          </a:xfrm>
          <a:prstGeom prst="rect">
            <a:avLst/>
          </a:prstGeom>
          <a:noFill/>
        </p:spPr>
        <p:txBody>
          <a:bodyPr wrap="square" lIns="0" rIns="0" tIns="0" bIns="0">
            <a:spAutoFit/>
          </a:bodyPr>
          <a:lstStyle/>
          <a:p>
            <a:pPr>
              <a:lnSpc>
                <a:spcPct val="140000"/>
              </a:lnSpc>
              <a:spcAft>
                <a:spcPts val="0"/>
              </a:spcAft>
            </a:pPr>
            <a:r>
              <a:rPr sz="950" b="0" i="0" cap="all" spc="200">
                <a:solidFill>
                  <a:srgbClr val="0C7A80"/>
                </a:solidFill>
                <a:latin typeface="IBM Plex Mono"/>
              </a:rPr>
              <a:t>Flyport Ltd.   /   General Sales Agent</a:t>
            </a:r>
          </a:p>
        </p:txBody>
      </p:sp>
      <p:sp>
        <p:nvSpPr>
          <p:cNvPr id="4" name="TextBox 3"/>
          <p:cNvSpPr txBox="1"/>
          <p:nvPr/>
        </p:nvSpPr>
        <p:spPr>
          <a:xfrm>
            <a:off x="786384" y="1920240"/>
            <a:ext cx="9144000" cy="1325880"/>
          </a:xfrm>
          <a:prstGeom prst="rect">
            <a:avLst/>
          </a:prstGeom>
          <a:noFill/>
        </p:spPr>
        <p:txBody>
          <a:bodyPr wrap="square" lIns="0" rIns="0" tIns="0" bIns="0">
            <a:spAutoFit/>
          </a:bodyPr>
          <a:lstStyle/>
          <a:p>
            <a:pPr>
              <a:lnSpc>
                <a:spcPct val="106000"/>
              </a:lnSpc>
            </a:pPr>
            <a:r>
              <a:rPr sz="4400" b="1">
                <a:solidFill>
                  <a:srgbClr val="0E2830"/>
                </a:solidFill>
                <a:latin typeface="Outfit"/>
              </a:rPr>
              <a:t>Ready for </a:t>
            </a:r>
            <a:r>
              <a:rPr sz="4400" b="1">
                <a:solidFill>
                  <a:srgbClr val="0C7A80"/>
                </a:solidFill>
                <a:latin typeface="Outfit"/>
              </a:rPr>
              <a:t>launch</a:t>
            </a:r>
            <a:r>
              <a:rPr sz="4400" b="1">
                <a:solidFill>
                  <a:srgbClr val="EC008C"/>
                </a:solidFill>
                <a:latin typeface="Outfit"/>
              </a:rPr>
              <a:t>.</a:t>
            </a:r>
          </a:p>
        </p:txBody>
      </p:sp>
      <p:sp>
        <p:nvSpPr>
          <p:cNvPr id="5" name="TextBox 4"/>
          <p:cNvSpPr txBox="1"/>
          <p:nvPr/>
        </p:nvSpPr>
        <p:spPr>
          <a:xfrm>
            <a:off x="786384" y="3429000"/>
            <a:ext cx="7498079" cy="1005840"/>
          </a:xfrm>
          <a:prstGeom prst="rect">
            <a:avLst/>
          </a:prstGeom>
          <a:noFill/>
        </p:spPr>
        <p:txBody>
          <a:bodyPr wrap="square" lIns="0" rIns="0" tIns="0" bIns="0">
            <a:spAutoFit/>
          </a:bodyPr>
          <a:lstStyle/>
          <a:p>
            <a:pPr>
              <a:lnSpc>
                <a:spcPct val="150000"/>
              </a:lnSpc>
              <a:spcAft>
                <a:spcPts val="0"/>
              </a:spcAft>
            </a:pPr>
            <a:r>
              <a:rPr sz="1150" b="0" i="0">
                <a:solidFill>
                  <a:srgbClr val="33555F"/>
                </a:solidFill>
                <a:latin typeface="Plus Jakarta Sans"/>
              </a:rPr>
              <a:t>This pack brings our launch checklist, four Bangladesh Bank circulars, and our AD-bank remittance procedure into one plan, so Vietnam Airlines can launch in Bangladesh with every approval and every monthly filing accounted for.</a:t>
            </a:r>
          </a:p>
        </p:txBody>
      </p:sp>
      <p:sp>
        <p:nvSpPr>
          <p:cNvPr id="6" name="Rectangle 5"/>
          <p:cNvSpPr/>
          <p:nvPr/>
        </p:nvSpPr>
        <p:spPr>
          <a:xfrm>
            <a:off x="786384" y="4709160"/>
            <a:ext cx="7498079"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4882896"/>
            <a:ext cx="3017520" cy="457200"/>
          </a:xfrm>
          <a:prstGeom prst="rect">
            <a:avLst/>
          </a:prstGeom>
          <a:noFill/>
        </p:spPr>
        <p:txBody>
          <a:bodyPr wrap="square" lIns="0" rIns="0" tIns="0" bIns="0">
            <a:spAutoFit/>
          </a:bodyPr>
          <a:lstStyle/>
          <a:p>
            <a:pPr>
              <a:lnSpc>
                <a:spcPct val="140000"/>
              </a:lnSpc>
              <a:spcAft>
                <a:spcPts val="300"/>
              </a:spcAft>
            </a:pPr>
            <a:r>
              <a:rPr sz="750" b="0" i="0" cap="all" spc="160">
                <a:solidFill>
                  <a:srgbClr val="52737D"/>
                </a:solidFill>
                <a:latin typeface="IBM Plex Mono"/>
              </a:rPr>
              <a:t>Prepared by</a:t>
            </a:r>
          </a:p>
          <a:p>
            <a:pPr>
              <a:lnSpc>
                <a:spcPct val="140000"/>
              </a:lnSpc>
              <a:spcAft>
                <a:spcPts val="0"/>
              </a:spcAft>
            </a:pPr>
            <a:r>
              <a:rPr sz="950" b="1" i="0">
                <a:solidFill>
                  <a:srgbClr val="0E2830"/>
                </a:solidFill>
                <a:latin typeface="Plus Jakarta Sans"/>
              </a:rPr>
              <a:t>Finance &amp; Operations Team, Flyport Ltd.</a:t>
            </a:r>
          </a:p>
        </p:txBody>
      </p:sp>
      <p:sp>
        <p:nvSpPr>
          <p:cNvPr id="8" name="TextBox 7"/>
          <p:cNvSpPr txBox="1"/>
          <p:nvPr/>
        </p:nvSpPr>
        <p:spPr>
          <a:xfrm>
            <a:off x="3849624" y="4882896"/>
            <a:ext cx="3017520" cy="457200"/>
          </a:xfrm>
          <a:prstGeom prst="rect">
            <a:avLst/>
          </a:prstGeom>
          <a:noFill/>
        </p:spPr>
        <p:txBody>
          <a:bodyPr wrap="square" lIns="0" rIns="0" tIns="0" bIns="0">
            <a:spAutoFit/>
          </a:bodyPr>
          <a:lstStyle/>
          <a:p>
            <a:pPr>
              <a:lnSpc>
                <a:spcPct val="140000"/>
              </a:lnSpc>
              <a:spcAft>
                <a:spcPts val="300"/>
              </a:spcAft>
            </a:pPr>
            <a:r>
              <a:rPr sz="750" b="0" i="0" cap="all" spc="160">
                <a:solidFill>
                  <a:srgbClr val="52737D"/>
                </a:solidFill>
                <a:latin typeface="IBM Plex Mono"/>
              </a:rPr>
              <a:t>Email</a:t>
            </a:r>
          </a:p>
          <a:p>
            <a:pPr>
              <a:lnSpc>
                <a:spcPct val="140000"/>
              </a:lnSpc>
              <a:spcAft>
                <a:spcPts val="0"/>
              </a:spcAft>
            </a:pPr>
            <a:r>
              <a:rPr sz="950" b="1" i="0">
                <a:solidFill>
                  <a:srgbClr val="0E2830"/>
                </a:solidFill>
                <a:latin typeface="Plus Jakarta Sans"/>
              </a:rPr>
              <a:t>info@flyport.net</a:t>
            </a:r>
          </a:p>
        </p:txBody>
      </p:sp>
      <p:sp>
        <p:nvSpPr>
          <p:cNvPr id="9" name="TextBox 8"/>
          <p:cNvSpPr txBox="1"/>
          <p:nvPr/>
        </p:nvSpPr>
        <p:spPr>
          <a:xfrm>
            <a:off x="6912864" y="4882896"/>
            <a:ext cx="3017520" cy="457200"/>
          </a:xfrm>
          <a:prstGeom prst="rect">
            <a:avLst/>
          </a:prstGeom>
          <a:noFill/>
        </p:spPr>
        <p:txBody>
          <a:bodyPr wrap="square" lIns="0" rIns="0" tIns="0" bIns="0">
            <a:spAutoFit/>
          </a:bodyPr>
          <a:lstStyle/>
          <a:p>
            <a:pPr>
              <a:lnSpc>
                <a:spcPct val="140000"/>
              </a:lnSpc>
              <a:spcAft>
                <a:spcPts val="300"/>
              </a:spcAft>
            </a:pPr>
            <a:r>
              <a:rPr sz="750" b="0" i="0" cap="all" spc="160">
                <a:solidFill>
                  <a:srgbClr val="52737D"/>
                </a:solidFill>
                <a:latin typeface="IBM Plex Mono"/>
              </a:rPr>
              <a:t>Telephone</a:t>
            </a:r>
          </a:p>
          <a:p>
            <a:pPr>
              <a:lnSpc>
                <a:spcPct val="140000"/>
              </a:lnSpc>
              <a:spcAft>
                <a:spcPts val="0"/>
              </a:spcAft>
            </a:pPr>
            <a:r>
              <a:rPr sz="950" b="1" i="0">
                <a:solidFill>
                  <a:srgbClr val="0E2830"/>
                </a:solidFill>
                <a:latin typeface="Plus Jakarta Sans"/>
              </a:rPr>
              <a:t>+880 1882 666555</a:t>
            </a:r>
          </a:p>
        </p:txBody>
      </p:sp>
      <p:sp>
        <p:nvSpPr>
          <p:cNvPr id="10" name="Rectangle 9"/>
          <p:cNvSpPr/>
          <p:nvPr/>
        </p:nvSpPr>
        <p:spPr>
          <a:xfrm>
            <a:off x="786384" y="5596128"/>
            <a:ext cx="7498079" cy="9525"/>
          </a:xfrm>
          <a:prstGeom prst="rect">
            <a:avLst/>
          </a:prstGeom>
          <a:solidFill>
            <a:srgbClr val="DC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g_flyport.png"/>
          <p:cNvPicPr>
            <a:picLocks noChangeAspect="1"/>
          </p:cNvPicPr>
          <p:nvPr/>
        </p:nvPicPr>
        <p:blipFill>
          <a:blip r:embed="rId2"/>
          <a:stretch>
            <a:fillRect/>
          </a:stretch>
        </p:blipFill>
        <p:spPr>
          <a:xfrm>
            <a:off x="786384" y="5760720"/>
            <a:ext cx="1068713" cy="302117"/>
          </a:xfrm>
          <a:prstGeom prst="rect">
            <a:avLst/>
          </a:prstGeom>
        </p:spPr>
      </p:pic>
      <p:sp>
        <p:nvSpPr>
          <p:cNvPr id="12" name="TextBox 11"/>
          <p:cNvSpPr txBox="1"/>
          <p:nvPr/>
        </p:nvSpPr>
        <p:spPr>
          <a:xfrm>
            <a:off x="2184280" y="5847770"/>
            <a:ext cx="914400" cy="274320"/>
          </a:xfrm>
          <a:prstGeom prst="rect">
            <a:avLst/>
          </a:prstGeom>
          <a:noFill/>
        </p:spPr>
        <p:txBody>
          <a:bodyPr wrap="square" lIns="0" rIns="0" tIns="0" bIns="0">
            <a:spAutoFit/>
          </a:bodyPr>
          <a:lstStyle/>
          <a:p>
            <a:pPr>
              <a:lnSpc>
                <a:spcPct val="140000"/>
              </a:lnSpc>
              <a:spcAft>
                <a:spcPts val="0"/>
              </a:spcAft>
            </a:pPr>
            <a:r>
              <a:rPr sz="800" b="0" i="0" cap="all" spc="180">
                <a:solidFill>
                  <a:srgbClr val="52737D"/>
                </a:solidFill>
                <a:latin typeface="IBM Plex Mono"/>
              </a:rPr>
              <a:t>Backed by</a:t>
            </a:r>
          </a:p>
        </p:txBody>
      </p:sp>
      <p:pic>
        <p:nvPicPr>
          <p:cNvPr id="13" name="Picture 12" descr="lg_adn.png"/>
          <p:cNvPicPr>
            <a:picLocks noChangeAspect="1"/>
          </p:cNvPicPr>
          <p:nvPr/>
        </p:nvPicPr>
        <p:blipFill>
          <a:blip r:embed="rId3"/>
          <a:stretch>
            <a:fillRect/>
          </a:stretch>
        </p:blipFill>
        <p:spPr>
          <a:xfrm>
            <a:off x="3171833" y="5786323"/>
            <a:ext cx="629222" cy="240670"/>
          </a:xfrm>
          <a:prstGeom prst="rect">
            <a:avLst/>
          </a:prstGeom>
        </p:spPr>
      </p:pic>
      <p:pic>
        <p:nvPicPr>
          <p:cNvPr id="14" name="Picture 13" descr="lg_partex.png"/>
          <p:cNvPicPr>
            <a:picLocks noChangeAspect="1"/>
          </p:cNvPicPr>
          <p:nvPr/>
        </p:nvPicPr>
        <p:blipFill>
          <a:blip r:embed="rId4"/>
          <a:stretch>
            <a:fillRect/>
          </a:stretch>
        </p:blipFill>
        <p:spPr>
          <a:xfrm>
            <a:off x="4093662" y="5770961"/>
            <a:ext cx="610928" cy="271393"/>
          </a:xfrm>
          <a:prstGeom prst="rect">
            <a:avLst/>
          </a:prstGeom>
        </p:spPr>
      </p:pic>
      <p:sp>
        <p:nvSpPr>
          <p:cNvPr id="15" name="TextBox 14"/>
          <p:cNvSpPr txBox="1"/>
          <p:nvPr/>
        </p:nvSpPr>
        <p:spPr>
          <a:xfrm>
            <a:off x="1463040" y="6419088"/>
            <a:ext cx="9887407" cy="274320"/>
          </a:xfrm>
          <a:prstGeom prst="rect">
            <a:avLst/>
          </a:prstGeom>
          <a:noFill/>
        </p:spPr>
        <p:txBody>
          <a:bodyPr wrap="square" lIns="0" rIns="0" tIns="0" bIns="0">
            <a:spAutoFit/>
          </a:bodyPr>
          <a:lstStyle/>
          <a:p>
            <a:pPr>
              <a:lnSpc>
                <a:spcPct val="140000"/>
              </a:lnSpc>
              <a:spcAft>
                <a:spcPts val="0"/>
              </a:spcAft>
            </a:pPr>
            <a:r>
              <a:rPr sz="750" b="0" i="0" cap="all" spc="160">
                <a:solidFill>
                  <a:srgbClr val="52737D"/>
                </a:solidFill>
                <a:latin typeface="IBM Plex Mono"/>
              </a:rPr>
              <a:t>Prepared for internal briefing   .   August 2026</a:t>
            </a:r>
          </a:p>
        </p:txBody>
      </p:sp>
      <p:sp>
        <p:nvSpPr>
          <p:cNvPr id="16" name="TextBox 15"/>
          <p:cNvSpPr txBox="1"/>
          <p:nvPr/>
        </p:nvSpPr>
        <p:spPr>
          <a:xfrm>
            <a:off x="256032" y="6400800"/>
            <a:ext cx="1097280" cy="274320"/>
          </a:xfrm>
          <a:prstGeom prst="rect">
            <a:avLst/>
          </a:prstGeom>
          <a:noFill/>
        </p:spPr>
        <p:txBody>
          <a:bodyPr wrap="square" lIns="0" rIns="0" tIns="0" bIns="0">
            <a:spAutoFit/>
          </a:bodyPr>
          <a:lstStyle/>
          <a:p>
            <a:pPr>
              <a:lnSpc>
                <a:spcPct val="140000"/>
              </a:lnSpc>
              <a:spcAft>
                <a:spcPts val="0"/>
              </a:spcAft>
            </a:pPr>
            <a:r>
              <a:rPr sz="900" b="0" i="0">
                <a:solidFill>
                  <a:srgbClr val="52737D"/>
                </a:solidFill>
                <a:latin typeface="IBM Plex Mono"/>
              </a:rPr>
              <a:t>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Vietnam Airlines Bangladesh, Operations Launch Plan</dc:title>
  <dc:subject/>
  <dc:creator>Miraz Mullick</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