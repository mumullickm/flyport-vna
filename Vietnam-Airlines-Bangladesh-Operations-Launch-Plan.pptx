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ptx_hero.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355080" y="1188720"/>
            <a:ext cx="5029200" cy="274320"/>
          </a:xfrm>
          <a:prstGeom prst="rect">
            <a:avLst/>
          </a:prstGeom>
          <a:noFill/>
        </p:spPr>
        <p:txBody>
          <a:bodyPr wrap="square" lIns="0" rIns="0" tIns="0" bIns="0">
            <a:spAutoFit/>
          </a:bodyPr>
          <a:lstStyle/>
          <a:p>
            <a:pPr>
              <a:lnSpc>
                <a:spcPct val="135000"/>
              </a:lnSpc>
              <a:spcAft>
                <a:spcPts val="0"/>
              </a:spcAft>
            </a:pPr>
            <a:r>
              <a:rPr sz="850" b="0" cap="all" spc="200">
                <a:solidFill>
                  <a:srgbClr val="0C7A80"/>
                </a:solidFill>
                <a:latin typeface="IBM Plex Mono"/>
              </a:rPr>
              <a:t>Flyport Ltd.  .  General Sales Agent</a:t>
            </a:r>
          </a:p>
        </p:txBody>
      </p:sp>
      <p:sp>
        <p:nvSpPr>
          <p:cNvPr id="5" name="TextBox 4"/>
          <p:cNvSpPr txBox="1"/>
          <p:nvPr/>
        </p:nvSpPr>
        <p:spPr>
          <a:xfrm>
            <a:off x="6355080" y="1554480"/>
            <a:ext cx="5029200" cy="2194560"/>
          </a:xfrm>
          <a:prstGeom prst="rect">
            <a:avLst/>
          </a:prstGeom>
          <a:noFill/>
        </p:spPr>
        <p:txBody>
          <a:bodyPr wrap="square" lIns="0" rIns="0" tIns="0" bIns="0">
            <a:spAutoFit/>
          </a:bodyPr>
          <a:lstStyle/>
          <a:p>
            <a:pPr>
              <a:lnSpc>
                <a:spcPct val="100000"/>
              </a:lnSpc>
              <a:spcAft>
                <a:spcPts val="0"/>
              </a:spcAft>
            </a:pPr>
            <a:r>
              <a:rPr sz="3300" b="1">
                <a:solidFill>
                  <a:srgbClr val="0E2830"/>
                </a:solidFill>
                <a:latin typeface="Outfit"/>
              </a:rPr>
              <a:t>Vietnam Airlines Bangladesh Operations Launch</a:t>
            </a:r>
          </a:p>
        </p:txBody>
      </p:sp>
      <p:sp>
        <p:nvSpPr>
          <p:cNvPr id="6" name="TextBox 5"/>
          <p:cNvSpPr txBox="1"/>
          <p:nvPr/>
        </p:nvSpPr>
        <p:spPr>
          <a:xfrm>
            <a:off x="6355080" y="3749039"/>
            <a:ext cx="4937760" cy="1051560"/>
          </a:xfrm>
          <a:prstGeom prst="rect">
            <a:avLst/>
          </a:prstGeom>
          <a:noFill/>
        </p:spPr>
        <p:txBody>
          <a:bodyPr wrap="square" lIns="0" rIns="0" tIns="0" bIns="0">
            <a:spAutoFit/>
          </a:bodyPr>
          <a:lstStyle/>
          <a:p>
            <a:pPr>
              <a:lnSpc>
                <a:spcPct val="142000"/>
              </a:lnSpc>
              <a:spcAft>
                <a:spcPts val="0"/>
              </a:spcAft>
            </a:pPr>
            <a:r>
              <a:rPr sz="1050" b="0">
                <a:solidFill>
                  <a:srgbClr val="33555F"/>
                </a:solidFill>
                <a:latin typeface="Plus Jakarta Sans"/>
              </a:rPr>
              <a:t>Launch Requirements and Remittance Operations Plan. Consolidating BIDA, CAAB, NBR, the Bangladesh Bank circulars and our AD-bank remittance procedure into one launch playbook.</a:t>
            </a:r>
          </a:p>
        </p:txBody>
      </p:sp>
      <p:sp>
        <p:nvSpPr>
          <p:cNvPr id="7" name="Rounded Rectangle 6"/>
          <p:cNvSpPr/>
          <p:nvPr/>
        </p:nvSpPr>
        <p:spPr>
          <a:xfrm>
            <a:off x="6355080" y="4663440"/>
            <a:ext cx="530352" cy="292608"/>
          </a:xfrm>
          <a:prstGeom prst="roundRect">
            <a:avLst>
              <a:gd name="adj" fmla="val 50000"/>
            </a:avLst>
          </a:prstGeom>
          <a:solidFill>
            <a:srgbClr val="FBF1D6"/>
          </a:solidFill>
          <a:ln w="9525">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35000"/>
              </a:lnSpc>
              <a:spcAft>
                <a:spcPts val="0"/>
              </a:spcAft>
            </a:pPr>
            <a:r>
              <a:rPr sz="800" b="0" cap="all" spc="160">
                <a:solidFill>
                  <a:srgbClr val="8A6608"/>
                </a:solidFill>
                <a:latin typeface="IBM Plex Mono"/>
              </a:rPr>
              <a:t>BIDA</a:t>
            </a:r>
          </a:p>
        </p:txBody>
      </p:sp>
      <p:sp>
        <p:nvSpPr>
          <p:cNvPr id="8" name="Rounded Rectangle 7"/>
          <p:cNvSpPr/>
          <p:nvPr/>
        </p:nvSpPr>
        <p:spPr>
          <a:xfrm>
            <a:off x="7013448" y="4663440"/>
            <a:ext cx="530352" cy="292608"/>
          </a:xfrm>
          <a:prstGeom prst="roundRect">
            <a:avLst>
              <a:gd name="adj" fmla="val 50000"/>
            </a:avLst>
          </a:prstGeom>
          <a:solidFill>
            <a:srgbClr val="FBF1D6"/>
          </a:solidFill>
          <a:ln w="9525">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35000"/>
              </a:lnSpc>
              <a:spcAft>
                <a:spcPts val="0"/>
              </a:spcAft>
            </a:pPr>
            <a:r>
              <a:rPr sz="800" b="0" cap="all" spc="160">
                <a:solidFill>
                  <a:srgbClr val="8A6608"/>
                </a:solidFill>
                <a:latin typeface="IBM Plex Mono"/>
              </a:rPr>
              <a:t>CAAB</a:t>
            </a:r>
          </a:p>
        </p:txBody>
      </p:sp>
      <p:sp>
        <p:nvSpPr>
          <p:cNvPr id="9" name="Rounded Rectangle 8"/>
          <p:cNvSpPr/>
          <p:nvPr/>
        </p:nvSpPr>
        <p:spPr>
          <a:xfrm>
            <a:off x="7671816" y="4663440"/>
            <a:ext cx="448056" cy="292608"/>
          </a:xfrm>
          <a:prstGeom prst="roundRect">
            <a:avLst>
              <a:gd name="adj" fmla="val 50000"/>
            </a:avLst>
          </a:prstGeom>
          <a:solidFill>
            <a:srgbClr val="FBF1D6"/>
          </a:solidFill>
          <a:ln w="9525">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35000"/>
              </a:lnSpc>
              <a:spcAft>
                <a:spcPts val="0"/>
              </a:spcAft>
            </a:pPr>
            <a:r>
              <a:rPr sz="800" b="0" cap="all" spc="160">
                <a:solidFill>
                  <a:srgbClr val="8A6608"/>
                </a:solidFill>
                <a:latin typeface="IBM Plex Mono"/>
              </a:rPr>
              <a:t>NBR</a:t>
            </a:r>
          </a:p>
        </p:txBody>
      </p:sp>
      <p:sp>
        <p:nvSpPr>
          <p:cNvPr id="10" name="Rounded Rectangle 9"/>
          <p:cNvSpPr/>
          <p:nvPr/>
        </p:nvSpPr>
        <p:spPr>
          <a:xfrm>
            <a:off x="8247888" y="4663440"/>
            <a:ext cx="1188720" cy="292608"/>
          </a:xfrm>
          <a:prstGeom prst="roundRect">
            <a:avLst>
              <a:gd name="adj" fmla="val 50000"/>
            </a:avLst>
          </a:prstGeom>
          <a:solidFill>
            <a:srgbClr val="DCF2F3"/>
          </a:solidFill>
          <a:ln w="9525">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35000"/>
              </a:lnSpc>
              <a:spcAft>
                <a:spcPts val="0"/>
              </a:spcAft>
            </a:pPr>
            <a:r>
              <a:rPr sz="800" b="0" cap="all" spc="160">
                <a:solidFill>
                  <a:srgbClr val="0C7A80"/>
                </a:solidFill>
                <a:latin typeface="IBM Plex Mono"/>
              </a:rPr>
              <a:t>BB / AD Bank</a:t>
            </a:r>
          </a:p>
        </p:txBody>
      </p:sp>
      <p:sp>
        <p:nvSpPr>
          <p:cNvPr id="11" name="Rounded Rectangle 10"/>
          <p:cNvSpPr/>
          <p:nvPr/>
        </p:nvSpPr>
        <p:spPr>
          <a:xfrm>
            <a:off x="9564624" y="4663440"/>
            <a:ext cx="1024127" cy="292608"/>
          </a:xfrm>
          <a:prstGeom prst="roundRect">
            <a:avLst>
              <a:gd name="adj" fmla="val 50000"/>
            </a:avLst>
          </a:prstGeom>
          <a:solidFill>
            <a:srgbClr val="FCE2F0"/>
          </a:solidFill>
          <a:ln w="9525">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35000"/>
              </a:lnSpc>
              <a:spcAft>
                <a:spcPts val="0"/>
              </a:spcAft>
            </a:pPr>
            <a:r>
              <a:rPr sz="800" b="0" cap="all" spc="160">
                <a:solidFill>
                  <a:srgbClr val="C10073"/>
                </a:solidFill>
                <a:latin typeface="IBM Plex Mono"/>
              </a:rPr>
              <a:t>Compliance</a:t>
            </a:r>
          </a:p>
        </p:txBody>
      </p:sp>
      <p:sp>
        <p:nvSpPr>
          <p:cNvPr id="12" name="Rectangle 11"/>
          <p:cNvSpPr/>
          <p:nvPr/>
        </p:nvSpPr>
        <p:spPr>
          <a:xfrm>
            <a:off x="6355080" y="5138928"/>
            <a:ext cx="4937760" cy="9525"/>
          </a:xfrm>
          <a:prstGeom prst="rect">
            <a:avLst/>
          </a:prstGeom>
          <a:solidFill>
            <a:srgbClr val="C6D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g_flyport.png"/>
          <p:cNvPicPr>
            <a:picLocks noChangeAspect="1"/>
          </p:cNvPicPr>
          <p:nvPr/>
        </p:nvPicPr>
        <p:blipFill>
          <a:blip r:embed="rId3"/>
          <a:stretch>
            <a:fillRect/>
          </a:stretch>
        </p:blipFill>
        <p:spPr>
          <a:xfrm>
            <a:off x="6355080" y="5285232"/>
            <a:ext cx="1068713" cy="302117"/>
          </a:xfrm>
          <a:prstGeom prst="rect">
            <a:avLst/>
          </a:prstGeom>
        </p:spPr>
      </p:pic>
      <p:sp>
        <p:nvSpPr>
          <p:cNvPr id="14" name="TextBox 13"/>
          <p:cNvSpPr txBox="1"/>
          <p:nvPr/>
        </p:nvSpPr>
        <p:spPr>
          <a:xfrm>
            <a:off x="7734689" y="5367162"/>
            <a:ext cx="868680" cy="274320"/>
          </a:xfrm>
          <a:prstGeom prst="rect">
            <a:avLst/>
          </a:prstGeom>
          <a:noFill/>
        </p:spPr>
        <p:txBody>
          <a:bodyPr wrap="square" lIns="0" rIns="0" tIns="0" bIns="0">
            <a:spAutoFit/>
          </a:bodyPr>
          <a:lstStyle/>
          <a:p>
            <a:pPr>
              <a:lnSpc>
                <a:spcPct val="135000"/>
              </a:lnSpc>
              <a:spcAft>
                <a:spcPts val="0"/>
              </a:spcAft>
            </a:pPr>
            <a:r>
              <a:rPr sz="800" b="0" cap="all" spc="180">
                <a:solidFill>
                  <a:srgbClr val="52737D"/>
                </a:solidFill>
                <a:latin typeface="IBM Plex Mono"/>
              </a:rPr>
              <a:t>Backed by</a:t>
            </a:r>
          </a:p>
        </p:txBody>
      </p:sp>
      <p:pic>
        <p:nvPicPr>
          <p:cNvPr id="15" name="Picture 14" descr="lg_adn.png"/>
          <p:cNvPicPr>
            <a:picLocks noChangeAspect="1"/>
          </p:cNvPicPr>
          <p:nvPr/>
        </p:nvPicPr>
        <p:blipFill>
          <a:blip r:embed="rId4"/>
          <a:stretch>
            <a:fillRect/>
          </a:stretch>
        </p:blipFill>
        <p:spPr>
          <a:xfrm>
            <a:off x="8694809" y="5310835"/>
            <a:ext cx="629222" cy="240670"/>
          </a:xfrm>
          <a:prstGeom prst="rect">
            <a:avLst/>
          </a:prstGeom>
        </p:spPr>
      </p:pic>
      <p:pic>
        <p:nvPicPr>
          <p:cNvPr id="16" name="Picture 15" descr="lg_partex.png"/>
          <p:cNvPicPr>
            <a:picLocks noChangeAspect="1"/>
          </p:cNvPicPr>
          <p:nvPr/>
        </p:nvPicPr>
        <p:blipFill>
          <a:blip r:embed="rId5"/>
          <a:stretch>
            <a:fillRect/>
          </a:stretch>
        </p:blipFill>
        <p:spPr>
          <a:xfrm>
            <a:off x="9598351" y="5295473"/>
            <a:ext cx="610928" cy="271393"/>
          </a:xfrm>
          <a:prstGeom prst="rect">
            <a:avLst/>
          </a:prstGeom>
        </p:spPr>
      </p:pic>
      <p:sp>
        <p:nvSpPr>
          <p:cNvPr id="17" name="TextBox 16"/>
          <p:cNvSpPr txBox="1"/>
          <p:nvPr/>
        </p:nvSpPr>
        <p:spPr>
          <a:xfrm>
            <a:off x="6355080" y="5998464"/>
            <a:ext cx="4937760" cy="548640"/>
          </a:xfrm>
          <a:prstGeom prst="rect">
            <a:avLst/>
          </a:prstGeom>
          <a:noFill/>
        </p:spPr>
        <p:txBody>
          <a:bodyPr wrap="square" lIns="0" rIns="0" tIns="0" bIns="0">
            <a:spAutoFit/>
          </a:bodyPr>
          <a:lstStyle/>
          <a:p>
            <a:pPr>
              <a:lnSpc>
                <a:spcPct val="135000"/>
              </a:lnSpc>
              <a:spcAft>
                <a:spcPts val="300"/>
              </a:spcAft>
            </a:pPr>
            <a:r>
              <a:rPr sz="750" b="0">
                <a:solidFill>
                  <a:srgbClr val="52737D"/>
                </a:solidFill>
                <a:latin typeface="IBM Plex Mono"/>
              </a:rPr>
              <a:t>General Sales Agent, Bangladesh  .  Prepared for internal briefing, August 2026</a:t>
            </a:r>
          </a:p>
          <a:p>
            <a:pPr>
              <a:lnSpc>
                <a:spcPct val="135000"/>
              </a:lnSpc>
              <a:spcAft>
                <a:spcPts val="0"/>
              </a:spcAft>
            </a:pPr>
            <a:r>
              <a:rPr sz="750" b="0">
                <a:solidFill>
                  <a:srgbClr val="52737D"/>
                </a:solidFill>
                <a:latin typeface="IBM Plex Mono"/>
              </a:rPr>
              <a:t>info@flyport.net  .  +880 1882 666555</a:t>
            </a:r>
          </a:p>
        </p:txBody>
      </p:sp>
      <p:sp>
        <p:nvSpPr>
          <p:cNvPr id="18" name="TextBox 17"/>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Agenda</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From launch requirements to live remittance.</a:t>
            </a:r>
          </a:p>
        </p:txBody>
      </p:sp>
      <p:sp>
        <p:nvSpPr>
          <p:cNvPr id="5" name="TextBox 4"/>
          <p:cNvSpPr txBox="1"/>
          <p:nvPr/>
        </p:nvSpPr>
        <p:spPr>
          <a:xfrm>
            <a:off x="786384" y="1700784"/>
            <a:ext cx="8961120" cy="914400"/>
          </a:xfrm>
          <a:prstGeom prst="rect">
            <a:avLst/>
          </a:prstGeom>
          <a:noFill/>
        </p:spPr>
        <p:txBody>
          <a:bodyPr wrap="square" lIns="0" rIns="0" tIns="0" bIns="0">
            <a:spAutoFit/>
          </a:bodyPr>
          <a:lstStyle/>
          <a:p>
            <a:pPr>
              <a:lnSpc>
                <a:spcPct val="142000"/>
              </a:lnSpc>
              <a:spcAft>
                <a:spcPts val="0"/>
              </a:spcAft>
            </a:pPr>
            <a:r>
              <a:rPr sz="1200" b="0">
                <a:solidFill>
                  <a:srgbClr val="33555F"/>
                </a:solidFill>
                <a:latin typeface="Plus Jakarta Sans"/>
              </a:rPr>
              <a:t>Our own GSA requirement checklist, four Bangladesh Bank circulars, and our AD-bank remittance procedure, combined into four parts.</a:t>
            </a:r>
          </a:p>
        </p:txBody>
      </p:sp>
      <p:sp>
        <p:nvSpPr>
          <p:cNvPr id="6" name="Rounded Rectangle 5"/>
          <p:cNvSpPr/>
          <p:nvPr/>
        </p:nvSpPr>
        <p:spPr>
          <a:xfrm>
            <a:off x="786384" y="2395728"/>
            <a:ext cx="5172303" cy="157276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578608"/>
            <a:ext cx="4733391" cy="1207007"/>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Part 1</a:t>
            </a:r>
          </a:p>
          <a:p>
            <a:pPr>
              <a:lnSpc>
                <a:spcPct val="116000"/>
              </a:lnSpc>
              <a:spcAft>
                <a:spcPts val="500"/>
              </a:spcAft>
            </a:pPr>
            <a:r>
              <a:rPr sz="1300" b="1">
                <a:solidFill>
                  <a:srgbClr val="0E2830"/>
                </a:solidFill>
                <a:latin typeface="Outfit"/>
              </a:rPr>
              <a:t>Launch Requirements</a:t>
            </a:r>
          </a:p>
          <a:p>
            <a:pPr>
              <a:lnSpc>
                <a:spcPct val="140000"/>
              </a:lnSpc>
              <a:spcAft>
                <a:spcPts val="0"/>
              </a:spcAft>
            </a:pPr>
            <a:r>
              <a:rPr sz="1050" b="0">
                <a:solidFill>
                  <a:srgbClr val="33555F"/>
                </a:solidFill>
                <a:latin typeface="Plus Jakarta Sans"/>
              </a:rPr>
              <a:t>Corporate and legal, BIDA and expatriate compliance, CAAB approvals.</a:t>
            </a:r>
          </a:p>
        </p:txBody>
      </p:sp>
      <p:sp>
        <p:nvSpPr>
          <p:cNvPr id="8" name="Rounded Rectangle 7"/>
          <p:cNvSpPr/>
          <p:nvPr/>
        </p:nvSpPr>
        <p:spPr>
          <a:xfrm>
            <a:off x="6233007" y="2395728"/>
            <a:ext cx="5172303" cy="157276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2463" y="2578608"/>
            <a:ext cx="4733391" cy="1207007"/>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Part 2</a:t>
            </a:r>
          </a:p>
          <a:p>
            <a:pPr>
              <a:lnSpc>
                <a:spcPct val="116000"/>
              </a:lnSpc>
              <a:spcAft>
                <a:spcPts val="500"/>
              </a:spcAft>
            </a:pPr>
            <a:r>
              <a:rPr sz="1300" b="1">
                <a:solidFill>
                  <a:srgbClr val="0E2830"/>
                </a:solidFill>
                <a:latin typeface="Outfit"/>
              </a:rPr>
              <a:t>Bangladesh Bank &amp; AD Bank</a:t>
            </a:r>
          </a:p>
          <a:p>
            <a:pPr>
              <a:lnSpc>
                <a:spcPct val="140000"/>
              </a:lnSpc>
              <a:spcAft>
                <a:spcPts val="0"/>
              </a:spcAft>
            </a:pPr>
            <a:r>
              <a:rPr sz="1050" b="0">
                <a:solidFill>
                  <a:srgbClr val="33555F"/>
                </a:solidFill>
                <a:latin typeface="Plus Jakarta Sans"/>
              </a:rPr>
              <a:t>Four circulars, dedicated accounts, waiver clauses, fuel and freight rules.</a:t>
            </a:r>
          </a:p>
        </p:txBody>
      </p:sp>
      <p:sp>
        <p:nvSpPr>
          <p:cNvPr id="10" name="Rounded Rectangle 9"/>
          <p:cNvSpPr/>
          <p:nvPr/>
        </p:nvSpPr>
        <p:spPr>
          <a:xfrm>
            <a:off x="786384" y="4242816"/>
            <a:ext cx="5172303" cy="157276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425696"/>
            <a:ext cx="4733391" cy="1207007"/>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Part 3</a:t>
            </a:r>
          </a:p>
          <a:p>
            <a:pPr>
              <a:lnSpc>
                <a:spcPct val="116000"/>
              </a:lnSpc>
              <a:spcAft>
                <a:spcPts val="500"/>
              </a:spcAft>
            </a:pPr>
            <a:r>
              <a:rPr sz="1300" b="1">
                <a:solidFill>
                  <a:srgbClr val="0E2830"/>
                </a:solidFill>
                <a:latin typeface="Outfit"/>
              </a:rPr>
              <a:t>Monthly Remittance Operations</a:t>
            </a:r>
          </a:p>
          <a:p>
            <a:pPr>
              <a:lnSpc>
                <a:spcPct val="140000"/>
              </a:lnSpc>
              <a:spcAft>
                <a:spcPts val="0"/>
              </a:spcAft>
            </a:pPr>
            <a:r>
              <a:rPr sz="1050" b="0">
                <a:solidFill>
                  <a:srgbClr val="33555F"/>
                </a:solidFill>
                <a:latin typeface="Plus Jakarta Sans"/>
              </a:rPr>
              <a:t>Process flow, surplus-earnings calculator, Post Facto Approval.</a:t>
            </a:r>
          </a:p>
        </p:txBody>
      </p:sp>
      <p:sp>
        <p:nvSpPr>
          <p:cNvPr id="12" name="Rounded Rectangle 11"/>
          <p:cNvSpPr/>
          <p:nvPr/>
        </p:nvSpPr>
        <p:spPr>
          <a:xfrm>
            <a:off x="6233007" y="4242816"/>
            <a:ext cx="5172303" cy="157276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2463" y="4425696"/>
            <a:ext cx="4733391" cy="1207007"/>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Part 4</a:t>
            </a:r>
          </a:p>
          <a:p>
            <a:pPr>
              <a:lnSpc>
                <a:spcPct val="116000"/>
              </a:lnSpc>
              <a:spcAft>
                <a:spcPts val="500"/>
              </a:spcAft>
            </a:pPr>
            <a:r>
              <a:rPr sz="1300" b="1">
                <a:solidFill>
                  <a:srgbClr val="0E2830"/>
                </a:solidFill>
                <a:latin typeface="Outfit"/>
              </a:rPr>
              <a:t>Documentation &amp; Roadmap</a:t>
            </a:r>
          </a:p>
          <a:p>
            <a:pPr>
              <a:lnSpc>
                <a:spcPct val="140000"/>
              </a:lnSpc>
              <a:spcAft>
                <a:spcPts val="0"/>
              </a:spcAft>
            </a:pPr>
            <a:r>
              <a:rPr sz="1050" b="0">
                <a:solidFill>
                  <a:srgbClr val="33555F"/>
                </a:solidFill>
                <a:latin typeface="Plus Jakarta Sans"/>
              </a:rPr>
              <a:t>Annual and monthly filings, what is still to scope, launch timeline.</a:t>
            </a:r>
          </a:p>
        </p:txBody>
      </p:sp>
      <p:sp>
        <p:nvSpPr>
          <p:cNvPr id="14" name="Rectangle 13"/>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Parts 1 and 2 are one-time. Parts 3 and 4 repeat every month for as long as the route operates.</a:t>
            </a:r>
          </a:p>
        </p:txBody>
      </p:sp>
      <p:sp>
        <p:nvSpPr>
          <p:cNvPr id="16" name="TextBox 15"/>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Context</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Vietnam Airlines' Bangladesh launch.</a:t>
            </a:r>
          </a:p>
        </p:txBody>
      </p:sp>
      <p:sp>
        <p:nvSpPr>
          <p:cNvPr id="5" name="Oval 4"/>
          <p:cNvSpPr/>
          <p:nvPr/>
        </p:nvSpPr>
        <p:spPr>
          <a:xfrm>
            <a:off x="786384" y="191566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1847088"/>
            <a:ext cx="5468112" cy="822960"/>
          </a:xfrm>
          <a:prstGeom prst="rect">
            <a:avLst/>
          </a:prstGeom>
          <a:noFill/>
        </p:spPr>
        <p:txBody>
          <a:bodyPr wrap="square" lIns="0" rIns="0" tIns="0" bIns="0">
            <a:spAutoFit/>
          </a:bodyPr>
          <a:lstStyle/>
          <a:p>
            <a:pPr>
              <a:lnSpc>
                <a:spcPct val="142000"/>
              </a:lnSpc>
              <a:spcAft>
                <a:spcPts val="0"/>
              </a:spcAft>
            </a:pPr>
            <a:r>
              <a:rPr sz="1050" b="0">
                <a:solidFill>
                  <a:srgbClr val="33555F"/>
                </a:solidFill>
                <a:latin typeface="Plus Jakarta Sans"/>
              </a:rPr>
              <a:t>Flyport Ltd. is Vietnam Airlines' General Sales Agent and local representation partner in Bangladesh.</a:t>
            </a:r>
          </a:p>
        </p:txBody>
      </p:sp>
      <p:sp>
        <p:nvSpPr>
          <p:cNvPr id="7" name="Oval 6"/>
          <p:cNvSpPr/>
          <p:nvPr/>
        </p:nvSpPr>
        <p:spPr>
          <a:xfrm>
            <a:off x="786384" y="240868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340102"/>
            <a:ext cx="5468112" cy="822960"/>
          </a:xfrm>
          <a:prstGeom prst="rect">
            <a:avLst/>
          </a:prstGeom>
          <a:noFill/>
        </p:spPr>
        <p:txBody>
          <a:bodyPr wrap="square" lIns="0" rIns="0" tIns="0" bIns="0">
            <a:spAutoFit/>
          </a:bodyPr>
          <a:lstStyle/>
          <a:p>
            <a:pPr>
              <a:lnSpc>
                <a:spcPct val="142000"/>
              </a:lnSpc>
              <a:spcAft>
                <a:spcPts val="0"/>
              </a:spcAft>
            </a:pPr>
            <a:r>
              <a:rPr sz="1050" b="0">
                <a:solidFill>
                  <a:srgbClr val="33555F"/>
                </a:solidFill>
                <a:latin typeface="Plus Jakarta Sans"/>
              </a:rPr>
              <a:t>A renewed Bangladesh–Vietnam Air Services Agreement underpins direct scheduled service between the two countries.</a:t>
            </a:r>
          </a:p>
        </p:txBody>
      </p:sp>
      <p:sp>
        <p:nvSpPr>
          <p:cNvPr id="9" name="Oval 8"/>
          <p:cNvSpPr/>
          <p:nvPr/>
        </p:nvSpPr>
        <p:spPr>
          <a:xfrm>
            <a:off x="786384" y="2901696"/>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833116"/>
            <a:ext cx="5468112" cy="822960"/>
          </a:xfrm>
          <a:prstGeom prst="rect">
            <a:avLst/>
          </a:prstGeom>
          <a:noFill/>
        </p:spPr>
        <p:txBody>
          <a:bodyPr wrap="square" lIns="0" rIns="0" tIns="0" bIns="0">
            <a:spAutoFit/>
          </a:bodyPr>
          <a:lstStyle/>
          <a:p>
            <a:pPr>
              <a:lnSpc>
                <a:spcPct val="142000"/>
              </a:lnSpc>
              <a:spcAft>
                <a:spcPts val="0"/>
              </a:spcAft>
            </a:pPr>
            <a:r>
              <a:rPr sz="1050" b="0">
                <a:solidFill>
                  <a:srgbClr val="33555F"/>
                </a:solidFill>
                <a:latin typeface="Plus Jakarta Sans"/>
              </a:rPr>
              <a:t>Initial operation is planned around Dhaka–Hanoi and Dhaka–Ho Chi Minh City, subject to visa-service normalization.</a:t>
            </a:r>
          </a:p>
        </p:txBody>
      </p:sp>
      <p:sp>
        <p:nvSpPr>
          <p:cNvPr id="11" name="Oval 10"/>
          <p:cNvSpPr/>
          <p:nvPr/>
        </p:nvSpPr>
        <p:spPr>
          <a:xfrm>
            <a:off x="786384" y="3394710"/>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3326129"/>
            <a:ext cx="5468112" cy="822960"/>
          </a:xfrm>
          <a:prstGeom prst="rect">
            <a:avLst/>
          </a:prstGeom>
          <a:noFill/>
        </p:spPr>
        <p:txBody>
          <a:bodyPr wrap="square" lIns="0" rIns="0" tIns="0" bIns="0">
            <a:spAutoFit/>
          </a:bodyPr>
          <a:lstStyle/>
          <a:p>
            <a:pPr>
              <a:lnSpc>
                <a:spcPct val="142000"/>
              </a:lnSpc>
              <a:spcAft>
                <a:spcPts val="0"/>
              </a:spcAft>
            </a:pPr>
            <a:r>
              <a:rPr sz="1050" b="0">
                <a:solidFill>
                  <a:srgbClr val="33555F"/>
                </a:solidFill>
                <a:latin typeface="Plus Jakarta Sans"/>
              </a:rPr>
              <a:t>This pack combines our own launch-requirement checklist, four Bangladesh Bank circulars, and our AD-bank remittance procedure into a single operational playbook.</a:t>
            </a:r>
          </a:p>
        </p:txBody>
      </p:sp>
      <p:sp>
        <p:nvSpPr>
          <p:cNvPr id="13" name="TextBox 12"/>
          <p:cNvSpPr txBox="1"/>
          <p:nvPr/>
        </p:nvSpPr>
        <p:spPr>
          <a:xfrm>
            <a:off x="6675120" y="1847088"/>
            <a:ext cx="4480560" cy="274320"/>
          </a:xfrm>
          <a:prstGeom prst="rect">
            <a:avLst/>
          </a:prstGeom>
          <a:noFill/>
        </p:spPr>
        <p:txBody>
          <a:bodyPr wrap="square" lIns="0" rIns="0" tIns="0" bIns="0">
            <a:spAutoFit/>
          </a:bodyPr>
          <a:lstStyle/>
          <a:p>
            <a:pPr>
              <a:lnSpc>
                <a:spcPct val="135000"/>
              </a:lnSpc>
              <a:spcAft>
                <a:spcPts val="0"/>
              </a:spcAft>
            </a:pPr>
            <a:r>
              <a:rPr sz="800" b="0" cap="all" spc="140">
                <a:solidFill>
                  <a:srgbClr val="8AA6AE"/>
                </a:solidFill>
                <a:latin typeface="IBM Plex Mono"/>
              </a:rPr>
              <a:t>Planned route network</a:t>
            </a:r>
          </a:p>
        </p:txBody>
      </p:sp>
      <p:cxnSp>
        <p:nvCxnSpPr>
          <p:cNvPr id="14" name="Connector 13"/>
          <p:cNvCxnSpPr/>
          <p:nvPr/>
        </p:nvCxnSpPr>
        <p:spPr>
          <a:xfrm flipV="1">
            <a:off x="6995159" y="2395728"/>
            <a:ext cx="2148841" cy="1188720"/>
          </a:xfrm>
          <a:prstGeom prst="line">
            <a:avLst/>
          </a:prstGeom>
          <a:ln w="25400">
            <a:solidFill>
              <a:srgbClr val="39C0C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995159" y="3054096"/>
            <a:ext cx="2148841" cy="530352"/>
          </a:xfrm>
          <a:prstGeom prst="line">
            <a:avLst/>
          </a:prstGeom>
          <a:ln w="25400">
            <a:solidFill>
              <a:srgbClr val="EC008C"/>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926579" y="3515868"/>
            <a:ext cx="137160" cy="137160"/>
          </a:xfrm>
          <a:prstGeom prst="ellipse">
            <a:avLst/>
          </a:prstGeom>
          <a:solidFill>
            <a:srgbClr val="FFFFFF"/>
          </a:solidFill>
          <a:ln w="25400">
            <a:solidFill>
              <a:srgbClr val="0E28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41464" y="3401568"/>
            <a:ext cx="2194560" cy="457200"/>
          </a:xfrm>
          <a:prstGeom prst="rect">
            <a:avLst/>
          </a:prstGeom>
          <a:noFill/>
        </p:spPr>
        <p:txBody>
          <a:bodyPr wrap="square" lIns="0" rIns="0" tIns="0" bIns="0">
            <a:spAutoFit/>
          </a:bodyPr>
          <a:lstStyle/>
          <a:p>
            <a:pPr>
              <a:lnSpc>
                <a:spcPct val="135000"/>
              </a:lnSpc>
              <a:spcAft>
                <a:spcPts val="100"/>
              </a:spcAft>
            </a:pPr>
            <a:r>
              <a:rPr sz="1300" b="1">
                <a:solidFill>
                  <a:srgbClr val="0E2830"/>
                </a:solidFill>
                <a:latin typeface="Outfit"/>
              </a:rPr>
              <a:t>DAC</a:t>
            </a:r>
          </a:p>
          <a:p>
            <a:pPr>
              <a:lnSpc>
                <a:spcPct val="135000"/>
              </a:lnSpc>
              <a:spcAft>
                <a:spcPts val="0"/>
              </a:spcAft>
            </a:pPr>
            <a:r>
              <a:rPr sz="750" b="0" cap="all" spc="120">
                <a:solidFill>
                  <a:srgbClr val="52737D"/>
                </a:solidFill>
                <a:latin typeface="IBM Plex Mono"/>
              </a:rPr>
              <a:t>Dhaka</a:t>
            </a:r>
          </a:p>
        </p:txBody>
      </p:sp>
      <p:sp>
        <p:nvSpPr>
          <p:cNvPr id="18" name="Oval 17"/>
          <p:cNvSpPr/>
          <p:nvPr/>
        </p:nvSpPr>
        <p:spPr>
          <a:xfrm>
            <a:off x="9075420" y="2327148"/>
            <a:ext cx="137160" cy="137160"/>
          </a:xfrm>
          <a:prstGeom prst="ellipse">
            <a:avLst/>
          </a:prstGeom>
          <a:solidFill>
            <a:srgbClr val="FFFFFF"/>
          </a:solidFill>
          <a:ln w="25400">
            <a:solidFill>
              <a:srgbClr val="0A5F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2212848"/>
            <a:ext cx="2194560" cy="457200"/>
          </a:xfrm>
          <a:prstGeom prst="rect">
            <a:avLst/>
          </a:prstGeom>
          <a:noFill/>
        </p:spPr>
        <p:txBody>
          <a:bodyPr wrap="square" lIns="0" rIns="0" tIns="0" bIns="0">
            <a:spAutoFit/>
          </a:bodyPr>
          <a:lstStyle/>
          <a:p>
            <a:pPr>
              <a:lnSpc>
                <a:spcPct val="135000"/>
              </a:lnSpc>
              <a:spcAft>
                <a:spcPts val="100"/>
              </a:spcAft>
            </a:pPr>
            <a:r>
              <a:rPr sz="1300" b="1">
                <a:solidFill>
                  <a:srgbClr val="0A5F65"/>
                </a:solidFill>
                <a:latin typeface="Outfit"/>
              </a:rPr>
              <a:t>HAN</a:t>
            </a:r>
          </a:p>
          <a:p>
            <a:pPr>
              <a:lnSpc>
                <a:spcPct val="135000"/>
              </a:lnSpc>
              <a:spcAft>
                <a:spcPts val="0"/>
              </a:spcAft>
            </a:pPr>
            <a:r>
              <a:rPr sz="750" b="0" cap="all" spc="120">
                <a:solidFill>
                  <a:srgbClr val="52737D"/>
                </a:solidFill>
                <a:latin typeface="IBM Plex Mono"/>
              </a:rPr>
              <a:t>Hanoi</a:t>
            </a:r>
          </a:p>
        </p:txBody>
      </p:sp>
      <p:sp>
        <p:nvSpPr>
          <p:cNvPr id="20" name="Oval 19"/>
          <p:cNvSpPr/>
          <p:nvPr/>
        </p:nvSpPr>
        <p:spPr>
          <a:xfrm>
            <a:off x="9075420" y="2985515"/>
            <a:ext cx="137160" cy="137160"/>
          </a:xfrm>
          <a:prstGeom prst="ellipse">
            <a:avLst/>
          </a:prstGeom>
          <a:solidFill>
            <a:srgbClr val="FFFFFF"/>
          </a:solidFill>
          <a:ln w="25400">
            <a:solidFill>
              <a:srgbClr val="C100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0304" y="2871215"/>
            <a:ext cx="2194560" cy="457200"/>
          </a:xfrm>
          <a:prstGeom prst="rect">
            <a:avLst/>
          </a:prstGeom>
          <a:noFill/>
        </p:spPr>
        <p:txBody>
          <a:bodyPr wrap="square" lIns="0" rIns="0" tIns="0" bIns="0">
            <a:spAutoFit/>
          </a:bodyPr>
          <a:lstStyle/>
          <a:p>
            <a:pPr>
              <a:lnSpc>
                <a:spcPct val="135000"/>
              </a:lnSpc>
              <a:spcAft>
                <a:spcPts val="100"/>
              </a:spcAft>
            </a:pPr>
            <a:r>
              <a:rPr sz="1300" b="1">
                <a:solidFill>
                  <a:srgbClr val="C10073"/>
                </a:solidFill>
                <a:latin typeface="Outfit"/>
              </a:rPr>
              <a:t>SGN</a:t>
            </a:r>
          </a:p>
          <a:p>
            <a:pPr>
              <a:lnSpc>
                <a:spcPct val="135000"/>
              </a:lnSpc>
              <a:spcAft>
                <a:spcPts val="0"/>
              </a:spcAft>
            </a:pPr>
            <a:r>
              <a:rPr sz="750" b="0" cap="all" spc="120">
                <a:solidFill>
                  <a:srgbClr val="52737D"/>
                </a:solidFill>
                <a:latin typeface="IBM Plex Mono"/>
              </a:rPr>
              <a:t>Ho Chi Minh City</a:t>
            </a:r>
          </a:p>
        </p:txBody>
      </p:sp>
      <p:sp>
        <p:nvSpPr>
          <p:cNvPr id="22" name="TextBox 21"/>
          <p:cNvSpPr txBox="1"/>
          <p:nvPr/>
        </p:nvSpPr>
        <p:spPr>
          <a:xfrm>
            <a:off x="6675120" y="3877056"/>
            <a:ext cx="4480560" cy="274320"/>
          </a:xfrm>
          <a:prstGeom prst="rect">
            <a:avLst/>
          </a:prstGeom>
          <a:noFill/>
        </p:spPr>
        <p:txBody>
          <a:bodyPr wrap="square" lIns="0" rIns="0" tIns="0" bIns="0">
            <a:spAutoFit/>
          </a:bodyPr>
          <a:lstStyle/>
          <a:p>
            <a:pPr>
              <a:lnSpc>
                <a:spcPct val="135000"/>
              </a:lnSpc>
              <a:spcAft>
                <a:spcPts val="0"/>
              </a:spcAft>
            </a:pPr>
            <a:r>
              <a:rPr sz="750" b="0" cap="all" spc="120">
                <a:solidFill>
                  <a:srgbClr val="8AA6AE"/>
                </a:solidFill>
                <a:latin typeface="IBM Plex Mono"/>
              </a:rPr>
              <a:t>Direct scheduled service under the Bangladesh and Vietnam ASA</a:t>
            </a:r>
          </a:p>
        </p:txBody>
      </p:sp>
      <p:sp>
        <p:nvSpPr>
          <p:cNvPr id="23" name="Rounded Rectangle 22"/>
          <p:cNvSpPr/>
          <p:nvPr/>
        </p:nvSpPr>
        <p:spPr>
          <a:xfrm>
            <a:off x="6675120" y="4242816"/>
            <a:ext cx="2130552" cy="1170432"/>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94576" y="4425696"/>
            <a:ext cx="1691640" cy="804672"/>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DAC ⇄ HAN</a:t>
            </a:r>
          </a:p>
          <a:p>
            <a:pPr>
              <a:lnSpc>
                <a:spcPct val="116000"/>
              </a:lnSpc>
              <a:spcAft>
                <a:spcPts val="500"/>
              </a:spcAft>
            </a:pPr>
            <a:r>
              <a:rPr sz="1100" b="1">
                <a:solidFill>
                  <a:srgbClr val="0E2830"/>
                </a:solidFill>
                <a:latin typeface="Outfit"/>
              </a:rPr>
              <a:t>Dhaka – Hanoi</a:t>
            </a:r>
          </a:p>
          <a:p>
            <a:pPr>
              <a:lnSpc>
                <a:spcPct val="140000"/>
              </a:lnSpc>
              <a:spcAft>
                <a:spcPts val="0"/>
              </a:spcAft>
            </a:pPr>
            <a:r>
              <a:rPr sz="950" b="0">
                <a:solidFill>
                  <a:srgbClr val="33555F"/>
                </a:solidFill>
                <a:latin typeface="Plus Jakarta Sans"/>
              </a:rPr>
              <a:t>3× weekly, planned.</a:t>
            </a:r>
          </a:p>
        </p:txBody>
      </p:sp>
      <p:sp>
        <p:nvSpPr>
          <p:cNvPr id="25" name="Rounded Rectangle 24"/>
          <p:cNvSpPr/>
          <p:nvPr/>
        </p:nvSpPr>
        <p:spPr>
          <a:xfrm>
            <a:off x="9025128" y="4242816"/>
            <a:ext cx="2130552" cy="1170432"/>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44584" y="4425696"/>
            <a:ext cx="1691640" cy="804672"/>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DAC ⇄ SGN</a:t>
            </a:r>
          </a:p>
          <a:p>
            <a:pPr>
              <a:lnSpc>
                <a:spcPct val="116000"/>
              </a:lnSpc>
              <a:spcAft>
                <a:spcPts val="500"/>
              </a:spcAft>
            </a:pPr>
            <a:r>
              <a:rPr sz="1100" b="1">
                <a:solidFill>
                  <a:srgbClr val="0E2830"/>
                </a:solidFill>
                <a:latin typeface="Outfit"/>
              </a:rPr>
              <a:t>Dhaka – Ho Chi Minh City</a:t>
            </a:r>
          </a:p>
          <a:p>
            <a:pPr>
              <a:lnSpc>
                <a:spcPct val="140000"/>
              </a:lnSpc>
              <a:spcAft>
                <a:spcPts val="0"/>
              </a:spcAft>
            </a:pPr>
            <a:r>
              <a:rPr sz="950" b="0">
                <a:solidFill>
                  <a:srgbClr val="33555F"/>
                </a:solidFill>
                <a:latin typeface="Plus Jakarta Sans"/>
              </a:rPr>
              <a:t>4× weekly, planned.</a:t>
            </a:r>
          </a:p>
        </p:txBody>
      </p:sp>
      <p:sp>
        <p:nvSpPr>
          <p:cNvPr id="27" name="TextBox 26"/>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1  .  01  /  Corporate, legal &amp; NBR</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Corporate registration and tax recognition.</a:t>
            </a:r>
          </a:p>
        </p:txBody>
      </p:sp>
      <p:sp>
        <p:nvSpPr>
          <p:cNvPr id="5" name="Rounded Rectangle 4"/>
          <p:cNvSpPr/>
          <p:nvPr/>
        </p:nvSpPr>
        <p:spPr>
          <a:xfrm>
            <a:off x="786384" y="1920240"/>
            <a:ext cx="3381146" cy="14813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942234" cy="111556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Registration</a:t>
            </a:r>
          </a:p>
          <a:p>
            <a:pPr>
              <a:lnSpc>
                <a:spcPct val="116000"/>
              </a:lnSpc>
              <a:spcAft>
                <a:spcPts val="500"/>
              </a:spcAft>
            </a:pPr>
            <a:r>
              <a:rPr sz="1150" b="1">
                <a:solidFill>
                  <a:srgbClr val="0E2830"/>
                </a:solidFill>
                <a:latin typeface="Outfit"/>
              </a:rPr>
              <a:t>Trade Licence</a:t>
            </a:r>
          </a:p>
          <a:p>
            <a:pPr>
              <a:lnSpc>
                <a:spcPct val="140000"/>
              </a:lnSpc>
              <a:spcAft>
                <a:spcPts val="0"/>
              </a:spcAft>
            </a:pPr>
            <a:r>
              <a:rPr sz="950" b="0">
                <a:solidFill>
                  <a:srgbClr val="33555F"/>
                </a:solidFill>
                <a:latin typeface="Plus Jakarta Sans"/>
              </a:rPr>
              <a:t>Base municipal licence to operate as a registered entity in Bangladesh.</a:t>
            </a:r>
          </a:p>
        </p:txBody>
      </p:sp>
      <p:sp>
        <p:nvSpPr>
          <p:cNvPr id="7" name="Rounded Rectangle 6"/>
          <p:cNvSpPr/>
          <p:nvPr/>
        </p:nvSpPr>
        <p:spPr>
          <a:xfrm>
            <a:off x="4405274" y="1920240"/>
            <a:ext cx="3381146" cy="14813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4730" y="2103120"/>
            <a:ext cx="2942234" cy="111556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Registration</a:t>
            </a:r>
          </a:p>
          <a:p>
            <a:pPr>
              <a:lnSpc>
                <a:spcPct val="116000"/>
              </a:lnSpc>
              <a:spcAft>
                <a:spcPts val="500"/>
              </a:spcAft>
            </a:pPr>
            <a:r>
              <a:rPr sz="1150" b="1">
                <a:solidFill>
                  <a:srgbClr val="0E2830"/>
                </a:solidFill>
                <a:latin typeface="Outfit"/>
              </a:rPr>
              <a:t>Tax Identification Certificate</a:t>
            </a:r>
          </a:p>
          <a:p>
            <a:pPr>
              <a:lnSpc>
                <a:spcPct val="140000"/>
              </a:lnSpc>
              <a:spcAft>
                <a:spcPts val="0"/>
              </a:spcAft>
            </a:pPr>
            <a:r>
              <a:rPr sz="950" b="0">
                <a:solidFill>
                  <a:srgbClr val="33555F"/>
                </a:solidFill>
                <a:latin typeface="Plus Jakarta Sans"/>
              </a:rPr>
              <a:t>TIN registration with NBR for the local entity.</a:t>
            </a:r>
          </a:p>
        </p:txBody>
      </p:sp>
      <p:sp>
        <p:nvSpPr>
          <p:cNvPr id="9" name="Rounded Rectangle 8"/>
          <p:cNvSpPr/>
          <p:nvPr/>
        </p:nvSpPr>
        <p:spPr>
          <a:xfrm>
            <a:off x="8024164" y="1920240"/>
            <a:ext cx="3381146" cy="14813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3620" y="2103120"/>
            <a:ext cx="2942234" cy="111556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Registration</a:t>
            </a:r>
          </a:p>
          <a:p>
            <a:pPr>
              <a:lnSpc>
                <a:spcPct val="116000"/>
              </a:lnSpc>
              <a:spcAft>
                <a:spcPts val="500"/>
              </a:spcAft>
            </a:pPr>
            <a:r>
              <a:rPr sz="1150" b="1">
                <a:solidFill>
                  <a:srgbClr val="0E2830"/>
                </a:solidFill>
                <a:latin typeface="Outfit"/>
              </a:rPr>
              <a:t>Business Identification Certificate</a:t>
            </a:r>
          </a:p>
          <a:p>
            <a:pPr>
              <a:lnSpc>
                <a:spcPct val="140000"/>
              </a:lnSpc>
              <a:spcAft>
                <a:spcPts val="0"/>
              </a:spcAft>
            </a:pPr>
            <a:r>
              <a:rPr sz="950" b="0">
                <a:solidFill>
                  <a:srgbClr val="33555F"/>
                </a:solidFill>
                <a:latin typeface="Plus Jakarta Sans"/>
              </a:rPr>
              <a:t>BIN, the VAT and business identification certificate.</a:t>
            </a:r>
          </a:p>
        </p:txBody>
      </p:sp>
      <p:sp>
        <p:nvSpPr>
          <p:cNvPr id="11" name="Rounded Rectangle 10"/>
          <p:cNvSpPr/>
          <p:nvPr/>
        </p:nvSpPr>
        <p:spPr>
          <a:xfrm>
            <a:off x="786384" y="3675888"/>
            <a:ext cx="517230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858768"/>
            <a:ext cx="473339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Treaty relief</a:t>
            </a:r>
          </a:p>
          <a:p>
            <a:pPr>
              <a:lnSpc>
                <a:spcPct val="116000"/>
              </a:lnSpc>
              <a:spcAft>
                <a:spcPts val="500"/>
              </a:spcAft>
            </a:pPr>
            <a:r>
              <a:rPr sz="1150" b="1">
                <a:solidFill>
                  <a:srgbClr val="0E2830"/>
                </a:solidFill>
                <a:latin typeface="Outfit"/>
              </a:rPr>
              <a:t>NBR Double Taxation Certificate</a:t>
            </a:r>
          </a:p>
          <a:p>
            <a:pPr>
              <a:lnSpc>
                <a:spcPct val="140000"/>
              </a:lnSpc>
              <a:spcAft>
                <a:spcPts val="0"/>
              </a:spcAft>
            </a:pPr>
            <a:r>
              <a:rPr sz="950" b="0">
                <a:solidFill>
                  <a:srgbClr val="33555F"/>
                </a:solidFill>
                <a:latin typeface="Plus Jakarta Sans"/>
              </a:rPr>
              <a:t>DTA certificate referencing the Bangladesh–Vietnam tax treaty.</a:t>
            </a:r>
          </a:p>
        </p:txBody>
      </p:sp>
      <p:sp>
        <p:nvSpPr>
          <p:cNvPr id="13" name="Rounded Rectangle 12"/>
          <p:cNvSpPr/>
          <p:nvPr/>
        </p:nvSpPr>
        <p:spPr>
          <a:xfrm>
            <a:off x="6233007" y="3675888"/>
            <a:ext cx="517230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2463" y="3858768"/>
            <a:ext cx="473339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Treaty relief  .  renewed annually</a:t>
            </a:r>
          </a:p>
          <a:p>
            <a:pPr>
              <a:lnSpc>
                <a:spcPct val="116000"/>
              </a:lnSpc>
              <a:spcAft>
                <a:spcPts val="500"/>
              </a:spcAft>
            </a:pPr>
            <a:r>
              <a:rPr sz="1150" b="1">
                <a:solidFill>
                  <a:srgbClr val="0E2830"/>
                </a:solidFill>
                <a:latin typeface="Outfit"/>
              </a:rPr>
              <a:t>Tax Exemption Certificate</a:t>
            </a:r>
          </a:p>
          <a:p>
            <a:pPr>
              <a:lnSpc>
                <a:spcPct val="140000"/>
              </a:lnSpc>
              <a:spcAft>
                <a:spcPts val="0"/>
              </a:spcAft>
            </a:pPr>
            <a:r>
              <a:rPr sz="950" b="0">
                <a:solidFill>
                  <a:srgbClr val="33555F"/>
                </a:solidFill>
                <a:latin typeface="Plus Jakarta Sans"/>
              </a:rPr>
              <a:t>Valid NBR certificate, renewed annually, supporting treaty-rate withholding.</a:t>
            </a:r>
          </a:p>
        </p:txBody>
      </p:sp>
      <p:sp>
        <p:nvSpPr>
          <p:cNvPr id="15" name="Rectangle 14"/>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The two treaty documents are the ones that lapse. Everything above them is issued once; these two are annual renewals and a lapse stops withholding relief immediately.</a:t>
            </a:r>
          </a:p>
        </p:txBody>
      </p:sp>
      <p:sp>
        <p:nvSpPr>
          <p:cNvPr id="17" name="TextBox 16"/>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1  .  02  /  BIDA &amp; expatriate compliance</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Branch registration and expatriate staffing.</a:t>
            </a:r>
          </a:p>
        </p:txBody>
      </p:sp>
      <p:sp>
        <p:nvSpPr>
          <p:cNvPr id="5" name="Rounded Rectangle 4"/>
          <p:cNvSpPr/>
          <p:nvPr/>
        </p:nvSpPr>
        <p:spPr>
          <a:xfrm>
            <a:off x="786384" y="1847088"/>
            <a:ext cx="5172303" cy="1170432"/>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29968"/>
            <a:ext cx="4733391" cy="804672"/>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BIDA</a:t>
            </a:r>
          </a:p>
          <a:p>
            <a:pPr>
              <a:lnSpc>
                <a:spcPct val="116000"/>
              </a:lnSpc>
              <a:spcAft>
                <a:spcPts val="500"/>
              </a:spcAft>
            </a:pPr>
            <a:r>
              <a:rPr sz="1100" b="1">
                <a:solidFill>
                  <a:srgbClr val="0E2830"/>
                </a:solidFill>
                <a:latin typeface="Outfit"/>
              </a:rPr>
              <a:t>Branch Office Permission</a:t>
            </a:r>
          </a:p>
          <a:p>
            <a:pPr>
              <a:lnSpc>
                <a:spcPct val="140000"/>
              </a:lnSpc>
              <a:spcAft>
                <a:spcPts val="0"/>
              </a:spcAft>
            </a:pPr>
            <a:r>
              <a:rPr sz="919" b="0">
                <a:solidFill>
                  <a:srgbClr val="33555F"/>
                </a:solidFill>
                <a:latin typeface="Plus Jakarta Sans"/>
              </a:rPr>
              <a:t>Core BIDA approval to operate a branch office in Bangladesh.</a:t>
            </a:r>
          </a:p>
        </p:txBody>
      </p:sp>
      <p:sp>
        <p:nvSpPr>
          <p:cNvPr id="7" name="Rounded Rectangle 6"/>
          <p:cNvSpPr/>
          <p:nvPr/>
        </p:nvSpPr>
        <p:spPr>
          <a:xfrm>
            <a:off x="6233007" y="1847088"/>
            <a:ext cx="5172303" cy="1170432"/>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52463" y="2029968"/>
            <a:ext cx="4733391" cy="804672"/>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BIDA</a:t>
            </a:r>
          </a:p>
          <a:p>
            <a:pPr>
              <a:lnSpc>
                <a:spcPct val="116000"/>
              </a:lnSpc>
              <a:spcAft>
                <a:spcPts val="500"/>
              </a:spcAft>
            </a:pPr>
            <a:r>
              <a:rPr sz="1100" b="1">
                <a:solidFill>
                  <a:srgbClr val="0E2830"/>
                </a:solidFill>
                <a:latin typeface="Outfit"/>
              </a:rPr>
              <a:t>Expert E-Visa Recommendation Letter</a:t>
            </a:r>
          </a:p>
          <a:p>
            <a:pPr>
              <a:lnSpc>
                <a:spcPct val="140000"/>
              </a:lnSpc>
              <a:spcAft>
                <a:spcPts val="0"/>
              </a:spcAft>
            </a:pPr>
            <a:r>
              <a:rPr sz="919" b="0">
                <a:solidFill>
                  <a:srgbClr val="33555F"/>
                </a:solidFill>
                <a:latin typeface="Plus Jakarta Sans"/>
              </a:rPr>
              <a:t>BIDA recommendation supporting the expatriate's e-visa application.</a:t>
            </a:r>
          </a:p>
        </p:txBody>
      </p:sp>
      <p:sp>
        <p:nvSpPr>
          <p:cNvPr id="9" name="Rounded Rectangle 8"/>
          <p:cNvSpPr/>
          <p:nvPr/>
        </p:nvSpPr>
        <p:spPr>
          <a:xfrm>
            <a:off x="786384" y="3236976"/>
            <a:ext cx="5172303" cy="1170432"/>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19856"/>
            <a:ext cx="4733391" cy="804672"/>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BIDA</a:t>
            </a:r>
          </a:p>
          <a:p>
            <a:pPr>
              <a:lnSpc>
                <a:spcPct val="116000"/>
              </a:lnSpc>
              <a:spcAft>
                <a:spcPts val="500"/>
              </a:spcAft>
            </a:pPr>
            <a:r>
              <a:rPr sz="1100" b="1">
                <a:solidFill>
                  <a:srgbClr val="0E2830"/>
                </a:solidFill>
                <a:latin typeface="Outfit"/>
              </a:rPr>
              <a:t>Expert Work Permit</a:t>
            </a:r>
          </a:p>
          <a:p>
            <a:pPr>
              <a:lnSpc>
                <a:spcPct val="140000"/>
              </a:lnSpc>
              <a:spcAft>
                <a:spcPts val="0"/>
              </a:spcAft>
            </a:pPr>
            <a:r>
              <a:rPr sz="919" b="0">
                <a:solidFill>
                  <a:srgbClr val="33555F"/>
                </a:solidFill>
                <a:latin typeface="Plus Jakarta Sans"/>
              </a:rPr>
              <a:t>Work authorization for each expatriate employee.</a:t>
            </a:r>
          </a:p>
        </p:txBody>
      </p:sp>
      <p:sp>
        <p:nvSpPr>
          <p:cNvPr id="11" name="Rounded Rectangle 10"/>
          <p:cNvSpPr/>
          <p:nvPr/>
        </p:nvSpPr>
        <p:spPr>
          <a:xfrm>
            <a:off x="6233007" y="3236976"/>
            <a:ext cx="5172303" cy="1170432"/>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2463" y="3419856"/>
            <a:ext cx="4733391" cy="804672"/>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Gate to remittance</a:t>
            </a:r>
          </a:p>
          <a:p>
            <a:pPr>
              <a:lnSpc>
                <a:spcPct val="116000"/>
              </a:lnSpc>
              <a:spcAft>
                <a:spcPts val="500"/>
              </a:spcAft>
            </a:pPr>
            <a:r>
              <a:rPr sz="1100" b="1">
                <a:solidFill>
                  <a:srgbClr val="0E2830"/>
                </a:solidFill>
                <a:latin typeface="Outfit"/>
              </a:rPr>
              <a:t>Waiver Clause 7 &amp; 8</a:t>
            </a:r>
          </a:p>
          <a:p>
            <a:pPr>
              <a:lnSpc>
                <a:spcPct val="140000"/>
              </a:lnSpc>
              <a:spcAft>
                <a:spcPts val="0"/>
              </a:spcAft>
            </a:pPr>
            <a:r>
              <a:rPr sz="919" b="0">
                <a:solidFill>
                  <a:srgbClr val="33555F"/>
                </a:solidFill>
                <a:latin typeface="Plus Jakarta Sans"/>
              </a:rPr>
              <a:t>Conditions in the BIDA permission letter that must be satisfied for outward remittance to proceed.</a:t>
            </a:r>
          </a:p>
        </p:txBody>
      </p:sp>
      <p:sp>
        <p:nvSpPr>
          <p:cNvPr id="13" name="Rounded Rectangle 12"/>
          <p:cNvSpPr/>
          <p:nvPr/>
        </p:nvSpPr>
        <p:spPr>
          <a:xfrm>
            <a:off x="786384" y="4626864"/>
            <a:ext cx="5172303" cy="129844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809744"/>
            <a:ext cx="4733391" cy="1371600"/>
          </a:xfrm>
          <a:prstGeom prst="rect">
            <a:avLst/>
          </a:prstGeom>
          <a:noFill/>
        </p:spPr>
        <p:txBody>
          <a:bodyPr wrap="square" lIns="0" rIns="0" tIns="0" bIns="0">
            <a:spAutoFit/>
          </a:bodyPr>
          <a:lstStyle/>
          <a:p>
            <a:pPr>
              <a:lnSpc>
                <a:spcPct val="95000"/>
              </a:lnSpc>
              <a:spcAft>
                <a:spcPts val="400"/>
              </a:spcAft>
            </a:pPr>
            <a:r>
              <a:rPr sz="2200" b="1">
                <a:solidFill>
                  <a:srgbClr val="0A5F65"/>
                </a:solidFill>
                <a:latin typeface="Outfit"/>
              </a:rPr>
              <a:t>1 : 5</a:t>
            </a:r>
          </a:p>
          <a:p>
            <a:pPr>
              <a:lnSpc>
                <a:spcPct val="135000"/>
              </a:lnSpc>
              <a:spcAft>
                <a:spcPts val="300"/>
              </a:spcAft>
            </a:pPr>
            <a:r>
              <a:rPr sz="800" b="0" cap="all" spc="160">
                <a:solidFill>
                  <a:srgbClr val="52737D"/>
                </a:solidFill>
                <a:latin typeface="IBM Plex Mono"/>
              </a:rPr>
              <a:t>BIDA staff ratio</a:t>
            </a:r>
          </a:p>
          <a:p>
            <a:pPr>
              <a:lnSpc>
                <a:spcPct val="135000"/>
              </a:lnSpc>
              <a:spcAft>
                <a:spcPts val="0"/>
              </a:spcAft>
            </a:pPr>
            <a:r>
              <a:rPr sz="850" b="0">
                <a:solidFill>
                  <a:srgbClr val="52737D"/>
                </a:solidFill>
                <a:latin typeface="Plus Jakarta Sans"/>
              </a:rPr>
              <a:t>One expatriate supported by at least five Bangladeshi or local employees.</a:t>
            </a:r>
          </a:p>
        </p:txBody>
      </p:sp>
      <p:sp>
        <p:nvSpPr>
          <p:cNvPr id="15" name="Rounded Rectangle 14"/>
          <p:cNvSpPr/>
          <p:nvPr/>
        </p:nvSpPr>
        <p:spPr>
          <a:xfrm>
            <a:off x="6233007" y="4626864"/>
            <a:ext cx="5172303" cy="129844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2463" y="4809744"/>
            <a:ext cx="4733391" cy="1371600"/>
          </a:xfrm>
          <a:prstGeom prst="rect">
            <a:avLst/>
          </a:prstGeom>
          <a:noFill/>
        </p:spPr>
        <p:txBody>
          <a:bodyPr wrap="square" lIns="0" rIns="0" tIns="0" bIns="0">
            <a:spAutoFit/>
          </a:bodyPr>
          <a:lstStyle/>
          <a:p>
            <a:pPr>
              <a:lnSpc>
                <a:spcPct val="95000"/>
              </a:lnSpc>
              <a:spcAft>
                <a:spcPts val="400"/>
              </a:spcAft>
            </a:pPr>
            <a:r>
              <a:rPr sz="2200" b="1">
                <a:solidFill>
                  <a:srgbClr val="0A5F65"/>
                </a:solidFill>
                <a:latin typeface="Outfit"/>
              </a:rPr>
              <a:t>USD 50,000</a:t>
            </a:r>
          </a:p>
          <a:p>
            <a:pPr>
              <a:lnSpc>
                <a:spcPct val="135000"/>
              </a:lnSpc>
              <a:spcAft>
                <a:spcPts val="300"/>
              </a:spcAft>
            </a:pPr>
            <a:r>
              <a:rPr sz="800" b="0" cap="all" spc="160">
                <a:solidFill>
                  <a:srgbClr val="52737D"/>
                </a:solidFill>
                <a:latin typeface="IBM Plex Mono"/>
              </a:rPr>
              <a:t>Minimum inward remittance</a:t>
            </a:r>
          </a:p>
          <a:p>
            <a:pPr>
              <a:lnSpc>
                <a:spcPct val="135000"/>
              </a:lnSpc>
              <a:spcAft>
                <a:spcPts val="0"/>
              </a:spcAft>
            </a:pPr>
            <a:r>
              <a:rPr sz="850" b="0">
                <a:solidFill>
                  <a:srgbClr val="52737D"/>
                </a:solidFill>
                <a:latin typeface="Plus Jakarta Sans"/>
              </a:rPr>
              <a:t>Minimum encashment certificate of inward remittance as initial establishment cost. Applies to branch, liaison and representative offices, joint ventures, and 100% foreign-owned companies.</a:t>
            </a:r>
          </a:p>
        </p:txBody>
      </p:sp>
      <p:sp>
        <p:nvSpPr>
          <p:cNvPr id="17" name="TextBox 16"/>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1  .  03  /  CAAB &amp; aviation approvals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Traffic rights and ground operating approvals.</a:t>
            </a:r>
          </a:p>
        </p:txBody>
      </p:sp>
      <p:sp>
        <p:nvSpPr>
          <p:cNvPr id="5" name="Rounded Rectangle 4"/>
          <p:cNvSpPr/>
          <p:nvPr/>
        </p:nvSpPr>
        <p:spPr>
          <a:xfrm>
            <a:off x="786384" y="1920240"/>
            <a:ext cx="3381146" cy="138988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942234" cy="102412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Operating</a:t>
            </a:r>
          </a:p>
          <a:p>
            <a:pPr>
              <a:lnSpc>
                <a:spcPct val="116000"/>
              </a:lnSpc>
              <a:spcAft>
                <a:spcPts val="500"/>
              </a:spcAft>
            </a:pPr>
            <a:r>
              <a:rPr sz="1100" b="1">
                <a:solidFill>
                  <a:srgbClr val="0E2830"/>
                </a:solidFill>
                <a:latin typeface="Outfit"/>
              </a:rPr>
              <a:t>Flight Operation Permission</a:t>
            </a:r>
          </a:p>
          <a:p>
            <a:pPr>
              <a:lnSpc>
                <a:spcPct val="140000"/>
              </a:lnSpc>
              <a:spcAft>
                <a:spcPts val="0"/>
              </a:spcAft>
            </a:pPr>
            <a:r>
              <a:rPr sz="919" b="0">
                <a:solidFill>
                  <a:srgbClr val="33555F"/>
                </a:solidFill>
                <a:latin typeface="Plus Jakarta Sans"/>
              </a:rPr>
              <a:t>Core CAAB approval to operate scheduled flights.</a:t>
            </a:r>
          </a:p>
        </p:txBody>
      </p:sp>
      <p:sp>
        <p:nvSpPr>
          <p:cNvPr id="7" name="Rounded Rectangle 6"/>
          <p:cNvSpPr/>
          <p:nvPr/>
        </p:nvSpPr>
        <p:spPr>
          <a:xfrm>
            <a:off x="4405274" y="1920240"/>
            <a:ext cx="3381146" cy="138988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4730" y="2103120"/>
            <a:ext cx="2942234" cy="102412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Commercial</a:t>
            </a:r>
          </a:p>
          <a:p>
            <a:pPr>
              <a:lnSpc>
                <a:spcPct val="116000"/>
              </a:lnSpc>
              <a:spcAft>
                <a:spcPts val="500"/>
              </a:spcAft>
            </a:pPr>
            <a:r>
              <a:rPr sz="1100" b="1">
                <a:solidFill>
                  <a:srgbClr val="0E2830"/>
                </a:solidFill>
                <a:latin typeface="Outfit"/>
              </a:rPr>
              <a:t>Approved Passenger Fare / Tariff</a:t>
            </a:r>
          </a:p>
          <a:p>
            <a:pPr>
              <a:lnSpc>
                <a:spcPct val="140000"/>
              </a:lnSpc>
              <a:spcAft>
                <a:spcPts val="0"/>
              </a:spcAft>
            </a:pPr>
            <a:r>
              <a:rPr sz="919" b="0">
                <a:solidFill>
                  <a:srgbClr val="33555F"/>
                </a:solidFill>
                <a:latin typeface="Plus Jakarta Sans"/>
              </a:rPr>
              <a:t>Fare filing approved before tickets can be sold.</a:t>
            </a:r>
          </a:p>
        </p:txBody>
      </p:sp>
      <p:sp>
        <p:nvSpPr>
          <p:cNvPr id="9" name="Rounded Rectangle 8"/>
          <p:cNvSpPr/>
          <p:nvPr/>
        </p:nvSpPr>
        <p:spPr>
          <a:xfrm>
            <a:off x="8024164" y="1920240"/>
            <a:ext cx="3381146" cy="138988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3620" y="2103120"/>
            <a:ext cx="2942234" cy="102412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Commercial</a:t>
            </a:r>
          </a:p>
          <a:p>
            <a:pPr>
              <a:lnSpc>
                <a:spcPct val="116000"/>
              </a:lnSpc>
              <a:spcAft>
                <a:spcPts val="500"/>
              </a:spcAft>
            </a:pPr>
            <a:r>
              <a:rPr sz="1100" b="1">
                <a:solidFill>
                  <a:srgbClr val="0E2830"/>
                </a:solidFill>
                <a:latin typeface="Outfit"/>
              </a:rPr>
              <a:t>Approved Cargo Rate / Tariff</a:t>
            </a:r>
          </a:p>
          <a:p>
            <a:pPr>
              <a:lnSpc>
                <a:spcPct val="140000"/>
              </a:lnSpc>
              <a:spcAft>
                <a:spcPts val="0"/>
              </a:spcAft>
            </a:pPr>
            <a:r>
              <a:rPr sz="919" b="0">
                <a:solidFill>
                  <a:srgbClr val="33555F"/>
                </a:solidFill>
                <a:latin typeface="Plus Jakarta Sans"/>
              </a:rPr>
              <a:t>Cargo tariff approved before space can be sold.</a:t>
            </a:r>
          </a:p>
        </p:txBody>
      </p:sp>
      <p:sp>
        <p:nvSpPr>
          <p:cNvPr id="11" name="Rounded Rectangle 10"/>
          <p:cNvSpPr/>
          <p:nvPr/>
        </p:nvSpPr>
        <p:spPr>
          <a:xfrm>
            <a:off x="786384" y="3547872"/>
            <a:ext cx="3381146" cy="138988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730752"/>
            <a:ext cx="2942234" cy="102412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Operating</a:t>
            </a:r>
          </a:p>
          <a:p>
            <a:pPr>
              <a:lnSpc>
                <a:spcPct val="116000"/>
              </a:lnSpc>
              <a:spcAft>
                <a:spcPts val="500"/>
              </a:spcAft>
            </a:pPr>
            <a:r>
              <a:rPr sz="1100" b="1">
                <a:solidFill>
                  <a:srgbClr val="0E2830"/>
                </a:solidFill>
                <a:latin typeface="Outfit"/>
              </a:rPr>
              <a:t>Flight Schedule</a:t>
            </a:r>
          </a:p>
          <a:p>
            <a:pPr>
              <a:lnSpc>
                <a:spcPct val="140000"/>
              </a:lnSpc>
              <a:spcAft>
                <a:spcPts val="0"/>
              </a:spcAft>
            </a:pPr>
            <a:r>
              <a:rPr sz="919" b="0">
                <a:solidFill>
                  <a:srgbClr val="33555F"/>
                </a:solidFill>
                <a:latin typeface="Plus Jakarta Sans"/>
              </a:rPr>
              <a:t>Timetable filed and approved. Changes need advance notice.</a:t>
            </a:r>
          </a:p>
        </p:txBody>
      </p:sp>
      <p:sp>
        <p:nvSpPr>
          <p:cNvPr id="13" name="Rounded Rectangle 12"/>
          <p:cNvSpPr/>
          <p:nvPr/>
        </p:nvSpPr>
        <p:spPr>
          <a:xfrm>
            <a:off x="4405274" y="3547872"/>
            <a:ext cx="3381146" cy="138988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4730" y="3730752"/>
            <a:ext cx="2942234" cy="1024128"/>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Representation</a:t>
            </a:r>
          </a:p>
          <a:p>
            <a:pPr>
              <a:lnSpc>
                <a:spcPct val="116000"/>
              </a:lnSpc>
              <a:spcAft>
                <a:spcPts val="500"/>
              </a:spcAft>
            </a:pPr>
            <a:r>
              <a:rPr sz="1100" b="1">
                <a:solidFill>
                  <a:srgbClr val="0E2830"/>
                </a:solidFill>
                <a:latin typeface="Outfit"/>
              </a:rPr>
              <a:t>GSA Appointment</a:t>
            </a:r>
          </a:p>
          <a:p>
            <a:pPr>
              <a:lnSpc>
                <a:spcPct val="140000"/>
              </a:lnSpc>
              <a:spcAft>
                <a:spcPts val="0"/>
              </a:spcAft>
            </a:pPr>
            <a:r>
              <a:rPr sz="919" b="0">
                <a:solidFill>
                  <a:srgbClr val="33555F"/>
                </a:solidFill>
                <a:latin typeface="Plus Jakarta Sans"/>
              </a:rPr>
              <a:t>Formal appointment of Flyport Ltd. as GSA, filed with CAAB.</a:t>
            </a:r>
          </a:p>
        </p:txBody>
      </p:sp>
      <p:sp>
        <p:nvSpPr>
          <p:cNvPr id="15" name="Rounded Rectangle 14"/>
          <p:cNvSpPr/>
          <p:nvPr/>
        </p:nvSpPr>
        <p:spPr>
          <a:xfrm>
            <a:off x="8024164" y="3547872"/>
            <a:ext cx="3381146" cy="138988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3620" y="3730752"/>
            <a:ext cx="2942234" cy="1024128"/>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Representation</a:t>
            </a:r>
          </a:p>
          <a:p>
            <a:pPr>
              <a:lnSpc>
                <a:spcPct val="116000"/>
              </a:lnSpc>
              <a:spcAft>
                <a:spcPts val="500"/>
              </a:spcAft>
            </a:pPr>
            <a:r>
              <a:rPr sz="1100" b="1">
                <a:solidFill>
                  <a:srgbClr val="0E2830"/>
                </a:solidFill>
                <a:latin typeface="Outfit"/>
              </a:rPr>
              <a:t>No Objection Certificate</a:t>
            </a:r>
          </a:p>
          <a:p>
            <a:pPr>
              <a:lnSpc>
                <a:spcPct val="140000"/>
              </a:lnSpc>
              <a:spcAft>
                <a:spcPts val="0"/>
              </a:spcAft>
            </a:pPr>
            <a:r>
              <a:rPr sz="919" b="0">
                <a:solidFill>
                  <a:srgbClr val="33555F"/>
                </a:solidFill>
                <a:latin typeface="Plus Jakarta Sans"/>
              </a:rPr>
              <a:t>NOC favouring the GSA, issued by CAAB.</a:t>
            </a:r>
          </a:p>
        </p:txBody>
      </p:sp>
      <p:sp>
        <p:nvSpPr>
          <p:cNvPr id="17" name="Rectangle 16"/>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Also required on an annual basis: agreements with CAAB and Biman Bangladesh for fuel uplift, catering and ground handling, plus city office, airport office and cargo-village lease agreements.</a:t>
            </a:r>
          </a:p>
        </p:txBody>
      </p:sp>
      <p:sp>
        <p:nvSpPr>
          <p:cNvPr id="19" name="TextBox 18"/>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2  .  04  /  Bangladesh Bank &amp; AD bank</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The regulatory foundation. Four SPA circulars.</a:t>
            </a:r>
          </a:p>
        </p:txBody>
      </p:sp>
      <p:sp>
        <p:nvSpPr>
          <p:cNvPr id="5" name="TextBox 4"/>
          <p:cNvSpPr txBox="1"/>
          <p:nvPr/>
        </p:nvSpPr>
        <p:spPr>
          <a:xfrm>
            <a:off x="786384" y="1700784"/>
            <a:ext cx="9509760" cy="914400"/>
          </a:xfrm>
          <a:prstGeom prst="rect">
            <a:avLst/>
          </a:prstGeom>
          <a:noFill/>
        </p:spPr>
        <p:txBody>
          <a:bodyPr wrap="square" lIns="0" rIns="0" tIns="0" bIns="0">
            <a:spAutoFit/>
          </a:bodyPr>
          <a:lstStyle/>
          <a:p>
            <a:pPr>
              <a:lnSpc>
                <a:spcPct val="142000"/>
              </a:lnSpc>
              <a:spcAft>
                <a:spcPts val="0"/>
              </a:spcAft>
            </a:pPr>
            <a:r>
              <a:rPr sz="1200" b="0">
                <a:solidFill>
                  <a:srgbClr val="33555F"/>
                </a:solidFill>
                <a:latin typeface="Plus Jakarta Sans"/>
              </a:rPr>
              <a:t>Every remittance mechanic in this pack traces back to one of these four Bangladesh Bank circulars.</a:t>
            </a:r>
          </a:p>
        </p:txBody>
      </p:sp>
      <p:sp>
        <p:nvSpPr>
          <p:cNvPr id="6" name="Rounded Rectangle 5"/>
          <p:cNvSpPr/>
          <p:nvPr/>
        </p:nvSpPr>
        <p:spPr>
          <a:xfrm>
            <a:off x="786384" y="2359152"/>
            <a:ext cx="2476423" cy="2615184"/>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542032"/>
            <a:ext cx="2037511" cy="2249424"/>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3 Sep 2020  .  SPA Circular No. 1</a:t>
            </a:r>
          </a:p>
          <a:p>
            <a:pPr>
              <a:lnSpc>
                <a:spcPct val="116000"/>
              </a:lnSpc>
              <a:spcAft>
                <a:spcPts val="500"/>
              </a:spcAft>
            </a:pPr>
            <a:r>
              <a:rPr sz="1100" b="1">
                <a:solidFill>
                  <a:srgbClr val="0E2830"/>
                </a:solidFill>
                <a:latin typeface="Outfit"/>
              </a:rPr>
              <a:t>Remittance of Surplus Earnings</a:t>
            </a:r>
          </a:p>
          <a:p>
            <a:pPr>
              <a:lnSpc>
                <a:spcPct val="140000"/>
              </a:lnSpc>
              <a:spcAft>
                <a:spcPts val="0"/>
              </a:spcAft>
            </a:pPr>
            <a:r>
              <a:rPr sz="900" b="0">
                <a:solidFill>
                  <a:srgbClr val="33555F"/>
                </a:solidFill>
                <a:latin typeface="Plus Jakarta Sans"/>
              </a:rPr>
              <a:t>Foundational circular: surplus-earnings basis, 10% refund provision, BSP billing summary replaces Form P and P-2.</a:t>
            </a:r>
          </a:p>
        </p:txBody>
      </p:sp>
      <p:sp>
        <p:nvSpPr>
          <p:cNvPr id="8" name="Rounded Rectangle 7"/>
          <p:cNvSpPr/>
          <p:nvPr/>
        </p:nvSpPr>
        <p:spPr>
          <a:xfrm>
            <a:off x="3500551" y="2359152"/>
            <a:ext cx="2476423" cy="2615184"/>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0007" y="2542032"/>
            <a:ext cx="2037511" cy="2249424"/>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15 Nov 2021  .  SPA Circular No. 1</a:t>
            </a:r>
          </a:p>
          <a:p>
            <a:pPr>
              <a:lnSpc>
                <a:spcPct val="116000"/>
              </a:lnSpc>
              <a:spcAft>
                <a:spcPts val="500"/>
              </a:spcAft>
            </a:pPr>
            <a:r>
              <a:rPr sz="1100" b="1">
                <a:solidFill>
                  <a:srgbClr val="0E2830"/>
                </a:solidFill>
                <a:latin typeface="Outfit"/>
              </a:rPr>
              <a:t>Fuel / Oil Purchase in FX</a:t>
            </a:r>
          </a:p>
          <a:p>
            <a:pPr>
              <a:lnSpc>
                <a:spcPct val="140000"/>
              </a:lnSpc>
              <a:spcAft>
                <a:spcPts val="0"/>
              </a:spcAft>
            </a:pPr>
            <a:r>
              <a:rPr sz="900" b="0">
                <a:solidFill>
                  <a:srgbClr val="33555F"/>
                </a:solidFill>
                <a:latin typeface="Plus Jakarta Sans"/>
              </a:rPr>
              <a:t>ADs may issue foreign-exchange drafts favouring state-owned fuel and oil companies for local purchases.</a:t>
            </a:r>
          </a:p>
        </p:txBody>
      </p:sp>
      <p:sp>
        <p:nvSpPr>
          <p:cNvPr id="10" name="Rounded Rectangle 9"/>
          <p:cNvSpPr/>
          <p:nvPr/>
        </p:nvSpPr>
        <p:spPr>
          <a:xfrm>
            <a:off x="6214719" y="2359152"/>
            <a:ext cx="2476423" cy="2615184"/>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4175" y="2542032"/>
            <a:ext cx="2037511" cy="2249424"/>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21 Nov 2021  .  SPA Circular No. 02</a:t>
            </a:r>
          </a:p>
          <a:p>
            <a:pPr>
              <a:lnSpc>
                <a:spcPct val="116000"/>
              </a:lnSpc>
              <a:spcAft>
                <a:spcPts val="500"/>
              </a:spcAft>
            </a:pPr>
            <a:r>
              <a:rPr sz="1100" b="1">
                <a:solidFill>
                  <a:srgbClr val="0E2830"/>
                </a:solidFill>
                <a:latin typeface="Outfit"/>
              </a:rPr>
              <a:t>Separate Accounts per Carrier</a:t>
            </a:r>
          </a:p>
          <a:p>
            <a:pPr>
              <a:lnSpc>
                <a:spcPct val="140000"/>
              </a:lnSpc>
              <a:spcAft>
                <a:spcPts val="0"/>
              </a:spcAft>
            </a:pPr>
            <a:r>
              <a:rPr sz="900" b="0">
                <a:solidFill>
                  <a:srgbClr val="33555F"/>
                </a:solidFill>
                <a:latin typeface="Plus Jakarta Sans"/>
              </a:rPr>
              <a:t>GSAs representing multiple airlines must keep a dedicated bank account for each one.</a:t>
            </a:r>
          </a:p>
        </p:txBody>
      </p:sp>
      <p:sp>
        <p:nvSpPr>
          <p:cNvPr id="12" name="Rounded Rectangle 11"/>
          <p:cNvSpPr/>
          <p:nvPr/>
        </p:nvSpPr>
        <p:spPr>
          <a:xfrm>
            <a:off x="8928887" y="2359152"/>
            <a:ext cx="2476423" cy="2615184"/>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8343" y="2542032"/>
            <a:ext cx="2037511" cy="2249424"/>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9 Aug 2023  .  SPA Circular No. 3</a:t>
            </a:r>
          </a:p>
          <a:p>
            <a:pPr>
              <a:lnSpc>
                <a:spcPct val="116000"/>
              </a:lnSpc>
              <a:spcAft>
                <a:spcPts val="500"/>
              </a:spcAft>
            </a:pPr>
            <a:r>
              <a:rPr sz="1100" b="1">
                <a:solidFill>
                  <a:srgbClr val="0E2830"/>
                </a:solidFill>
                <a:latin typeface="Outfit"/>
              </a:rPr>
              <a:t>OEMS / OIMS Freight Certificates</a:t>
            </a:r>
          </a:p>
          <a:p>
            <a:pPr>
              <a:lnSpc>
                <a:spcPct val="140000"/>
              </a:lnSpc>
              <a:spcAft>
                <a:spcPts val="0"/>
              </a:spcAft>
            </a:pPr>
            <a:r>
              <a:rPr sz="900" b="0">
                <a:solidFill>
                  <a:srgbClr val="33555F"/>
                </a:solidFill>
                <a:latin typeface="Plus Jakarta Sans"/>
              </a:rPr>
              <a:t>Digital Form FF-Export Prepaid and FF-Import Collect replace manual freight certificates.</a:t>
            </a:r>
          </a:p>
        </p:txBody>
      </p:sp>
      <p:sp>
        <p:nvSpPr>
          <p:cNvPr id="14" name="Rectangle 13"/>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These four are the complete legal spine for airline remittance in Bangladesh as it stands. Everything on the following six slides is an application of one of them.</a:t>
            </a:r>
          </a:p>
        </p:txBody>
      </p:sp>
      <p:sp>
        <p:nvSpPr>
          <p:cNvPr id="16" name="TextBox 15"/>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2  .  05  /  Bangladesh Bank &amp; AD bank</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Core remittance principle, and one account per carrier.</a:t>
            </a:r>
          </a:p>
        </p:txBody>
      </p:sp>
      <p:sp>
        <p:nvSpPr>
          <p:cNvPr id="5" name="Rounded Rectangle 4"/>
          <p:cNvSpPr/>
          <p:nvPr/>
        </p:nvSpPr>
        <p:spPr>
          <a:xfrm>
            <a:off x="786384" y="1920240"/>
            <a:ext cx="5163159" cy="356616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724247" cy="219456"/>
          </a:xfrm>
          <a:prstGeom prst="rect">
            <a:avLst/>
          </a:prstGeom>
          <a:noFill/>
        </p:spPr>
        <p:txBody>
          <a:bodyPr wrap="square" lIns="0" rIns="0" tIns="0" bIns="0">
            <a:spAutoFit/>
          </a:bodyPr>
          <a:lstStyle/>
          <a:p>
            <a:pPr>
              <a:lnSpc>
                <a:spcPct val="135000"/>
              </a:lnSpc>
              <a:spcAft>
                <a:spcPts val="0"/>
              </a:spcAft>
            </a:pPr>
            <a:r>
              <a:rPr sz="800" b="0" cap="all" spc="180">
                <a:solidFill>
                  <a:srgbClr val="0C7A80"/>
                </a:solidFill>
                <a:latin typeface="IBM Plex Mono"/>
              </a:rPr>
              <a:t>From the 2020 foundational circular</a:t>
            </a:r>
          </a:p>
        </p:txBody>
      </p:sp>
      <p:sp>
        <p:nvSpPr>
          <p:cNvPr id="7" name="TextBox 6"/>
          <p:cNvSpPr txBox="1"/>
          <p:nvPr/>
        </p:nvSpPr>
        <p:spPr>
          <a:xfrm>
            <a:off x="1005840" y="2340864"/>
            <a:ext cx="4724247" cy="384048"/>
          </a:xfrm>
          <a:prstGeom prst="rect">
            <a:avLst/>
          </a:prstGeom>
          <a:noFill/>
        </p:spPr>
        <p:txBody>
          <a:bodyPr wrap="square" lIns="0" rIns="0" tIns="0" bIns="0">
            <a:spAutoFit/>
          </a:bodyPr>
          <a:lstStyle/>
          <a:p>
            <a:pPr>
              <a:lnSpc>
                <a:spcPct val="116000"/>
              </a:lnSpc>
              <a:spcAft>
                <a:spcPts val="0"/>
              </a:spcAft>
            </a:pPr>
            <a:r>
              <a:rPr sz="1200" b="1">
                <a:solidFill>
                  <a:srgbClr val="0E2830"/>
                </a:solidFill>
                <a:latin typeface="Outfit"/>
              </a:rPr>
              <a:t>Surplus earnings, and what the AD bank must see</a:t>
            </a:r>
          </a:p>
        </p:txBody>
      </p:sp>
      <p:sp>
        <p:nvSpPr>
          <p:cNvPr id="8" name="Oval 7"/>
          <p:cNvSpPr/>
          <p:nvPr/>
        </p:nvSpPr>
        <p:spPr>
          <a:xfrm>
            <a:off x="1024128" y="273862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9576" y="2670048"/>
            <a:ext cx="4532223" cy="822960"/>
          </a:xfrm>
          <a:prstGeom prst="rect">
            <a:avLst/>
          </a:prstGeom>
          <a:noFill/>
        </p:spPr>
        <p:txBody>
          <a:bodyPr wrap="square" lIns="0" rIns="0" tIns="0" bIns="0">
            <a:spAutoFit/>
          </a:bodyPr>
          <a:lstStyle/>
          <a:p>
            <a:pPr>
              <a:lnSpc>
                <a:spcPct val="136000"/>
              </a:lnSpc>
              <a:spcAft>
                <a:spcPts val="0"/>
              </a:spcAft>
            </a:pPr>
            <a:r>
              <a:rPr sz="950" b="0">
                <a:solidFill>
                  <a:srgbClr val="33555F"/>
                </a:solidFill>
                <a:latin typeface="Plus Jakarta Sans"/>
              </a:rPr>
              <a:t>Surplus earnings are calculated on the basis of passage and freight collections.</a:t>
            </a:r>
          </a:p>
        </p:txBody>
      </p:sp>
      <p:sp>
        <p:nvSpPr>
          <p:cNvPr id="10" name="Oval 9"/>
          <p:cNvSpPr/>
          <p:nvPr/>
        </p:nvSpPr>
        <p:spPr>
          <a:xfrm>
            <a:off x="1024128" y="3142996"/>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9576" y="3074416"/>
            <a:ext cx="4532223" cy="822960"/>
          </a:xfrm>
          <a:prstGeom prst="rect">
            <a:avLst/>
          </a:prstGeom>
          <a:noFill/>
        </p:spPr>
        <p:txBody>
          <a:bodyPr wrap="square" lIns="0" rIns="0" tIns="0" bIns="0">
            <a:spAutoFit/>
          </a:bodyPr>
          <a:lstStyle/>
          <a:p>
            <a:pPr>
              <a:lnSpc>
                <a:spcPct val="136000"/>
              </a:lnSpc>
              <a:spcAft>
                <a:spcPts val="0"/>
              </a:spcAft>
            </a:pPr>
            <a:r>
              <a:rPr sz="950" b="0">
                <a:solidFill>
                  <a:srgbClr val="33555F"/>
                </a:solidFill>
                <a:latin typeface="Plus Jakarta Sans"/>
              </a:rPr>
              <a:t>ADs remit on actual realization if collections are bank-statement supported, a minimum 10% provision is held for refunds on unavailed journeys, and disbursements and tax are properly adjusted.</a:t>
            </a:r>
          </a:p>
        </p:txBody>
      </p:sp>
      <p:sp>
        <p:nvSpPr>
          <p:cNvPr id="12" name="Oval 11"/>
          <p:cNvSpPr/>
          <p:nvPr/>
        </p:nvSpPr>
        <p:spPr>
          <a:xfrm>
            <a:off x="1024128" y="371144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9576" y="3642868"/>
            <a:ext cx="4532223" cy="822960"/>
          </a:xfrm>
          <a:prstGeom prst="rect">
            <a:avLst/>
          </a:prstGeom>
          <a:noFill/>
        </p:spPr>
        <p:txBody>
          <a:bodyPr wrap="square" lIns="0" rIns="0" tIns="0" bIns="0">
            <a:spAutoFit/>
          </a:bodyPr>
          <a:lstStyle/>
          <a:p>
            <a:pPr>
              <a:lnSpc>
                <a:spcPct val="136000"/>
              </a:lnSpc>
              <a:spcAft>
                <a:spcPts val="0"/>
              </a:spcAft>
            </a:pPr>
            <a:r>
              <a:rPr sz="950" b="0">
                <a:solidFill>
                  <a:srgbClr val="33555F"/>
                </a:solidFill>
                <a:latin typeface="Plus Jakarta Sans"/>
              </a:rPr>
              <a:t>Unused provision from the prior period is added back in the following period.</a:t>
            </a:r>
          </a:p>
        </p:txBody>
      </p:sp>
      <p:sp>
        <p:nvSpPr>
          <p:cNvPr id="14" name="Oval 13"/>
          <p:cNvSpPr/>
          <p:nvPr/>
        </p:nvSpPr>
        <p:spPr>
          <a:xfrm>
            <a:off x="1024128" y="4115816"/>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9576" y="4047236"/>
            <a:ext cx="4532223" cy="822960"/>
          </a:xfrm>
          <a:prstGeom prst="rect">
            <a:avLst/>
          </a:prstGeom>
          <a:noFill/>
        </p:spPr>
        <p:txBody>
          <a:bodyPr wrap="square" lIns="0" rIns="0" tIns="0" bIns="0">
            <a:spAutoFit/>
          </a:bodyPr>
          <a:lstStyle/>
          <a:p>
            <a:pPr>
              <a:lnSpc>
                <a:spcPct val="136000"/>
              </a:lnSpc>
              <a:spcAft>
                <a:spcPts val="0"/>
              </a:spcAft>
            </a:pPr>
            <a:r>
              <a:rPr sz="950" b="0">
                <a:solidFill>
                  <a:srgbClr val="33555F"/>
                </a:solidFill>
                <a:latin typeface="Plus Jakarta Sans"/>
              </a:rPr>
              <a:t>Remittance is only allowed from available funds, never borrowed funds, in the designated account.</a:t>
            </a:r>
          </a:p>
        </p:txBody>
      </p:sp>
      <p:sp>
        <p:nvSpPr>
          <p:cNvPr id="16" name="Rounded Rectangle 15"/>
          <p:cNvSpPr/>
          <p:nvPr/>
        </p:nvSpPr>
        <p:spPr>
          <a:xfrm>
            <a:off x="6242151" y="1920240"/>
            <a:ext cx="5163159" cy="356616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1607" y="2103120"/>
            <a:ext cx="4724247" cy="3200400"/>
          </a:xfrm>
          <a:prstGeom prst="rect">
            <a:avLst/>
          </a:prstGeom>
          <a:noFill/>
        </p:spPr>
        <p:txBody>
          <a:bodyPr wrap="square" lIns="0" rIns="0" tIns="0" bIns="0">
            <a:spAutoFit/>
          </a:bodyPr>
          <a:lstStyle/>
          <a:p>
            <a:pPr>
              <a:lnSpc>
                <a:spcPct val="135000"/>
              </a:lnSpc>
              <a:spcAft>
                <a:spcPts val="600"/>
              </a:spcAft>
            </a:pPr>
            <a:r>
              <a:rPr sz="800" b="0" cap="all" spc="180">
                <a:solidFill>
                  <a:srgbClr val="C10073"/>
                </a:solidFill>
                <a:latin typeface="IBM Plex Mono"/>
              </a:rPr>
              <a:t>2021 Circular No. 02  .  dedicated accounts</a:t>
            </a:r>
          </a:p>
          <a:p>
            <a:pPr>
              <a:lnSpc>
                <a:spcPct val="116000"/>
              </a:lnSpc>
              <a:spcAft>
                <a:spcPts val="800"/>
              </a:spcAft>
            </a:pPr>
            <a:r>
              <a:rPr sz="1200" b="1">
                <a:solidFill>
                  <a:srgbClr val="0E2830"/>
                </a:solidFill>
                <a:latin typeface="Outfit"/>
              </a:rPr>
              <a:t>No restriction on representing more than one airline</a:t>
            </a:r>
          </a:p>
          <a:p>
            <a:pPr>
              <a:lnSpc>
                <a:spcPct val="140000"/>
              </a:lnSpc>
              <a:spcAft>
                <a:spcPts val="900"/>
              </a:spcAft>
            </a:pPr>
            <a:r>
              <a:rPr sz="950" b="0">
                <a:solidFill>
                  <a:srgbClr val="33555F"/>
                </a:solidFill>
                <a:latin typeface="Plus Jakarta Sans"/>
              </a:rPr>
              <a:t>A resident entity may act as GSA for more than one carrier. But to bring discipline to remittances:</a:t>
            </a:r>
          </a:p>
          <a:p>
            <a:pPr>
              <a:lnSpc>
                <a:spcPct val="140000"/>
              </a:lnSpc>
              <a:spcAft>
                <a:spcPts val="900"/>
              </a:spcAft>
            </a:pPr>
            <a:r>
              <a:rPr sz="950" b="0">
                <a:solidFill>
                  <a:srgbClr val="C10073"/>
                </a:solidFill>
                <a:latin typeface="Plus Jakarta Sans"/>
              </a:rPr>
              <a:t>A separate, dedicated bank account is required for each airline or shipping line represented. Collections for Vietnam Airlines must stay in their own account, distinct from any other principal Flyport represents.</a:t>
            </a:r>
          </a:p>
          <a:p>
            <a:pPr>
              <a:lnSpc>
                <a:spcPct val="140000"/>
              </a:lnSpc>
              <a:spcAft>
                <a:spcPts val="0"/>
              </a:spcAft>
            </a:pPr>
            <a:r>
              <a:rPr sz="950" b="0">
                <a:solidFill>
                  <a:srgbClr val="33555F"/>
                </a:solidFill>
                <a:latin typeface="Plus Jakarta Sans"/>
              </a:rPr>
              <a:t>ADs were required to guide multi-carrier GSAs to separate accounts within three months of issuance.</a:t>
            </a:r>
          </a:p>
        </p:txBody>
      </p:sp>
      <p:sp>
        <p:nvSpPr>
          <p:cNvPr id="18" name="TextBox 17"/>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2  .  06  /  Bangladesh Bank &amp; AD bank</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The AD bank's role, and the waiver-clause bridge.</a:t>
            </a:r>
          </a:p>
        </p:txBody>
      </p:sp>
      <p:sp>
        <p:nvSpPr>
          <p:cNvPr id="5" name="TextBox 4"/>
          <p:cNvSpPr txBox="1"/>
          <p:nvPr/>
        </p:nvSpPr>
        <p:spPr>
          <a:xfrm>
            <a:off x="786384" y="1700784"/>
            <a:ext cx="10241280" cy="914400"/>
          </a:xfrm>
          <a:prstGeom prst="rect">
            <a:avLst/>
          </a:prstGeom>
          <a:noFill/>
        </p:spPr>
        <p:txBody>
          <a:bodyPr wrap="square" lIns="0" rIns="0" tIns="0" bIns="0">
            <a:spAutoFit/>
          </a:bodyPr>
          <a:lstStyle/>
          <a:p>
            <a:pPr>
              <a:lnSpc>
                <a:spcPct val="142000"/>
              </a:lnSpc>
              <a:spcAft>
                <a:spcPts val="0"/>
              </a:spcAft>
            </a:pPr>
            <a:r>
              <a:rPr sz="1150" b="0">
                <a:solidFill>
                  <a:srgbClr val="33555F"/>
                </a:solidFill>
                <a:latin typeface="Plus Jakarta Sans"/>
              </a:rPr>
              <a:t>An Authorized Dealer bank maintains a dedicated account and transaction records for Vietnam Airlines, ensuring segregation, monitoring, disbursement, reconciliation and remittance. It then executes all procedure in favour of the airline and submits remittance documents to Bangladesh Bank.</a:t>
            </a:r>
          </a:p>
        </p:txBody>
      </p:sp>
      <p:sp>
        <p:nvSpPr>
          <p:cNvPr id="6" name="Rounded Rectangle 5"/>
          <p:cNvSpPr/>
          <p:nvPr/>
        </p:nvSpPr>
        <p:spPr>
          <a:xfrm>
            <a:off x="786384" y="2615184"/>
            <a:ext cx="5172303" cy="148132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798064"/>
            <a:ext cx="4733391" cy="1115568"/>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Carried over from Part 1</a:t>
            </a:r>
          </a:p>
          <a:p>
            <a:pPr>
              <a:lnSpc>
                <a:spcPct val="116000"/>
              </a:lnSpc>
              <a:spcAft>
                <a:spcPts val="500"/>
              </a:spcAft>
            </a:pPr>
            <a:r>
              <a:rPr sz="1150" b="1">
                <a:solidFill>
                  <a:srgbClr val="0E2830"/>
                </a:solidFill>
                <a:latin typeface="Outfit"/>
              </a:rPr>
              <a:t>Waiver Clause 7 &amp; 8</a:t>
            </a:r>
          </a:p>
          <a:p>
            <a:pPr>
              <a:lnSpc>
                <a:spcPct val="140000"/>
              </a:lnSpc>
              <a:spcAft>
                <a:spcPts val="0"/>
              </a:spcAft>
            </a:pPr>
            <a:r>
              <a:rPr sz="950" b="0">
                <a:solidFill>
                  <a:srgbClr val="33555F"/>
                </a:solidFill>
                <a:latin typeface="Plus Jakarta Sans"/>
              </a:rPr>
              <a:t>The same BIDA permission-letter conditions. Bangladesh Bank and the AD bank rely on these being satisfied before outward remittance can proceed.</a:t>
            </a:r>
          </a:p>
        </p:txBody>
      </p:sp>
      <p:sp>
        <p:nvSpPr>
          <p:cNvPr id="8" name="Rounded Rectangle 7"/>
          <p:cNvSpPr/>
          <p:nvPr/>
        </p:nvSpPr>
        <p:spPr>
          <a:xfrm>
            <a:off x="6233007" y="2615184"/>
            <a:ext cx="517230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2463" y="2798064"/>
            <a:ext cx="473339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One-time</a:t>
            </a:r>
          </a:p>
          <a:p>
            <a:pPr>
              <a:lnSpc>
                <a:spcPct val="116000"/>
              </a:lnSpc>
              <a:spcAft>
                <a:spcPts val="500"/>
              </a:spcAft>
            </a:pPr>
            <a:r>
              <a:rPr sz="1150" b="1">
                <a:solidFill>
                  <a:srgbClr val="0E2830"/>
                </a:solidFill>
                <a:latin typeface="Outfit"/>
              </a:rPr>
              <a:t>Notification to Central Bank</a:t>
            </a:r>
          </a:p>
          <a:p>
            <a:pPr>
              <a:lnSpc>
                <a:spcPct val="140000"/>
              </a:lnSpc>
              <a:spcAft>
                <a:spcPts val="0"/>
              </a:spcAft>
            </a:pPr>
            <a:r>
              <a:rPr sz="950" b="0">
                <a:solidFill>
                  <a:srgbClr val="33555F"/>
                </a:solidFill>
                <a:latin typeface="Plus Jakarta Sans"/>
              </a:rPr>
              <a:t>Formal notification to Bangladesh Bank of Flyport as the appointed GSA for Vietnam Airlines.</a:t>
            </a:r>
          </a:p>
        </p:txBody>
      </p:sp>
      <p:sp>
        <p:nvSpPr>
          <p:cNvPr id="10" name="Rounded Rectangle 9"/>
          <p:cNvSpPr/>
          <p:nvPr/>
        </p:nvSpPr>
        <p:spPr>
          <a:xfrm>
            <a:off x="786384" y="4352544"/>
            <a:ext cx="517230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35424"/>
            <a:ext cx="473339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Recurring</a:t>
            </a:r>
          </a:p>
          <a:p>
            <a:pPr>
              <a:lnSpc>
                <a:spcPct val="116000"/>
              </a:lnSpc>
              <a:spcAft>
                <a:spcPts val="500"/>
              </a:spcAft>
            </a:pPr>
            <a:r>
              <a:rPr sz="1150" b="1">
                <a:solidFill>
                  <a:srgbClr val="0E2830"/>
                </a:solidFill>
                <a:latin typeface="Outfit"/>
              </a:rPr>
              <a:t>Monthly Reporting</a:t>
            </a:r>
          </a:p>
          <a:p>
            <a:pPr>
              <a:lnSpc>
                <a:spcPct val="140000"/>
              </a:lnSpc>
              <a:spcAft>
                <a:spcPts val="0"/>
              </a:spcAft>
            </a:pPr>
            <a:r>
              <a:rPr sz="950" b="0">
                <a:solidFill>
                  <a:srgbClr val="33555F"/>
                </a:solidFill>
                <a:latin typeface="Plus Jakarta Sans"/>
              </a:rPr>
              <a:t>Routine monthly reporting to Bangladesh Bank on the airline's collections and remittances.</a:t>
            </a:r>
          </a:p>
        </p:txBody>
      </p:sp>
      <p:sp>
        <p:nvSpPr>
          <p:cNvPr id="12" name="Rounded Rectangle 11"/>
          <p:cNvSpPr/>
          <p:nvPr/>
        </p:nvSpPr>
        <p:spPr>
          <a:xfrm>
            <a:off x="6233007" y="4352544"/>
            <a:ext cx="517230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2463" y="4535424"/>
            <a:ext cx="473339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Recurring</a:t>
            </a:r>
          </a:p>
          <a:p>
            <a:pPr>
              <a:lnSpc>
                <a:spcPct val="116000"/>
              </a:lnSpc>
              <a:spcAft>
                <a:spcPts val="500"/>
              </a:spcAft>
            </a:pPr>
            <a:r>
              <a:rPr sz="1150" b="1">
                <a:solidFill>
                  <a:srgbClr val="0E2830"/>
                </a:solidFill>
                <a:latin typeface="Outfit"/>
              </a:rPr>
              <a:t>Monthly Post-Facto Approval</a:t>
            </a:r>
          </a:p>
          <a:p>
            <a:pPr>
              <a:lnSpc>
                <a:spcPct val="140000"/>
              </a:lnSpc>
              <a:spcAft>
                <a:spcPts val="0"/>
              </a:spcAft>
            </a:pPr>
            <a:r>
              <a:rPr sz="950" b="0">
                <a:solidFill>
                  <a:srgbClr val="33555F"/>
                </a:solidFill>
                <a:latin typeface="Plus Jakarta Sans"/>
              </a:rPr>
              <a:t>Each month's remittance is submitted for Bangladesh Bank's after-the-fact approval.</a:t>
            </a:r>
          </a:p>
        </p:txBody>
      </p:sp>
      <p:sp>
        <p:nvSpPr>
          <p:cNvPr id="14" name="TextBox 13"/>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2  .  07  /  Bangladesh Bank &amp; AD bank</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Two special-purpose foreign-exchange mechanisms.</a:t>
            </a:r>
          </a:p>
        </p:txBody>
      </p:sp>
      <p:sp>
        <p:nvSpPr>
          <p:cNvPr id="5" name="Rounded Rectangle 4"/>
          <p:cNvSpPr/>
          <p:nvPr/>
        </p:nvSpPr>
        <p:spPr>
          <a:xfrm>
            <a:off x="786384" y="1920240"/>
            <a:ext cx="5163159" cy="3749039"/>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724247" cy="219456"/>
          </a:xfrm>
          <a:prstGeom prst="rect">
            <a:avLst/>
          </a:prstGeom>
          <a:noFill/>
        </p:spPr>
        <p:txBody>
          <a:bodyPr wrap="square" lIns="0" rIns="0" tIns="0" bIns="0">
            <a:spAutoFit/>
          </a:bodyPr>
          <a:lstStyle/>
          <a:p>
            <a:pPr>
              <a:lnSpc>
                <a:spcPct val="135000"/>
              </a:lnSpc>
              <a:spcAft>
                <a:spcPts val="0"/>
              </a:spcAft>
            </a:pPr>
            <a:r>
              <a:rPr sz="800" b="0" cap="all" spc="180">
                <a:solidFill>
                  <a:srgbClr val="0C7A80"/>
                </a:solidFill>
                <a:latin typeface="IBM Plex Mono"/>
              </a:rPr>
              <a:t>2021 Circular No. 1</a:t>
            </a:r>
          </a:p>
        </p:txBody>
      </p:sp>
      <p:sp>
        <p:nvSpPr>
          <p:cNvPr id="7" name="TextBox 6"/>
          <p:cNvSpPr txBox="1"/>
          <p:nvPr/>
        </p:nvSpPr>
        <p:spPr>
          <a:xfrm>
            <a:off x="1005840" y="2340864"/>
            <a:ext cx="4724247" cy="384048"/>
          </a:xfrm>
          <a:prstGeom prst="rect">
            <a:avLst/>
          </a:prstGeom>
          <a:noFill/>
        </p:spPr>
        <p:txBody>
          <a:bodyPr wrap="square" lIns="0" rIns="0" tIns="0" bIns="0">
            <a:spAutoFit/>
          </a:bodyPr>
          <a:lstStyle/>
          <a:p>
            <a:pPr>
              <a:lnSpc>
                <a:spcPct val="116000"/>
              </a:lnSpc>
              <a:spcAft>
                <a:spcPts val="0"/>
              </a:spcAft>
            </a:pPr>
            <a:r>
              <a:rPr sz="1200" b="1">
                <a:solidFill>
                  <a:srgbClr val="0E2830"/>
                </a:solidFill>
                <a:latin typeface="Outfit"/>
              </a:rPr>
              <a:t>Fuel / oil purchase in foreign exchange</a:t>
            </a:r>
          </a:p>
        </p:txBody>
      </p:sp>
      <p:sp>
        <p:nvSpPr>
          <p:cNvPr id="8" name="Oval 7"/>
          <p:cNvSpPr/>
          <p:nvPr/>
        </p:nvSpPr>
        <p:spPr>
          <a:xfrm>
            <a:off x="1024128" y="273862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9576" y="2670048"/>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Airlines already pay local expenses from local earnings under GFET.</a:t>
            </a:r>
          </a:p>
        </p:txBody>
      </p:sp>
      <p:sp>
        <p:nvSpPr>
          <p:cNvPr id="10" name="Oval 9"/>
          <p:cNvSpPr/>
          <p:nvPr/>
        </p:nvSpPr>
        <p:spPr>
          <a:xfrm>
            <a:off x="1024128" y="2973730"/>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9576" y="2905150"/>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To ease fuel and oil purchase, the AD bank may issue FX drafts favouring state-owned fuel and oil selling companies.</a:t>
            </a:r>
          </a:p>
        </p:txBody>
      </p:sp>
      <p:sp>
        <p:nvSpPr>
          <p:cNvPr id="12" name="Oval 11"/>
          <p:cNvSpPr/>
          <p:nvPr/>
        </p:nvSpPr>
        <p:spPr>
          <a:xfrm>
            <a:off x="1024128" y="3367735"/>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9576" y="3299155"/>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Equivalent Taka must be shown in the disbursement statement with documentary evidence.</a:t>
            </a:r>
          </a:p>
        </p:txBody>
      </p:sp>
      <p:sp>
        <p:nvSpPr>
          <p:cNvPr id="14" name="Oval 13"/>
          <p:cNvSpPr/>
          <p:nvPr/>
        </p:nvSpPr>
        <p:spPr>
          <a:xfrm>
            <a:off x="1024128" y="3761740"/>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9576" y="3693160"/>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Payments are reported via the online TM Form monitoring system, with schedules to Bangladesh Bank's Statistics Department.</a:t>
            </a:r>
          </a:p>
        </p:txBody>
      </p:sp>
      <p:sp>
        <p:nvSpPr>
          <p:cNvPr id="16" name="Oval 15"/>
          <p:cNvSpPr/>
          <p:nvPr/>
        </p:nvSpPr>
        <p:spPr>
          <a:xfrm>
            <a:off x="1024128" y="4155744"/>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9576" y="4087164"/>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ADs receiving the FX drafts may retain amounts in margin or approved FC accounts, with Bangladesh Bank permission, used only for import-payment settlement.</a:t>
            </a:r>
          </a:p>
        </p:txBody>
      </p:sp>
      <p:sp>
        <p:nvSpPr>
          <p:cNvPr id="18" name="Rounded Rectangle 17"/>
          <p:cNvSpPr/>
          <p:nvPr/>
        </p:nvSpPr>
        <p:spPr>
          <a:xfrm>
            <a:off x="6242151" y="1920240"/>
            <a:ext cx="5163159" cy="3749039"/>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1607" y="2103120"/>
            <a:ext cx="4724247" cy="219456"/>
          </a:xfrm>
          <a:prstGeom prst="rect">
            <a:avLst/>
          </a:prstGeom>
          <a:noFill/>
        </p:spPr>
        <p:txBody>
          <a:bodyPr wrap="square" lIns="0" rIns="0" tIns="0" bIns="0">
            <a:spAutoFit/>
          </a:bodyPr>
          <a:lstStyle/>
          <a:p>
            <a:pPr>
              <a:lnSpc>
                <a:spcPct val="135000"/>
              </a:lnSpc>
              <a:spcAft>
                <a:spcPts val="0"/>
              </a:spcAft>
            </a:pPr>
            <a:r>
              <a:rPr sz="800" b="0" cap="all" spc="180">
                <a:solidFill>
                  <a:srgbClr val="C10073"/>
                </a:solidFill>
                <a:latin typeface="IBM Plex Mono"/>
              </a:rPr>
              <a:t>2023 Circular No. 3</a:t>
            </a:r>
          </a:p>
        </p:txBody>
      </p:sp>
      <p:sp>
        <p:nvSpPr>
          <p:cNvPr id="20" name="TextBox 19"/>
          <p:cNvSpPr txBox="1"/>
          <p:nvPr/>
        </p:nvSpPr>
        <p:spPr>
          <a:xfrm>
            <a:off x="6461607" y="2340864"/>
            <a:ext cx="4724247" cy="384048"/>
          </a:xfrm>
          <a:prstGeom prst="rect">
            <a:avLst/>
          </a:prstGeom>
          <a:noFill/>
        </p:spPr>
        <p:txBody>
          <a:bodyPr wrap="square" lIns="0" rIns="0" tIns="0" bIns="0">
            <a:spAutoFit/>
          </a:bodyPr>
          <a:lstStyle/>
          <a:p>
            <a:pPr>
              <a:lnSpc>
                <a:spcPct val="116000"/>
              </a:lnSpc>
              <a:spcAft>
                <a:spcPts val="0"/>
              </a:spcAft>
            </a:pPr>
            <a:r>
              <a:rPr sz="1200" b="1">
                <a:solidFill>
                  <a:srgbClr val="0E2830"/>
                </a:solidFill>
                <a:latin typeface="Outfit"/>
              </a:rPr>
              <a:t>OEMS / OIMS freight certificates</a:t>
            </a:r>
          </a:p>
        </p:txBody>
      </p:sp>
      <p:sp>
        <p:nvSpPr>
          <p:cNvPr id="21" name="Oval 20"/>
          <p:cNvSpPr/>
          <p:nvPr/>
        </p:nvSpPr>
        <p:spPr>
          <a:xfrm>
            <a:off x="6479895" y="2738628"/>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35343" y="2670048"/>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ADs now generate two digital forms instead of manual certificates.</a:t>
            </a:r>
          </a:p>
        </p:txBody>
      </p:sp>
      <p:sp>
        <p:nvSpPr>
          <p:cNvPr id="23" name="Oval 22"/>
          <p:cNvSpPr/>
          <p:nvPr/>
        </p:nvSpPr>
        <p:spPr>
          <a:xfrm>
            <a:off x="6479895" y="2973730"/>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5343" y="2905150"/>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Form FF-Export Prepaid, freight charge on a prepaid basis against export, generated via OEMS.</a:t>
            </a:r>
          </a:p>
        </p:txBody>
      </p:sp>
      <p:sp>
        <p:nvSpPr>
          <p:cNvPr id="25" name="Oval 24"/>
          <p:cNvSpPr/>
          <p:nvPr/>
        </p:nvSpPr>
        <p:spPr>
          <a:xfrm>
            <a:off x="6479895" y="3367735"/>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35343" y="3299155"/>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Form FF-Import Collect, freight charge against FOB or similar import, generated via OIMS.</a:t>
            </a:r>
          </a:p>
        </p:txBody>
      </p:sp>
      <p:sp>
        <p:nvSpPr>
          <p:cNvPr id="27" name="Oval 26"/>
          <p:cNvSpPr/>
          <p:nvPr/>
        </p:nvSpPr>
        <p:spPr>
          <a:xfrm>
            <a:off x="6479895" y="3761740"/>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5343" y="3693160"/>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The exporter or importer provides the relevant form to the freight forwarder, airline or shipping company.</a:t>
            </a:r>
          </a:p>
        </p:txBody>
      </p:sp>
      <p:sp>
        <p:nvSpPr>
          <p:cNvPr id="29" name="Oval 28"/>
          <p:cNvSpPr/>
          <p:nvPr/>
        </p:nvSpPr>
        <p:spPr>
          <a:xfrm>
            <a:off x="6479895" y="4155744"/>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35343" y="4087164"/>
            <a:ext cx="4532223"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The form is then submitted to the designated AD bank when remitting surplus earnings or freight charges to head office or principal abroad.</a:t>
            </a:r>
          </a:p>
        </p:txBody>
      </p:sp>
      <p:sp>
        <p:nvSpPr>
          <p:cNvPr id="31" name="TextBox 30"/>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C10073"/>
                </a:solidFill>
                <a:latin typeface="IBM Plex Mono"/>
              </a:rPr>
              <a:t>Part 3  .  08  /  Monthly remittance operations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Our remittance process flow.</a:t>
            </a:r>
          </a:p>
        </p:txBody>
      </p:sp>
      <p:sp>
        <p:nvSpPr>
          <p:cNvPr id="5" name="TextBox 4"/>
          <p:cNvSpPr txBox="1"/>
          <p:nvPr/>
        </p:nvSpPr>
        <p:spPr>
          <a:xfrm>
            <a:off x="786384" y="1700784"/>
            <a:ext cx="9509760" cy="914400"/>
          </a:xfrm>
          <a:prstGeom prst="rect">
            <a:avLst/>
          </a:prstGeom>
          <a:noFill/>
        </p:spPr>
        <p:txBody>
          <a:bodyPr wrap="square" lIns="0" rIns="0" tIns="0" bIns="0">
            <a:spAutoFit/>
          </a:bodyPr>
          <a:lstStyle/>
          <a:p>
            <a:pPr>
              <a:lnSpc>
                <a:spcPct val="142000"/>
              </a:lnSpc>
              <a:spcAft>
                <a:spcPts val="0"/>
              </a:spcAft>
            </a:pPr>
            <a:r>
              <a:rPr sz="1200" b="0">
                <a:solidFill>
                  <a:srgbClr val="33555F"/>
                </a:solidFill>
                <a:latin typeface="Plus Jakarta Sans"/>
              </a:rPr>
              <a:t>Our own AD-bank procedure, start to finish, for a single month's cycle.</a:t>
            </a:r>
          </a:p>
        </p:txBody>
      </p:sp>
      <p:sp>
        <p:nvSpPr>
          <p:cNvPr id="6" name="Rounded Rectangle 5"/>
          <p:cNvSpPr/>
          <p:nvPr/>
        </p:nvSpPr>
        <p:spPr>
          <a:xfrm>
            <a:off x="786384" y="2359152"/>
            <a:ext cx="1647901" cy="175564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505456"/>
            <a:ext cx="1355293" cy="1463039"/>
          </a:xfrm>
          <a:prstGeom prst="rect">
            <a:avLst/>
          </a:prstGeom>
          <a:noFill/>
        </p:spPr>
        <p:txBody>
          <a:bodyPr wrap="square" lIns="0" rIns="0" tIns="0" bIns="0">
            <a:spAutoFit/>
          </a:bodyPr>
          <a:lstStyle/>
          <a:p>
            <a:pPr>
              <a:lnSpc>
                <a:spcPct val="135000"/>
              </a:lnSpc>
              <a:spcAft>
                <a:spcPts val="500"/>
              </a:spcAft>
            </a:pPr>
            <a:r>
              <a:rPr sz="800" b="0" spc="180">
                <a:solidFill>
                  <a:srgbClr val="0C7A80"/>
                </a:solidFill>
                <a:latin typeface="IBM Plex Mono"/>
              </a:rPr>
              <a:t>01</a:t>
            </a:r>
          </a:p>
          <a:p>
            <a:pPr>
              <a:lnSpc>
                <a:spcPct val="118000"/>
              </a:lnSpc>
              <a:spcAft>
                <a:spcPts val="400"/>
              </a:spcAft>
            </a:pPr>
            <a:r>
              <a:rPr sz="950" b="1">
                <a:solidFill>
                  <a:srgbClr val="0E2830"/>
                </a:solidFill>
                <a:latin typeface="Outfit"/>
              </a:rPr>
              <a:t>Files received from client</a:t>
            </a:r>
          </a:p>
          <a:p>
            <a:pPr>
              <a:lnSpc>
                <a:spcPct val="136000"/>
              </a:lnSpc>
              <a:spcAft>
                <a:spcPts val="0"/>
              </a:spcAft>
            </a:pPr>
            <a:r>
              <a:rPr sz="800" b="0">
                <a:solidFill>
                  <a:srgbClr val="52737D"/>
                </a:solidFill>
                <a:latin typeface="Plus Jakarta Sans"/>
              </a:rPr>
              <a:t>Passenger, cargo and disbursement files.</a:t>
            </a:r>
          </a:p>
        </p:txBody>
      </p:sp>
      <p:sp>
        <p:nvSpPr>
          <p:cNvPr id="8" name="Rectangle 7"/>
          <p:cNvSpPr/>
          <p:nvPr/>
        </p:nvSpPr>
        <p:spPr>
          <a:xfrm>
            <a:off x="2434285" y="3236976"/>
            <a:ext cx="146304" cy="9525"/>
          </a:xfrm>
          <a:prstGeom prst="rect">
            <a:avLst/>
          </a:prstGeom>
          <a:solidFill>
            <a:srgbClr val="C6D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580589" y="2359152"/>
            <a:ext cx="1647901" cy="175564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26893" y="2505456"/>
            <a:ext cx="1355293" cy="1463039"/>
          </a:xfrm>
          <a:prstGeom prst="rect">
            <a:avLst/>
          </a:prstGeom>
          <a:noFill/>
        </p:spPr>
        <p:txBody>
          <a:bodyPr wrap="square" lIns="0" rIns="0" tIns="0" bIns="0">
            <a:spAutoFit/>
          </a:bodyPr>
          <a:lstStyle/>
          <a:p>
            <a:pPr>
              <a:lnSpc>
                <a:spcPct val="135000"/>
              </a:lnSpc>
              <a:spcAft>
                <a:spcPts val="500"/>
              </a:spcAft>
            </a:pPr>
            <a:r>
              <a:rPr sz="800" b="0" spc="180">
                <a:solidFill>
                  <a:srgbClr val="0C7A80"/>
                </a:solidFill>
                <a:latin typeface="IBM Plex Mono"/>
              </a:rPr>
              <a:t>02</a:t>
            </a:r>
          </a:p>
          <a:p>
            <a:pPr>
              <a:lnSpc>
                <a:spcPct val="118000"/>
              </a:lnSpc>
              <a:spcAft>
                <a:spcPts val="400"/>
              </a:spcAft>
            </a:pPr>
            <a:r>
              <a:rPr sz="950" b="1">
                <a:solidFill>
                  <a:srgbClr val="0E2830"/>
                </a:solidFill>
                <a:latin typeface="Outfit"/>
              </a:rPr>
              <a:t>Bank scrutinizes files</a:t>
            </a:r>
          </a:p>
          <a:p>
            <a:pPr>
              <a:lnSpc>
                <a:spcPct val="136000"/>
              </a:lnSpc>
              <a:spcAft>
                <a:spcPts val="0"/>
              </a:spcAft>
            </a:pPr>
            <a:r>
              <a:rPr sz="800" b="0">
                <a:solidFill>
                  <a:srgbClr val="52737D"/>
                </a:solidFill>
                <a:latin typeface="Plus Jakarta Sans"/>
              </a:rPr>
              <a:t>Discrepancies notified or referred back.</a:t>
            </a:r>
          </a:p>
        </p:txBody>
      </p:sp>
      <p:sp>
        <p:nvSpPr>
          <p:cNvPr id="11" name="Rectangle 10"/>
          <p:cNvSpPr/>
          <p:nvPr/>
        </p:nvSpPr>
        <p:spPr>
          <a:xfrm>
            <a:off x="4228490" y="3236976"/>
            <a:ext cx="146304" cy="9525"/>
          </a:xfrm>
          <a:prstGeom prst="rect">
            <a:avLst/>
          </a:prstGeom>
          <a:solidFill>
            <a:srgbClr val="C6D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4794" y="2359152"/>
            <a:ext cx="1647901" cy="175564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098" y="2505456"/>
            <a:ext cx="1355293" cy="1463039"/>
          </a:xfrm>
          <a:prstGeom prst="rect">
            <a:avLst/>
          </a:prstGeom>
          <a:noFill/>
        </p:spPr>
        <p:txBody>
          <a:bodyPr wrap="square" lIns="0" rIns="0" tIns="0" bIns="0">
            <a:spAutoFit/>
          </a:bodyPr>
          <a:lstStyle/>
          <a:p>
            <a:pPr>
              <a:lnSpc>
                <a:spcPct val="135000"/>
              </a:lnSpc>
              <a:spcAft>
                <a:spcPts val="500"/>
              </a:spcAft>
            </a:pPr>
            <a:r>
              <a:rPr sz="800" b="0" spc="180">
                <a:solidFill>
                  <a:srgbClr val="0C7A80"/>
                </a:solidFill>
                <a:latin typeface="IBM Plex Mono"/>
              </a:rPr>
              <a:t>03</a:t>
            </a:r>
          </a:p>
          <a:p>
            <a:pPr>
              <a:lnSpc>
                <a:spcPct val="118000"/>
              </a:lnSpc>
              <a:spcAft>
                <a:spcPts val="400"/>
              </a:spcAft>
            </a:pPr>
            <a:r>
              <a:rPr sz="950" b="1">
                <a:solidFill>
                  <a:srgbClr val="0E2830"/>
                </a:solidFill>
                <a:latin typeface="Outfit"/>
              </a:rPr>
              <a:t>Client rectifies discrepancies</a:t>
            </a:r>
          </a:p>
          <a:p>
            <a:pPr>
              <a:lnSpc>
                <a:spcPct val="136000"/>
              </a:lnSpc>
              <a:spcAft>
                <a:spcPts val="0"/>
              </a:spcAft>
            </a:pPr>
            <a:r>
              <a:rPr sz="800" b="0">
                <a:solidFill>
                  <a:srgbClr val="52737D"/>
                </a:solidFill>
                <a:latin typeface="Plus Jakarta Sans"/>
              </a:rPr>
              <a:t>Corrected files resubmitted.</a:t>
            </a:r>
          </a:p>
        </p:txBody>
      </p:sp>
      <p:sp>
        <p:nvSpPr>
          <p:cNvPr id="14" name="Rectangle 13"/>
          <p:cNvSpPr/>
          <p:nvPr/>
        </p:nvSpPr>
        <p:spPr>
          <a:xfrm>
            <a:off x="6022695" y="3236976"/>
            <a:ext cx="146304" cy="9525"/>
          </a:xfrm>
          <a:prstGeom prst="rect">
            <a:avLst/>
          </a:prstGeom>
          <a:solidFill>
            <a:srgbClr val="C6D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68999" y="2359152"/>
            <a:ext cx="1647901" cy="175564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5303" y="2505456"/>
            <a:ext cx="1355293" cy="1463039"/>
          </a:xfrm>
          <a:prstGeom prst="rect">
            <a:avLst/>
          </a:prstGeom>
          <a:noFill/>
        </p:spPr>
        <p:txBody>
          <a:bodyPr wrap="square" lIns="0" rIns="0" tIns="0" bIns="0">
            <a:spAutoFit/>
          </a:bodyPr>
          <a:lstStyle/>
          <a:p>
            <a:pPr>
              <a:lnSpc>
                <a:spcPct val="135000"/>
              </a:lnSpc>
              <a:spcAft>
                <a:spcPts val="500"/>
              </a:spcAft>
            </a:pPr>
            <a:r>
              <a:rPr sz="800" b="0" spc="180">
                <a:solidFill>
                  <a:srgbClr val="0C7A80"/>
                </a:solidFill>
                <a:latin typeface="IBM Plex Mono"/>
              </a:rPr>
              <a:t>04</a:t>
            </a:r>
          </a:p>
          <a:p>
            <a:pPr>
              <a:lnSpc>
                <a:spcPct val="118000"/>
              </a:lnSpc>
              <a:spcAft>
                <a:spcPts val="400"/>
              </a:spcAft>
            </a:pPr>
            <a:r>
              <a:rPr sz="950" b="1">
                <a:solidFill>
                  <a:srgbClr val="0E2830"/>
                </a:solidFill>
                <a:latin typeface="Outfit"/>
              </a:rPr>
              <a:t>Surplus earning confirmed</a:t>
            </a:r>
          </a:p>
          <a:p>
            <a:pPr>
              <a:lnSpc>
                <a:spcPct val="136000"/>
              </a:lnSpc>
              <a:spcAft>
                <a:spcPts val="0"/>
              </a:spcAft>
            </a:pPr>
            <a:r>
              <a:rPr sz="800" b="0">
                <a:solidFill>
                  <a:srgbClr val="52737D"/>
                </a:solidFill>
                <a:latin typeface="Plus Jakarta Sans"/>
              </a:rPr>
              <a:t>Net remittable amount agreed.</a:t>
            </a:r>
          </a:p>
        </p:txBody>
      </p:sp>
      <p:sp>
        <p:nvSpPr>
          <p:cNvPr id="17" name="Rectangle 16"/>
          <p:cNvSpPr/>
          <p:nvPr/>
        </p:nvSpPr>
        <p:spPr>
          <a:xfrm>
            <a:off x="7816900" y="3236976"/>
            <a:ext cx="146304" cy="9525"/>
          </a:xfrm>
          <a:prstGeom prst="rect">
            <a:avLst/>
          </a:prstGeom>
          <a:solidFill>
            <a:srgbClr val="C6D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63204" y="2359152"/>
            <a:ext cx="1647901" cy="175564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9508" y="2505456"/>
            <a:ext cx="1355293" cy="1463039"/>
          </a:xfrm>
          <a:prstGeom prst="rect">
            <a:avLst/>
          </a:prstGeom>
          <a:noFill/>
        </p:spPr>
        <p:txBody>
          <a:bodyPr wrap="square" lIns="0" rIns="0" tIns="0" bIns="0">
            <a:spAutoFit/>
          </a:bodyPr>
          <a:lstStyle/>
          <a:p>
            <a:pPr>
              <a:lnSpc>
                <a:spcPct val="135000"/>
              </a:lnSpc>
              <a:spcAft>
                <a:spcPts val="500"/>
              </a:spcAft>
            </a:pPr>
            <a:r>
              <a:rPr sz="800" b="0" spc="180">
                <a:solidFill>
                  <a:srgbClr val="0C7A80"/>
                </a:solidFill>
                <a:latin typeface="IBM Plex Mono"/>
              </a:rPr>
              <a:t>05</a:t>
            </a:r>
          </a:p>
          <a:p>
            <a:pPr>
              <a:lnSpc>
                <a:spcPct val="118000"/>
              </a:lnSpc>
              <a:spcAft>
                <a:spcPts val="400"/>
              </a:spcAft>
            </a:pPr>
            <a:r>
              <a:rPr sz="950" b="1">
                <a:solidFill>
                  <a:srgbClr val="0E2830"/>
                </a:solidFill>
                <a:latin typeface="Outfit"/>
              </a:rPr>
              <a:t>Remittance executed</a:t>
            </a:r>
          </a:p>
          <a:p>
            <a:pPr>
              <a:lnSpc>
                <a:spcPct val="136000"/>
              </a:lnSpc>
              <a:spcAft>
                <a:spcPts val="0"/>
              </a:spcAft>
            </a:pPr>
            <a:r>
              <a:rPr sz="800" b="0">
                <a:solidFill>
                  <a:srgbClr val="52737D"/>
                </a:solidFill>
                <a:latin typeface="Plus Jakarta Sans"/>
              </a:rPr>
              <a:t>AD bank transfers funds abroad.</a:t>
            </a:r>
          </a:p>
        </p:txBody>
      </p:sp>
      <p:sp>
        <p:nvSpPr>
          <p:cNvPr id="20" name="Rectangle 19"/>
          <p:cNvSpPr/>
          <p:nvPr/>
        </p:nvSpPr>
        <p:spPr>
          <a:xfrm>
            <a:off x="9611106" y="3236976"/>
            <a:ext cx="146304" cy="9525"/>
          </a:xfrm>
          <a:prstGeom prst="rect">
            <a:avLst/>
          </a:prstGeom>
          <a:solidFill>
            <a:srgbClr val="C6D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7409" y="2359152"/>
            <a:ext cx="1647901" cy="175564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03713" y="2505456"/>
            <a:ext cx="1355293" cy="1463039"/>
          </a:xfrm>
          <a:prstGeom prst="rect">
            <a:avLst/>
          </a:prstGeom>
          <a:noFill/>
        </p:spPr>
        <p:txBody>
          <a:bodyPr wrap="square" lIns="0" rIns="0" tIns="0" bIns="0">
            <a:spAutoFit/>
          </a:bodyPr>
          <a:lstStyle/>
          <a:p>
            <a:pPr>
              <a:lnSpc>
                <a:spcPct val="135000"/>
              </a:lnSpc>
              <a:spcAft>
                <a:spcPts val="500"/>
              </a:spcAft>
            </a:pPr>
            <a:r>
              <a:rPr sz="800" b="0" spc="180">
                <a:solidFill>
                  <a:srgbClr val="0C7A80"/>
                </a:solidFill>
                <a:latin typeface="IBM Plex Mono"/>
              </a:rPr>
              <a:t>06</a:t>
            </a:r>
          </a:p>
          <a:p>
            <a:pPr>
              <a:lnSpc>
                <a:spcPct val="118000"/>
              </a:lnSpc>
              <a:spcAft>
                <a:spcPts val="400"/>
              </a:spcAft>
            </a:pPr>
            <a:r>
              <a:rPr sz="950" b="1">
                <a:solidFill>
                  <a:srgbClr val="0E2830"/>
                </a:solidFill>
                <a:latin typeface="Outfit"/>
              </a:rPr>
              <a:t>Filed for Post Facto Approval</a:t>
            </a:r>
          </a:p>
          <a:p>
            <a:pPr>
              <a:lnSpc>
                <a:spcPct val="136000"/>
              </a:lnSpc>
              <a:spcAft>
                <a:spcPts val="0"/>
              </a:spcAft>
            </a:pPr>
            <a:r>
              <a:rPr sz="800" b="0">
                <a:solidFill>
                  <a:srgbClr val="52737D"/>
                </a:solidFill>
                <a:latin typeface="Plus Jakarta Sans"/>
              </a:rPr>
              <a:t>Submitted to Bangladesh Bank after remittance.</a:t>
            </a:r>
          </a:p>
        </p:txBody>
      </p:sp>
      <p:sp>
        <p:nvSpPr>
          <p:cNvPr id="23" name="Rounded Rectangle 22"/>
          <p:cNvSpPr/>
          <p:nvPr/>
        </p:nvSpPr>
        <p:spPr>
          <a:xfrm>
            <a:off x="786384" y="4443984"/>
            <a:ext cx="10618927" cy="102412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4608576"/>
            <a:ext cx="10143439" cy="731520"/>
          </a:xfrm>
          <a:prstGeom prst="rect">
            <a:avLst/>
          </a:prstGeom>
          <a:noFill/>
        </p:spPr>
        <p:txBody>
          <a:bodyPr wrap="square" lIns="0" rIns="0" tIns="0" bIns="0">
            <a:spAutoFit/>
          </a:bodyPr>
          <a:lstStyle/>
          <a:p>
            <a:pPr>
              <a:lnSpc>
                <a:spcPct val="135000"/>
              </a:lnSpc>
              <a:spcAft>
                <a:spcPts val="600"/>
              </a:spcAft>
            </a:pPr>
            <a:r>
              <a:rPr sz="800" b="0" cap="all" spc="180">
                <a:solidFill>
                  <a:srgbClr val="C10073"/>
                </a:solidFill>
                <a:latin typeface="IBM Plex Mono"/>
              </a:rPr>
              <a:t>Note the order</a:t>
            </a:r>
          </a:p>
          <a:p>
            <a:pPr>
              <a:lnSpc>
                <a:spcPct val="140000"/>
              </a:lnSpc>
              <a:spcAft>
                <a:spcPts val="0"/>
              </a:spcAft>
            </a:pPr>
            <a:r>
              <a:rPr sz="1100" b="0">
                <a:solidFill>
                  <a:srgbClr val="33555F"/>
                </a:solidFill>
                <a:latin typeface="Plus Jakarta Sans"/>
              </a:rPr>
              <a:t>Bangladesh Bank approval is Post Facto. It is obtained after the remittance is executed, not before.</a:t>
            </a:r>
          </a:p>
        </p:txBody>
      </p:sp>
      <p:sp>
        <p:nvSpPr>
          <p:cNvPr id="25" name="Rectangle 24"/>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Steps two and three are the loop. A single unsupported collection line sends the whole month back, and the month behind it starts stacking.</a:t>
            </a:r>
          </a:p>
        </p:txBody>
      </p:sp>
      <p:sp>
        <p:nvSpPr>
          <p:cNvPr id="27" name="TextBox 26"/>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C10073"/>
                </a:solidFill>
                <a:latin typeface="IBM Plex Mono"/>
              </a:rPr>
              <a:t>Part 3  .  09  /  Monthly remittance operations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Monthly surplus-earnings calculator.</a:t>
            </a:r>
          </a:p>
        </p:txBody>
      </p:sp>
      <p:sp>
        <p:nvSpPr>
          <p:cNvPr id="5" name="TextBox 4"/>
          <p:cNvSpPr txBox="1"/>
          <p:nvPr/>
        </p:nvSpPr>
        <p:spPr>
          <a:xfrm>
            <a:off x="786384" y="1700784"/>
            <a:ext cx="9509760" cy="914400"/>
          </a:xfrm>
          <a:prstGeom prst="rect">
            <a:avLst/>
          </a:prstGeom>
          <a:noFill/>
        </p:spPr>
        <p:txBody>
          <a:bodyPr wrap="square" lIns="0" rIns="0" tIns="0" bIns="0">
            <a:spAutoFit/>
          </a:bodyPr>
          <a:lstStyle/>
          <a:p>
            <a:pPr>
              <a:lnSpc>
                <a:spcPct val="142000"/>
              </a:lnSpc>
              <a:spcAft>
                <a:spcPts val="0"/>
              </a:spcAft>
            </a:pPr>
            <a:r>
              <a:rPr sz="1200" b="0">
                <a:solidFill>
                  <a:srgbClr val="33555F"/>
                </a:solidFill>
                <a:latin typeface="Plus Jakarta Sans"/>
              </a:rPr>
              <a:t>The statement the AD bank builds each month. A is total collection, B is total disbursement, C is the net refund provision.</a:t>
            </a:r>
          </a:p>
        </p:txBody>
      </p:sp>
      <p:graphicFrame>
        <p:nvGraphicFramePr>
          <p:cNvPr id="6" name="Table 5"/>
          <p:cNvGraphicFramePr>
            <a:graphicFrameLocks noGrp="1"/>
          </p:cNvGraphicFramePr>
          <p:nvPr/>
        </p:nvGraphicFramePr>
        <p:xfrm>
          <a:off x="786384" y="2249424"/>
          <a:ext cx="10618927" cy="3744468"/>
        </p:xfrm>
        <a:graphic>
          <a:graphicData uri="http://schemas.openxmlformats.org/drawingml/2006/table">
            <a:tbl>
              <a:tblPr bandRow="0" firstRow="0">
                <a:tableStyleId>{5C22544A-7EE6-4342-B048-85BDC9FD1C3A}</a:tableStyleId>
              </a:tblPr>
              <a:tblGrid>
                <a:gridCol w="8241487"/>
                <a:gridCol w="2377440"/>
              </a:tblGrid>
              <a:tr h="288036">
                <a:tc>
                  <a:txBody>
                    <a:bodyPr/>
                    <a:lstStyle/>
                    <a:p>
                      <a:pPr>
                        <a:lnSpc>
                          <a:spcPct val="120000"/>
                        </a:lnSpc>
                        <a:spcAft>
                          <a:spcPts val="0"/>
                        </a:spcAft>
                      </a:pPr>
                      <a:r>
                        <a:rPr sz="750" b="0" cap="all" spc="140">
                          <a:solidFill>
                            <a:srgbClr val="8AA6AE"/>
                          </a:solidFill>
                          <a:latin typeface="IBM Plex Mono"/>
                        </a:rPr>
                        <a:t>Line</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Amount, BDT</a:t>
                      </a:r>
                    </a:p>
                  </a:txBody>
                  <a:tcPr marL="54864" marR="54864" marT="36576" marB="36576" anchor="b">
                    <a:solidFill>
                      <a:srgbClr val="FBFDFE"/>
                    </a:solidFill>
                  </a:tcPr>
                </a:tc>
              </a:tr>
              <a:tr h="288036">
                <a:tc>
                  <a:txBody>
                    <a:bodyPr/>
                    <a:lstStyle/>
                    <a:p>
                      <a:pPr>
                        <a:lnSpc>
                          <a:spcPct val="130000"/>
                        </a:lnSpc>
                        <a:spcAft>
                          <a:spcPts val="0"/>
                        </a:spcAft>
                      </a:pPr>
                      <a:r>
                        <a:rPr sz="950" b="0">
                          <a:solidFill>
                            <a:srgbClr val="33555F"/>
                          </a:solidFill>
                          <a:latin typeface="Plus Jakarta Sans"/>
                        </a:rPr>
                        <a:t>Pax Sales Collection</a:t>
                      </a:r>
                    </a:p>
                  </a:txBody>
                  <a:tcPr marL="54864" marR="54864" marT="45720" marB="45720" anchor="t">
                    <a:solidFill>
                      <a:srgbClr val="FFFFFF"/>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FFFFF"/>
                    </a:solidFill>
                  </a:tcPr>
                </a:tc>
              </a:tr>
              <a:tr h="288036">
                <a:tc>
                  <a:txBody>
                    <a:bodyPr/>
                    <a:lstStyle/>
                    <a:p>
                      <a:pPr>
                        <a:lnSpc>
                          <a:spcPct val="130000"/>
                        </a:lnSpc>
                        <a:spcAft>
                          <a:spcPts val="0"/>
                        </a:spcAft>
                      </a:pPr>
                      <a:r>
                        <a:rPr sz="950" b="0">
                          <a:solidFill>
                            <a:srgbClr val="33555F"/>
                          </a:solidFill>
                          <a:latin typeface="Plus Jakarta Sans"/>
                        </a:rPr>
                        <a:t>Add: Cargo Sales Collection</a:t>
                      </a:r>
                    </a:p>
                  </a:txBody>
                  <a:tcPr marL="54864" marR="54864" marT="45720" marB="45720" anchor="t">
                    <a:solidFill>
                      <a:srgbClr val="FBFDFE"/>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BFDFE"/>
                    </a:solidFill>
                  </a:tcPr>
                </a:tc>
              </a:tr>
              <a:tr h="288036">
                <a:tc>
                  <a:txBody>
                    <a:bodyPr/>
                    <a:lstStyle/>
                    <a:p>
                      <a:pPr>
                        <a:lnSpc>
                          <a:spcPct val="130000"/>
                        </a:lnSpc>
                        <a:spcAft>
                          <a:spcPts val="0"/>
                        </a:spcAft>
                      </a:pPr>
                      <a:r>
                        <a:rPr sz="950" b="0">
                          <a:solidFill>
                            <a:srgbClr val="33555F"/>
                          </a:solidFill>
                          <a:latin typeface="Plus Jakarta Sans"/>
                        </a:rPr>
                        <a:t>Add: Airline's Over-the-Counter Sale</a:t>
                      </a:r>
                    </a:p>
                  </a:txBody>
                  <a:tcPr marL="54864" marR="54864" marT="45720" marB="45720" anchor="t">
                    <a:solidFill>
                      <a:srgbClr val="FFFFFF"/>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FFFFF"/>
                    </a:solidFill>
                  </a:tcPr>
                </a:tc>
              </a:tr>
              <a:tr h="288036">
                <a:tc>
                  <a:txBody>
                    <a:bodyPr/>
                    <a:lstStyle/>
                    <a:p>
                      <a:pPr>
                        <a:lnSpc>
                          <a:spcPct val="130000"/>
                        </a:lnSpc>
                        <a:spcAft>
                          <a:spcPts val="0"/>
                        </a:spcAft>
                      </a:pPr>
                      <a:r>
                        <a:rPr sz="950" b="0">
                          <a:solidFill>
                            <a:srgbClr val="33555F"/>
                          </a:solidFill>
                          <a:latin typeface="Plus Jakarta Sans"/>
                        </a:rPr>
                        <a:t>Add: Misc. Receipts (excess baggage, postal earnings, extra charges)</a:t>
                      </a:r>
                    </a:p>
                  </a:txBody>
                  <a:tcPr marL="54864" marR="54864" marT="45720" marB="45720" anchor="t">
                    <a:solidFill>
                      <a:srgbClr val="FBFDFE"/>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BFDFE"/>
                    </a:solidFill>
                  </a:tcPr>
                </a:tc>
              </a:tr>
              <a:tr h="288036">
                <a:tc>
                  <a:txBody>
                    <a:bodyPr/>
                    <a:lstStyle/>
                    <a:p>
                      <a:pPr>
                        <a:lnSpc>
                          <a:spcPct val="130000"/>
                        </a:lnSpc>
                        <a:spcAft>
                          <a:spcPts val="0"/>
                        </a:spcAft>
                      </a:pPr>
                      <a:r>
                        <a:rPr sz="950" b="0">
                          <a:solidFill>
                            <a:srgbClr val="33555F"/>
                          </a:solidFill>
                          <a:latin typeface="Plus Jakarta Sans"/>
                        </a:rPr>
                        <a:t>A.  Total Collection for the Month</a:t>
                      </a:r>
                    </a:p>
                  </a:txBody>
                  <a:tcPr marL="54864" marR="54864" marT="45720" marB="45720" anchor="t">
                    <a:solidFill>
                      <a:srgbClr val="FFFFFF"/>
                    </a:solidFill>
                  </a:tcPr>
                </a:tc>
                <a:tc>
                  <a:txBody>
                    <a:bodyPr/>
                    <a:lstStyle/>
                    <a:p>
                      <a:pPr>
                        <a:lnSpc>
                          <a:spcPct val="130000"/>
                        </a:lnSpc>
                        <a:spcAft>
                          <a:spcPts val="0"/>
                        </a:spcAft>
                      </a:pPr>
                      <a:r>
                        <a:rPr sz="950" b="0">
                          <a:solidFill>
                            <a:srgbClr val="33555F"/>
                          </a:solidFill>
                          <a:latin typeface="Plus Jakarta Sans"/>
                        </a:rPr>
                        <a:t>XXXXXX</a:t>
                      </a:r>
                    </a:p>
                  </a:txBody>
                  <a:tcPr marL="54864" marR="54864" marT="45720" marB="45720" anchor="t">
                    <a:solidFill>
                      <a:srgbClr val="FFFFFF"/>
                    </a:solidFill>
                  </a:tcPr>
                </a:tc>
              </a:tr>
              <a:tr h="288036">
                <a:tc>
                  <a:txBody>
                    <a:bodyPr/>
                    <a:lstStyle/>
                    <a:p>
                      <a:pPr>
                        <a:lnSpc>
                          <a:spcPct val="130000"/>
                        </a:lnSpc>
                        <a:spcAft>
                          <a:spcPts val="0"/>
                        </a:spcAft>
                      </a:pPr>
                      <a:r>
                        <a:rPr sz="950" b="0">
                          <a:solidFill>
                            <a:srgbClr val="33555F"/>
                          </a:solidFill>
                          <a:latin typeface="Plus Jakarta Sans"/>
                        </a:rPr>
                        <a:t>Less: Disbursement for the Month</a:t>
                      </a:r>
                    </a:p>
                  </a:txBody>
                  <a:tcPr marL="54864" marR="54864" marT="45720" marB="45720" anchor="t">
                    <a:solidFill>
                      <a:srgbClr val="FBFDFE"/>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BFDFE"/>
                    </a:solidFill>
                  </a:tcPr>
                </a:tc>
              </a:tr>
              <a:tr h="288036">
                <a:tc>
                  <a:txBody>
                    <a:bodyPr/>
                    <a:lstStyle/>
                    <a:p>
                      <a:pPr>
                        <a:lnSpc>
                          <a:spcPct val="130000"/>
                        </a:lnSpc>
                        <a:spcAft>
                          <a:spcPts val="0"/>
                        </a:spcAft>
                      </a:pPr>
                      <a:r>
                        <a:rPr sz="950" b="0">
                          <a:solidFill>
                            <a:srgbClr val="33555F"/>
                          </a:solidFill>
                          <a:latin typeface="Plus Jakarta Sans"/>
                        </a:rPr>
                        <a:t>Less: Other Adjustment</a:t>
                      </a:r>
                    </a:p>
                  </a:txBody>
                  <a:tcPr marL="54864" marR="54864" marT="45720" marB="45720" anchor="t">
                    <a:solidFill>
                      <a:srgbClr val="FFFFFF"/>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FFFFF"/>
                    </a:solidFill>
                  </a:tcPr>
                </a:tc>
              </a:tr>
              <a:tr h="288036">
                <a:tc>
                  <a:txBody>
                    <a:bodyPr/>
                    <a:lstStyle/>
                    <a:p>
                      <a:pPr>
                        <a:lnSpc>
                          <a:spcPct val="130000"/>
                        </a:lnSpc>
                        <a:spcAft>
                          <a:spcPts val="0"/>
                        </a:spcAft>
                      </a:pPr>
                      <a:r>
                        <a:rPr sz="950" b="0">
                          <a:solidFill>
                            <a:srgbClr val="33555F"/>
                          </a:solidFill>
                          <a:latin typeface="Plus Jakarta Sans"/>
                        </a:rPr>
                        <a:t>B.  Total Disbursement for the Month</a:t>
                      </a:r>
                    </a:p>
                  </a:txBody>
                  <a:tcPr marL="54864" marR="54864" marT="45720" marB="45720" anchor="t">
                    <a:solidFill>
                      <a:srgbClr val="FBFDFE"/>
                    </a:solidFill>
                  </a:tcPr>
                </a:tc>
                <a:tc>
                  <a:txBody>
                    <a:bodyPr/>
                    <a:lstStyle/>
                    <a:p>
                      <a:pPr>
                        <a:lnSpc>
                          <a:spcPct val="130000"/>
                        </a:lnSpc>
                        <a:spcAft>
                          <a:spcPts val="0"/>
                        </a:spcAft>
                      </a:pPr>
                      <a:r>
                        <a:rPr sz="950" b="0">
                          <a:solidFill>
                            <a:srgbClr val="33555F"/>
                          </a:solidFill>
                          <a:latin typeface="Plus Jakarta Sans"/>
                        </a:rPr>
                        <a:t>XXXXXX</a:t>
                      </a:r>
                    </a:p>
                  </a:txBody>
                  <a:tcPr marL="54864" marR="54864" marT="45720" marB="45720" anchor="t">
                    <a:solidFill>
                      <a:srgbClr val="FBFDFE"/>
                    </a:solidFill>
                  </a:tcPr>
                </a:tc>
              </a:tr>
              <a:tr h="288036">
                <a:tc>
                  <a:txBody>
                    <a:bodyPr/>
                    <a:lstStyle/>
                    <a:p>
                      <a:pPr>
                        <a:lnSpc>
                          <a:spcPct val="130000"/>
                        </a:lnSpc>
                        <a:spcAft>
                          <a:spcPts val="0"/>
                        </a:spcAft>
                      </a:pPr>
                      <a:r>
                        <a:rPr sz="950" b="0">
                          <a:solidFill>
                            <a:srgbClr val="33555F"/>
                          </a:solidFill>
                          <a:latin typeface="Plus Jakarta Sans"/>
                        </a:rPr>
                        <a:t>i.  Provision for refund — 10% of passenger revenue (current month)</a:t>
                      </a:r>
                    </a:p>
                  </a:txBody>
                  <a:tcPr marL="54864" marR="54864" marT="45720" marB="45720" anchor="t">
                    <a:solidFill>
                      <a:srgbClr val="FFFFFF"/>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FFFFF"/>
                    </a:solidFill>
                  </a:tcPr>
                </a:tc>
              </a:tr>
              <a:tr h="288036">
                <a:tc>
                  <a:txBody>
                    <a:bodyPr/>
                    <a:lstStyle/>
                    <a:p>
                      <a:pPr>
                        <a:lnSpc>
                          <a:spcPct val="130000"/>
                        </a:lnSpc>
                        <a:spcAft>
                          <a:spcPts val="0"/>
                        </a:spcAft>
                      </a:pPr>
                      <a:r>
                        <a:rPr sz="950" b="0">
                          <a:solidFill>
                            <a:srgbClr val="33555F"/>
                          </a:solidFill>
                          <a:latin typeface="Plus Jakarta Sans"/>
                        </a:rPr>
                        <a:t>ii.  Unused provision for refund, earlier period (previous month)</a:t>
                      </a:r>
                    </a:p>
                  </a:txBody>
                  <a:tcPr marL="54864" marR="54864" marT="45720" marB="45720" anchor="t">
                    <a:solidFill>
                      <a:srgbClr val="FBFDFE"/>
                    </a:solidFill>
                  </a:tcPr>
                </a:tc>
                <a:tc>
                  <a:txBody>
                    <a:bodyPr/>
                    <a:lstStyle/>
                    <a:p>
                      <a:pPr>
                        <a:lnSpc>
                          <a:spcPct val="130000"/>
                        </a:lnSpc>
                        <a:spcAft>
                          <a:spcPts val="0"/>
                        </a:spcAft>
                      </a:pPr>
                      <a:r>
                        <a:rPr sz="950" b="0">
                          <a:solidFill>
                            <a:srgbClr val="33555F"/>
                          </a:solidFill>
                          <a:latin typeface="Plus Jakarta Sans"/>
                        </a:rPr>
                        <a:t>XXX</a:t>
                      </a:r>
                    </a:p>
                  </a:txBody>
                  <a:tcPr marL="54864" marR="54864" marT="45720" marB="45720" anchor="t">
                    <a:solidFill>
                      <a:srgbClr val="FBFDFE"/>
                    </a:solidFill>
                  </a:tcPr>
                </a:tc>
              </a:tr>
              <a:tr h="288036">
                <a:tc>
                  <a:txBody>
                    <a:bodyPr/>
                    <a:lstStyle/>
                    <a:p>
                      <a:pPr>
                        <a:lnSpc>
                          <a:spcPct val="130000"/>
                        </a:lnSpc>
                        <a:spcAft>
                          <a:spcPts val="0"/>
                        </a:spcAft>
                      </a:pPr>
                      <a:r>
                        <a:rPr sz="950" b="0">
                          <a:solidFill>
                            <a:srgbClr val="33555F"/>
                          </a:solidFill>
                          <a:latin typeface="Plus Jakarta Sans"/>
                        </a:rPr>
                        <a:t>C.  Net Provision (i − ii)</a:t>
                      </a:r>
                    </a:p>
                  </a:txBody>
                  <a:tcPr marL="54864" marR="54864" marT="45720" marB="45720" anchor="t">
                    <a:solidFill>
                      <a:srgbClr val="FFFFFF"/>
                    </a:solidFill>
                  </a:tcPr>
                </a:tc>
                <a:tc>
                  <a:txBody>
                    <a:bodyPr/>
                    <a:lstStyle/>
                    <a:p>
                      <a:pPr>
                        <a:lnSpc>
                          <a:spcPct val="130000"/>
                        </a:lnSpc>
                        <a:spcAft>
                          <a:spcPts val="0"/>
                        </a:spcAft>
                      </a:pPr>
                      <a:r>
                        <a:rPr sz="950" b="0">
                          <a:solidFill>
                            <a:srgbClr val="33555F"/>
                          </a:solidFill>
                          <a:latin typeface="Plus Jakarta Sans"/>
                        </a:rPr>
                        <a:t>XXXXXX</a:t>
                      </a:r>
                    </a:p>
                  </a:txBody>
                  <a:tcPr marL="54864" marR="54864" marT="45720" marB="45720" anchor="t">
                    <a:solidFill>
                      <a:srgbClr val="FFFFFF"/>
                    </a:solidFill>
                  </a:tcPr>
                </a:tc>
              </a:tr>
              <a:tr h="288036">
                <a:tc>
                  <a:txBody>
                    <a:bodyPr/>
                    <a:lstStyle/>
                    <a:p>
                      <a:pPr>
                        <a:lnSpc>
                          <a:spcPct val="130000"/>
                        </a:lnSpc>
                        <a:spcAft>
                          <a:spcPts val="0"/>
                        </a:spcAft>
                      </a:pPr>
                      <a:r>
                        <a:rPr sz="950" b="0">
                          <a:solidFill>
                            <a:srgbClr val="0A5F65"/>
                          </a:solidFill>
                          <a:latin typeface="Plus Jakarta Sans"/>
                        </a:rPr>
                        <a:t>Net Surplus Earnings to be Remitted for the Month  (A − B − C)</a:t>
                      </a:r>
                    </a:p>
                  </a:txBody>
                  <a:tcPr marL="54864" marR="54864" marT="45720" marB="45720" anchor="t">
                    <a:solidFill>
                      <a:srgbClr val="DCF2F3"/>
                    </a:solidFill>
                  </a:tcPr>
                </a:tc>
                <a:tc>
                  <a:txBody>
                    <a:bodyPr/>
                    <a:lstStyle/>
                    <a:p>
                      <a:pPr>
                        <a:lnSpc>
                          <a:spcPct val="130000"/>
                        </a:lnSpc>
                        <a:spcAft>
                          <a:spcPts val="0"/>
                        </a:spcAft>
                      </a:pPr>
                      <a:r>
                        <a:rPr sz="950" b="0">
                          <a:solidFill>
                            <a:srgbClr val="0A5F65"/>
                          </a:solidFill>
                          <a:latin typeface="Plus Jakarta Sans"/>
                        </a:rPr>
                        <a:t>XXXXXX</a:t>
                      </a:r>
                    </a:p>
                  </a:txBody>
                  <a:tcPr marL="54864" marR="54864" marT="45720" marB="45720" anchor="t">
                    <a:solidFill>
                      <a:srgbClr val="DCF2F3"/>
                    </a:solidFill>
                  </a:tcPr>
                </a:tc>
              </a:tr>
            </a:tbl>
          </a:graphicData>
        </a:graphic>
      </p:graphicFrame>
      <p:sp>
        <p:nvSpPr>
          <p:cNvPr id="7" name="Rectangle 6"/>
          <p:cNvSpPr/>
          <p:nvPr/>
        </p:nvSpPr>
        <p:spPr>
          <a:xfrm>
            <a:off x="786384" y="6217920"/>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6345936"/>
            <a:ext cx="10618927" cy="457199"/>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Subtotals A, B and C follow the 2020 circular exactly. The provision in line i is the regulatory minimum of ten percent of passenger revenue; a deeper buffer is permitted. Agree the provision base with the AD bank once and hold it constant.</a:t>
            </a:r>
          </a:p>
        </p:txBody>
      </p:sp>
      <p:sp>
        <p:nvSpPr>
          <p:cNvPr id="9" name="TextBox 8"/>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C10073"/>
                </a:solidFill>
                <a:latin typeface="IBM Plex Mono"/>
              </a:rPr>
              <a:t>Part 3  .  10  /  Monthly remittance operations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Post Facto Approval, and the airline file types.</a:t>
            </a:r>
          </a:p>
        </p:txBody>
      </p:sp>
      <p:sp>
        <p:nvSpPr>
          <p:cNvPr id="5" name="TextBox 4"/>
          <p:cNvSpPr txBox="1"/>
          <p:nvPr/>
        </p:nvSpPr>
        <p:spPr>
          <a:xfrm>
            <a:off x="786384" y="1847088"/>
            <a:ext cx="5486400" cy="274320"/>
          </a:xfrm>
          <a:prstGeom prst="rect">
            <a:avLst/>
          </a:prstGeom>
          <a:noFill/>
        </p:spPr>
        <p:txBody>
          <a:bodyPr wrap="square" lIns="0" rIns="0" tIns="0" bIns="0">
            <a:spAutoFit/>
          </a:bodyPr>
          <a:lstStyle/>
          <a:p>
            <a:pPr>
              <a:lnSpc>
                <a:spcPct val="135000"/>
              </a:lnSpc>
              <a:spcAft>
                <a:spcPts val="0"/>
              </a:spcAft>
            </a:pPr>
            <a:r>
              <a:rPr sz="800" b="0" cap="all" spc="160">
                <a:solidFill>
                  <a:srgbClr val="8AA6AE"/>
                </a:solidFill>
                <a:latin typeface="IBM Plex Mono"/>
              </a:rPr>
              <a:t>Post Facto Approval (PFA)</a:t>
            </a:r>
          </a:p>
        </p:txBody>
      </p:sp>
      <p:sp>
        <p:nvSpPr>
          <p:cNvPr id="6" name="Rounded Rectangle 5"/>
          <p:cNvSpPr/>
          <p:nvPr/>
        </p:nvSpPr>
        <p:spPr>
          <a:xfrm>
            <a:off x="786384" y="2157984"/>
            <a:ext cx="6035040" cy="1170432"/>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40864"/>
            <a:ext cx="5596127" cy="804672"/>
          </a:xfrm>
          <a:prstGeom prst="rect">
            <a:avLst/>
          </a:prstGeom>
          <a:noFill/>
        </p:spPr>
        <p:txBody>
          <a:bodyPr wrap="square" lIns="0" rIns="0" tIns="0" bIns="0">
            <a:spAutoFit/>
          </a:bodyPr>
          <a:lstStyle/>
          <a:p>
            <a:pPr>
              <a:lnSpc>
                <a:spcPct val="116000"/>
              </a:lnSpc>
              <a:spcAft>
                <a:spcPts val="500"/>
              </a:spcAft>
            </a:pPr>
            <a:r>
              <a:rPr sz="1150" b="1">
                <a:solidFill>
                  <a:srgbClr val="0E2830"/>
                </a:solidFill>
                <a:latin typeface="Outfit"/>
              </a:rPr>
              <a:t>Comes after remittance</a:t>
            </a:r>
          </a:p>
          <a:p>
            <a:pPr>
              <a:lnSpc>
                <a:spcPct val="140000"/>
              </a:lnSpc>
              <a:spcAft>
                <a:spcPts val="0"/>
              </a:spcAft>
            </a:pPr>
            <a:r>
              <a:rPr sz="950" b="0">
                <a:solidFill>
                  <a:srgbClr val="33555F"/>
                </a:solidFill>
                <a:latin typeface="Plus Jakarta Sans"/>
              </a:rPr>
              <a:t>PFA is obtained from Bangladesh Bank after the transfer, not as a pre-approval.</a:t>
            </a:r>
          </a:p>
        </p:txBody>
      </p:sp>
      <p:sp>
        <p:nvSpPr>
          <p:cNvPr id="8" name="Rounded Rectangle 7"/>
          <p:cNvSpPr/>
          <p:nvPr/>
        </p:nvSpPr>
        <p:spPr>
          <a:xfrm>
            <a:off x="786384" y="3511296"/>
            <a:ext cx="6035040" cy="1170432"/>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694176"/>
            <a:ext cx="5596127" cy="804672"/>
          </a:xfrm>
          <a:prstGeom prst="rect">
            <a:avLst/>
          </a:prstGeom>
          <a:noFill/>
        </p:spPr>
        <p:txBody>
          <a:bodyPr wrap="square" lIns="0" rIns="0" tIns="0" bIns="0">
            <a:spAutoFit/>
          </a:bodyPr>
          <a:lstStyle/>
          <a:p>
            <a:pPr>
              <a:lnSpc>
                <a:spcPct val="116000"/>
              </a:lnSpc>
              <a:spcAft>
                <a:spcPts val="500"/>
              </a:spcAft>
            </a:pPr>
            <a:r>
              <a:rPr sz="1150" b="1">
                <a:solidFill>
                  <a:srgbClr val="0E2830"/>
                </a:solidFill>
                <a:latin typeface="Outfit"/>
              </a:rPr>
              <a:t>Six-month repatriation window</a:t>
            </a:r>
          </a:p>
          <a:p>
            <a:pPr>
              <a:lnSpc>
                <a:spcPct val="140000"/>
              </a:lnSpc>
              <a:spcAft>
                <a:spcPts val="0"/>
              </a:spcAft>
            </a:pPr>
            <a:r>
              <a:rPr sz="950" b="0">
                <a:solidFill>
                  <a:srgbClr val="33555F"/>
                </a:solidFill>
                <a:latin typeface="Plus Jakarta Sans"/>
              </a:rPr>
              <a:t>Airlines can remit funds up to six months from the date documents were last approved by Bangladesh Bank.</a:t>
            </a:r>
          </a:p>
        </p:txBody>
      </p:sp>
      <p:sp>
        <p:nvSpPr>
          <p:cNvPr id="10" name="Rounded Rectangle 9"/>
          <p:cNvSpPr/>
          <p:nvPr/>
        </p:nvSpPr>
        <p:spPr>
          <a:xfrm>
            <a:off x="786384" y="4864608"/>
            <a:ext cx="6035040" cy="1170432"/>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47488"/>
            <a:ext cx="5596127" cy="804672"/>
          </a:xfrm>
          <a:prstGeom prst="rect">
            <a:avLst/>
          </a:prstGeom>
          <a:noFill/>
        </p:spPr>
        <p:txBody>
          <a:bodyPr wrap="square" lIns="0" rIns="0" tIns="0" bIns="0">
            <a:spAutoFit/>
          </a:bodyPr>
          <a:lstStyle/>
          <a:p>
            <a:pPr>
              <a:lnSpc>
                <a:spcPct val="116000"/>
              </a:lnSpc>
              <a:spcAft>
                <a:spcPts val="500"/>
              </a:spcAft>
            </a:pPr>
            <a:r>
              <a:rPr sz="1150" b="1">
                <a:solidFill>
                  <a:srgbClr val="0E2830"/>
                </a:solidFill>
                <a:latin typeface="Outfit"/>
              </a:rPr>
              <a:t>Fully manual today</a:t>
            </a:r>
          </a:p>
          <a:p>
            <a:pPr>
              <a:lnSpc>
                <a:spcPct val="140000"/>
              </a:lnSpc>
              <a:spcAft>
                <a:spcPts val="0"/>
              </a:spcAft>
            </a:pPr>
            <a:r>
              <a:rPr sz="950" b="0">
                <a:solidFill>
                  <a:srgbClr val="33555F"/>
                </a:solidFill>
                <a:latin typeface="Plus Jakarta Sans"/>
              </a:rPr>
              <a:t>The end-to-end PFA flow runs on hard-copy documentation, with verification at various levels.</a:t>
            </a:r>
          </a:p>
        </p:txBody>
      </p:sp>
      <p:sp>
        <p:nvSpPr>
          <p:cNvPr id="12" name="TextBox 11"/>
          <p:cNvSpPr txBox="1"/>
          <p:nvPr/>
        </p:nvSpPr>
        <p:spPr>
          <a:xfrm>
            <a:off x="7132320" y="1847088"/>
            <a:ext cx="4272991" cy="274320"/>
          </a:xfrm>
          <a:prstGeom prst="rect">
            <a:avLst/>
          </a:prstGeom>
          <a:noFill/>
        </p:spPr>
        <p:txBody>
          <a:bodyPr wrap="square" lIns="0" rIns="0" tIns="0" bIns="0">
            <a:spAutoFit/>
          </a:bodyPr>
          <a:lstStyle/>
          <a:p>
            <a:pPr>
              <a:lnSpc>
                <a:spcPct val="135000"/>
              </a:lnSpc>
              <a:spcAft>
                <a:spcPts val="0"/>
              </a:spcAft>
            </a:pPr>
            <a:r>
              <a:rPr sz="800" b="0" cap="all" spc="160">
                <a:solidFill>
                  <a:srgbClr val="8AA6AE"/>
                </a:solidFill>
                <a:latin typeface="IBM Plex Mono"/>
              </a:rPr>
              <a:t>Airline file types</a:t>
            </a:r>
          </a:p>
        </p:txBody>
      </p:sp>
      <p:sp>
        <p:nvSpPr>
          <p:cNvPr id="13" name="Rounded Rectangle 12"/>
          <p:cNvSpPr/>
          <p:nvPr/>
        </p:nvSpPr>
        <p:spPr>
          <a:xfrm>
            <a:off x="7132320" y="2157984"/>
            <a:ext cx="4272991" cy="1773936"/>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51775" y="2340864"/>
            <a:ext cx="3834079" cy="219456"/>
          </a:xfrm>
          <a:prstGeom prst="rect">
            <a:avLst/>
          </a:prstGeom>
          <a:noFill/>
        </p:spPr>
        <p:txBody>
          <a:bodyPr wrap="square" lIns="0" rIns="0" tIns="0" bIns="0">
            <a:spAutoFit/>
          </a:bodyPr>
          <a:lstStyle/>
          <a:p>
            <a:pPr>
              <a:lnSpc>
                <a:spcPct val="135000"/>
              </a:lnSpc>
              <a:spcAft>
                <a:spcPts val="0"/>
              </a:spcAft>
            </a:pPr>
            <a:r>
              <a:rPr sz="800" b="0" cap="all" spc="180">
                <a:solidFill>
                  <a:srgbClr val="8A6608"/>
                </a:solidFill>
                <a:latin typeface="IBM Plex Mono"/>
              </a:rPr>
              <a:t>Core files</a:t>
            </a:r>
          </a:p>
        </p:txBody>
      </p:sp>
      <p:sp>
        <p:nvSpPr>
          <p:cNvPr id="15" name="Oval 14"/>
          <p:cNvSpPr/>
          <p:nvPr/>
        </p:nvSpPr>
        <p:spPr>
          <a:xfrm>
            <a:off x="7370064" y="270205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25512" y="2633472"/>
            <a:ext cx="3642055"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Passenger collection file</a:t>
            </a:r>
          </a:p>
        </p:txBody>
      </p:sp>
      <p:sp>
        <p:nvSpPr>
          <p:cNvPr id="17" name="Oval 16"/>
          <p:cNvSpPr/>
          <p:nvPr/>
        </p:nvSpPr>
        <p:spPr>
          <a:xfrm>
            <a:off x="7370064" y="29509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25512" y="2882392"/>
            <a:ext cx="3642055"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Cargo collection file</a:t>
            </a:r>
          </a:p>
        </p:txBody>
      </p:sp>
      <p:sp>
        <p:nvSpPr>
          <p:cNvPr id="19" name="Oval 18"/>
          <p:cNvSpPr/>
          <p:nvPr/>
        </p:nvSpPr>
        <p:spPr>
          <a:xfrm>
            <a:off x="7370064" y="319989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25512" y="3131312"/>
            <a:ext cx="3642055"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Disbursement file</a:t>
            </a:r>
          </a:p>
        </p:txBody>
      </p:sp>
      <p:sp>
        <p:nvSpPr>
          <p:cNvPr id="21" name="Rounded Rectangle 20"/>
          <p:cNvSpPr/>
          <p:nvPr/>
        </p:nvSpPr>
        <p:spPr>
          <a:xfrm>
            <a:off x="7132320" y="4096512"/>
            <a:ext cx="4272991"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51775" y="4279392"/>
            <a:ext cx="3834079" cy="219456"/>
          </a:xfrm>
          <a:prstGeom prst="rect">
            <a:avLst/>
          </a:prstGeom>
          <a:noFill/>
        </p:spPr>
        <p:txBody>
          <a:bodyPr wrap="square" lIns="0" rIns="0" tIns="0" bIns="0">
            <a:spAutoFit/>
          </a:bodyPr>
          <a:lstStyle/>
          <a:p>
            <a:pPr>
              <a:lnSpc>
                <a:spcPct val="135000"/>
              </a:lnSpc>
              <a:spcAft>
                <a:spcPts val="0"/>
              </a:spcAft>
            </a:pPr>
            <a:r>
              <a:rPr sz="800" b="0" cap="all" spc="180">
                <a:solidFill>
                  <a:srgbClr val="0C7A80"/>
                </a:solidFill>
                <a:latin typeface="IBM Plex Mono"/>
              </a:rPr>
              <a:t>Supplementary files</a:t>
            </a:r>
          </a:p>
        </p:txBody>
      </p:sp>
      <p:sp>
        <p:nvSpPr>
          <p:cNvPr id="23" name="Oval 22"/>
          <p:cNvSpPr/>
          <p:nvPr/>
        </p:nvSpPr>
        <p:spPr>
          <a:xfrm>
            <a:off x="7370064" y="4640580"/>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25512" y="4572000"/>
            <a:ext cx="3642055"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Miscellaneous file</a:t>
            </a:r>
          </a:p>
        </p:txBody>
      </p:sp>
      <p:sp>
        <p:nvSpPr>
          <p:cNvPr id="25" name="Oval 24"/>
          <p:cNvSpPr/>
          <p:nvPr/>
        </p:nvSpPr>
        <p:spPr>
          <a:xfrm>
            <a:off x="7370064" y="4889500"/>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25512" y="4820920"/>
            <a:ext cx="3642055"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Refund statement file</a:t>
            </a:r>
          </a:p>
        </p:txBody>
      </p:sp>
      <p:sp>
        <p:nvSpPr>
          <p:cNvPr id="27" name="TextBox 26"/>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4  .  11  /  Documentation &amp; roadmap</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Documentation required, annual basis.</a:t>
            </a:r>
          </a:p>
        </p:txBody>
      </p:sp>
      <p:sp>
        <p:nvSpPr>
          <p:cNvPr id="5" name="Rounded Rectangle 4"/>
          <p:cNvSpPr/>
          <p:nvPr/>
        </p:nvSpPr>
        <p:spPr>
          <a:xfrm>
            <a:off x="786384" y="1847088"/>
            <a:ext cx="5172303" cy="950976"/>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29968"/>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BIDA branch office permission</a:t>
            </a:r>
          </a:p>
          <a:p>
            <a:pPr>
              <a:lnSpc>
                <a:spcPct val="140000"/>
              </a:lnSpc>
              <a:spcAft>
                <a:spcPts val="0"/>
              </a:spcAft>
            </a:pPr>
            <a:r>
              <a:rPr sz="900" b="0">
                <a:solidFill>
                  <a:srgbClr val="33555F"/>
                </a:solidFill>
                <a:latin typeface="Plus Jakarta Sans"/>
              </a:rPr>
              <a:t>Valid permission, with subsequent waiver approval, from BIDA.</a:t>
            </a:r>
          </a:p>
        </p:txBody>
      </p:sp>
      <p:sp>
        <p:nvSpPr>
          <p:cNvPr id="7" name="Rounded Rectangle 6"/>
          <p:cNvSpPr/>
          <p:nvPr/>
        </p:nvSpPr>
        <p:spPr>
          <a:xfrm>
            <a:off x="6233007" y="1847088"/>
            <a:ext cx="5172303" cy="950976"/>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52463" y="2029968"/>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Valid GSA agreement</a:t>
            </a:r>
          </a:p>
          <a:p>
            <a:pPr>
              <a:lnSpc>
                <a:spcPct val="140000"/>
              </a:lnSpc>
              <a:spcAft>
                <a:spcPts val="0"/>
              </a:spcAft>
            </a:pPr>
            <a:r>
              <a:rPr sz="900" b="0">
                <a:solidFill>
                  <a:srgbClr val="33555F"/>
                </a:solidFill>
                <a:latin typeface="Plus Jakarta Sans"/>
              </a:rPr>
              <a:t>The appointment agreement between Vietnam Airlines and Flyport Ltd.</a:t>
            </a:r>
          </a:p>
        </p:txBody>
      </p:sp>
      <p:sp>
        <p:nvSpPr>
          <p:cNvPr id="9" name="Rounded Rectangle 8"/>
          <p:cNvSpPr/>
          <p:nvPr/>
        </p:nvSpPr>
        <p:spPr>
          <a:xfrm>
            <a:off x="786384" y="2962656"/>
            <a:ext cx="5172303" cy="950976"/>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45536"/>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Office and cargo-village leases</a:t>
            </a:r>
          </a:p>
          <a:p>
            <a:pPr>
              <a:lnSpc>
                <a:spcPct val="140000"/>
              </a:lnSpc>
              <a:spcAft>
                <a:spcPts val="0"/>
              </a:spcAft>
            </a:pPr>
            <a:r>
              <a:rPr sz="900" b="0">
                <a:solidFill>
                  <a:srgbClr val="33555F"/>
                </a:solidFill>
                <a:latin typeface="Plus Jakarta Sans"/>
              </a:rPr>
              <a:t>City and airport office lease agreement, plus airport cargo-village lease agreement.</a:t>
            </a:r>
          </a:p>
        </p:txBody>
      </p:sp>
      <p:sp>
        <p:nvSpPr>
          <p:cNvPr id="11" name="Rounded Rectangle 10"/>
          <p:cNvSpPr/>
          <p:nvPr/>
        </p:nvSpPr>
        <p:spPr>
          <a:xfrm>
            <a:off x="6233007" y="2962656"/>
            <a:ext cx="5172303" cy="950976"/>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2463" y="3145536"/>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CAAB &amp; Biman service agreements</a:t>
            </a:r>
          </a:p>
          <a:p>
            <a:pPr>
              <a:lnSpc>
                <a:spcPct val="140000"/>
              </a:lnSpc>
              <a:spcAft>
                <a:spcPts val="0"/>
              </a:spcAft>
            </a:pPr>
            <a:r>
              <a:rPr sz="900" b="0">
                <a:solidFill>
                  <a:srgbClr val="33555F"/>
                </a:solidFill>
                <a:latin typeface="Plus Jakarta Sans"/>
              </a:rPr>
              <a:t>Agreements for fuel uplift, catering and ground handling.</a:t>
            </a:r>
          </a:p>
        </p:txBody>
      </p:sp>
      <p:sp>
        <p:nvSpPr>
          <p:cNvPr id="13" name="Rounded Rectangle 12"/>
          <p:cNvSpPr/>
          <p:nvPr/>
        </p:nvSpPr>
        <p:spPr>
          <a:xfrm>
            <a:off x="786384" y="4078224"/>
            <a:ext cx="5172303" cy="950976"/>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61104"/>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No Objection Certificate</a:t>
            </a:r>
          </a:p>
          <a:p>
            <a:pPr>
              <a:lnSpc>
                <a:spcPct val="140000"/>
              </a:lnSpc>
              <a:spcAft>
                <a:spcPts val="0"/>
              </a:spcAft>
            </a:pPr>
            <a:r>
              <a:rPr sz="900" b="0">
                <a:solidFill>
                  <a:srgbClr val="33555F"/>
                </a:solidFill>
                <a:latin typeface="Plus Jakarta Sans"/>
              </a:rPr>
              <a:t>NOC favouring the GSA, from CAAB.</a:t>
            </a:r>
          </a:p>
        </p:txBody>
      </p:sp>
      <p:sp>
        <p:nvSpPr>
          <p:cNvPr id="15" name="Rounded Rectangle 14"/>
          <p:cNvSpPr/>
          <p:nvPr/>
        </p:nvSpPr>
        <p:spPr>
          <a:xfrm>
            <a:off x="6233007" y="4078224"/>
            <a:ext cx="5172303" cy="950976"/>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2463" y="4261104"/>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Tax Exemption Certificate</a:t>
            </a:r>
          </a:p>
          <a:p>
            <a:pPr>
              <a:lnSpc>
                <a:spcPct val="140000"/>
              </a:lnSpc>
              <a:spcAft>
                <a:spcPts val="0"/>
              </a:spcAft>
            </a:pPr>
            <a:r>
              <a:rPr sz="900" b="0">
                <a:solidFill>
                  <a:srgbClr val="33555F"/>
                </a:solidFill>
                <a:latin typeface="Plus Jakarta Sans"/>
              </a:rPr>
              <a:t>Valid certificate from NBR.</a:t>
            </a:r>
          </a:p>
        </p:txBody>
      </p:sp>
      <p:sp>
        <p:nvSpPr>
          <p:cNvPr id="17" name="Rounded Rectangle 16"/>
          <p:cNvSpPr/>
          <p:nvPr/>
        </p:nvSpPr>
        <p:spPr>
          <a:xfrm>
            <a:off x="786384" y="5193792"/>
            <a:ext cx="5172303" cy="950976"/>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376672"/>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Expatriate work permits</a:t>
            </a:r>
          </a:p>
          <a:p>
            <a:pPr>
              <a:lnSpc>
                <a:spcPct val="140000"/>
              </a:lnSpc>
              <a:spcAft>
                <a:spcPts val="0"/>
              </a:spcAft>
            </a:pPr>
            <a:r>
              <a:rPr sz="900" b="0">
                <a:solidFill>
                  <a:srgbClr val="33555F"/>
                </a:solidFill>
                <a:latin typeface="Plus Jakarta Sans"/>
              </a:rPr>
              <a:t>A valid work permit for each expatriate.</a:t>
            </a:r>
          </a:p>
        </p:txBody>
      </p:sp>
      <p:sp>
        <p:nvSpPr>
          <p:cNvPr id="19" name="Rounded Rectangle 18"/>
          <p:cNvSpPr/>
          <p:nvPr/>
        </p:nvSpPr>
        <p:spPr>
          <a:xfrm>
            <a:off x="6233007" y="5193792"/>
            <a:ext cx="5172303" cy="950976"/>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2463" y="5376672"/>
            <a:ext cx="4733391" cy="585216"/>
          </a:xfrm>
          <a:prstGeom prst="rect">
            <a:avLst/>
          </a:prstGeom>
          <a:noFill/>
        </p:spPr>
        <p:txBody>
          <a:bodyPr wrap="square" lIns="0" rIns="0" tIns="0" bIns="0">
            <a:spAutoFit/>
          </a:bodyPr>
          <a:lstStyle/>
          <a:p>
            <a:pPr>
              <a:lnSpc>
                <a:spcPct val="116000"/>
              </a:lnSpc>
              <a:spcAft>
                <a:spcPts val="500"/>
              </a:spcAft>
            </a:pPr>
            <a:r>
              <a:rPr sz="1100" b="1">
                <a:solidFill>
                  <a:srgbClr val="0E2830"/>
                </a:solidFill>
                <a:latin typeface="Outfit"/>
              </a:rPr>
              <a:t>VAT, Trade Licence, Tax Certificate</a:t>
            </a:r>
          </a:p>
          <a:p>
            <a:pPr>
              <a:lnSpc>
                <a:spcPct val="140000"/>
              </a:lnSpc>
              <a:spcAft>
                <a:spcPts val="0"/>
              </a:spcAft>
            </a:pPr>
            <a:r>
              <a:rPr sz="900" b="0">
                <a:solidFill>
                  <a:srgbClr val="33555F"/>
                </a:solidFill>
                <a:latin typeface="Plus Jakarta Sans"/>
              </a:rPr>
              <a:t>Updated VAT registration, Trade Licence and Tax Certificate.</a:t>
            </a:r>
          </a:p>
        </p:txBody>
      </p:sp>
      <p:sp>
        <p:nvSpPr>
          <p:cNvPr id="21" name="Rectangle 20"/>
          <p:cNvSpPr/>
          <p:nvPr/>
        </p:nvSpPr>
        <p:spPr>
          <a:xfrm>
            <a:off x="786384" y="629107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6419088"/>
            <a:ext cx="10618927" cy="384048"/>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Eight standing renewals. Track them as dates, not as tasks. Any one of them lapsing stops the monthly remittance file at the AD bank.</a:t>
            </a:r>
          </a:p>
        </p:txBody>
      </p:sp>
      <p:sp>
        <p:nvSpPr>
          <p:cNvPr id="23" name="TextBox 22"/>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4  .  12  /  Documentation &amp; roadmap</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Documentation required, monthly basis.</a:t>
            </a:r>
          </a:p>
        </p:txBody>
      </p:sp>
      <p:sp>
        <p:nvSpPr>
          <p:cNvPr id="5" name="Rounded Rectangle 4"/>
          <p:cNvSpPr/>
          <p:nvPr/>
        </p:nvSpPr>
        <p:spPr>
          <a:xfrm>
            <a:off x="786384" y="1883664"/>
            <a:ext cx="5172303" cy="19385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66544"/>
            <a:ext cx="4733391" cy="219456"/>
          </a:xfrm>
          <a:prstGeom prst="rect">
            <a:avLst/>
          </a:prstGeom>
          <a:noFill/>
        </p:spPr>
        <p:txBody>
          <a:bodyPr wrap="square" lIns="0" rIns="0" tIns="0" bIns="0">
            <a:spAutoFit/>
          </a:bodyPr>
          <a:lstStyle/>
          <a:p>
            <a:pPr>
              <a:lnSpc>
                <a:spcPct val="135000"/>
              </a:lnSpc>
              <a:spcAft>
                <a:spcPts val="0"/>
              </a:spcAft>
            </a:pPr>
            <a:r>
              <a:rPr sz="800" b="0" cap="all" spc="180">
                <a:solidFill>
                  <a:srgbClr val="8A6608"/>
                </a:solidFill>
                <a:latin typeface="IBM Plex Mono"/>
              </a:rPr>
              <a:t>Regulatory annexures</a:t>
            </a:r>
          </a:p>
        </p:txBody>
      </p:sp>
      <p:sp>
        <p:nvSpPr>
          <p:cNvPr id="7" name="Oval 6"/>
          <p:cNvSpPr/>
          <p:nvPr/>
        </p:nvSpPr>
        <p:spPr>
          <a:xfrm>
            <a:off x="1024128" y="242773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9576" y="2359152"/>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Annexure A, App. 5/42, 5/43, 5/46, 5/47</a:t>
            </a:r>
          </a:p>
        </p:txBody>
      </p:sp>
      <p:sp>
        <p:nvSpPr>
          <p:cNvPr id="9" name="Oval 8"/>
          <p:cNvSpPr/>
          <p:nvPr/>
        </p:nvSpPr>
        <p:spPr>
          <a:xfrm>
            <a:off x="1024128" y="267665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9576" y="2608072"/>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Annexure FA (I)</a:t>
            </a:r>
          </a:p>
        </p:txBody>
      </p:sp>
      <p:sp>
        <p:nvSpPr>
          <p:cNvPr id="11" name="Oval 10"/>
          <p:cNvSpPr/>
          <p:nvPr/>
        </p:nvSpPr>
        <p:spPr>
          <a:xfrm>
            <a:off x="1024128" y="29255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9576" y="2856992"/>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Annexure 1</a:t>
            </a:r>
          </a:p>
        </p:txBody>
      </p:sp>
      <p:sp>
        <p:nvSpPr>
          <p:cNvPr id="13" name="Oval 12"/>
          <p:cNvSpPr/>
          <p:nvPr/>
        </p:nvSpPr>
        <p:spPr>
          <a:xfrm>
            <a:off x="1024128" y="317449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3105912"/>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Letter of undertaking</a:t>
            </a:r>
          </a:p>
        </p:txBody>
      </p:sp>
      <p:sp>
        <p:nvSpPr>
          <p:cNvPr id="15" name="Rounded Rectangle 14"/>
          <p:cNvSpPr/>
          <p:nvPr/>
        </p:nvSpPr>
        <p:spPr>
          <a:xfrm>
            <a:off x="6233007" y="1883664"/>
            <a:ext cx="5172303" cy="19385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2463" y="2066544"/>
            <a:ext cx="4733391" cy="219456"/>
          </a:xfrm>
          <a:prstGeom prst="rect">
            <a:avLst/>
          </a:prstGeom>
          <a:noFill/>
        </p:spPr>
        <p:txBody>
          <a:bodyPr wrap="square" lIns="0" rIns="0" tIns="0" bIns="0">
            <a:spAutoFit/>
          </a:bodyPr>
          <a:lstStyle/>
          <a:p>
            <a:pPr>
              <a:lnSpc>
                <a:spcPct val="135000"/>
              </a:lnSpc>
              <a:spcAft>
                <a:spcPts val="0"/>
              </a:spcAft>
            </a:pPr>
            <a:r>
              <a:rPr sz="800" b="0" cap="all" spc="180">
                <a:solidFill>
                  <a:srgbClr val="0C7A80"/>
                </a:solidFill>
                <a:latin typeface="IBM Plex Mono"/>
              </a:rPr>
              <a:t>Financial records</a:t>
            </a:r>
          </a:p>
        </p:txBody>
      </p:sp>
      <p:sp>
        <p:nvSpPr>
          <p:cNvPr id="17" name="Oval 16"/>
          <p:cNvSpPr/>
          <p:nvPr/>
        </p:nvSpPr>
        <p:spPr>
          <a:xfrm>
            <a:off x="6470751" y="242773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6199" y="2359152"/>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Collection and disbursement summary</a:t>
            </a:r>
          </a:p>
        </p:txBody>
      </p:sp>
      <p:sp>
        <p:nvSpPr>
          <p:cNvPr id="19" name="Oval 18"/>
          <p:cNvSpPr/>
          <p:nvPr/>
        </p:nvSpPr>
        <p:spPr>
          <a:xfrm>
            <a:off x="6470751" y="267665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6199" y="2608072"/>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Bank statement</a:t>
            </a:r>
          </a:p>
        </p:txBody>
      </p:sp>
      <p:sp>
        <p:nvSpPr>
          <p:cNvPr id="21" name="Oval 20"/>
          <p:cNvSpPr/>
          <p:nvPr/>
        </p:nvSpPr>
        <p:spPr>
          <a:xfrm>
            <a:off x="6470751" y="292557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6199" y="2856992"/>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AIT and refund statement</a:t>
            </a:r>
          </a:p>
        </p:txBody>
      </p:sp>
      <p:sp>
        <p:nvSpPr>
          <p:cNvPr id="23" name="Rounded Rectangle 22"/>
          <p:cNvSpPr/>
          <p:nvPr/>
        </p:nvSpPr>
        <p:spPr>
          <a:xfrm>
            <a:off x="786384" y="4059935"/>
            <a:ext cx="5172303" cy="193852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242816"/>
            <a:ext cx="4733391" cy="219456"/>
          </a:xfrm>
          <a:prstGeom prst="rect">
            <a:avLst/>
          </a:prstGeom>
          <a:noFill/>
        </p:spPr>
        <p:txBody>
          <a:bodyPr wrap="square" lIns="0" rIns="0" tIns="0" bIns="0">
            <a:spAutoFit/>
          </a:bodyPr>
          <a:lstStyle/>
          <a:p>
            <a:pPr>
              <a:lnSpc>
                <a:spcPct val="135000"/>
              </a:lnSpc>
              <a:spcAft>
                <a:spcPts val="0"/>
              </a:spcAft>
            </a:pPr>
            <a:r>
              <a:rPr sz="800" b="0" cap="all" spc="180">
                <a:solidFill>
                  <a:srgbClr val="C10073"/>
                </a:solidFill>
                <a:latin typeface="IBM Plex Mono"/>
              </a:rPr>
              <a:t>Sales reports</a:t>
            </a:r>
          </a:p>
        </p:txBody>
      </p:sp>
      <p:sp>
        <p:nvSpPr>
          <p:cNvPr id="25" name="Oval 24"/>
          <p:cNvSpPr/>
          <p:nvPr/>
        </p:nvSpPr>
        <p:spPr>
          <a:xfrm>
            <a:off x="1024128" y="4604003"/>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79576" y="4535423"/>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BSP report</a:t>
            </a:r>
          </a:p>
        </p:txBody>
      </p:sp>
      <p:sp>
        <p:nvSpPr>
          <p:cNvPr id="27" name="Oval 26"/>
          <p:cNvSpPr/>
          <p:nvPr/>
        </p:nvSpPr>
        <p:spPr>
          <a:xfrm>
            <a:off x="1024128" y="4852923"/>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9576" y="4784343"/>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CASS report</a:t>
            </a:r>
          </a:p>
        </p:txBody>
      </p:sp>
      <p:sp>
        <p:nvSpPr>
          <p:cNvPr id="29" name="Oval 28"/>
          <p:cNvSpPr/>
          <p:nvPr/>
        </p:nvSpPr>
        <p:spPr>
          <a:xfrm>
            <a:off x="1024128" y="5101843"/>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79576" y="5033263"/>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Airline billing summary</a:t>
            </a:r>
          </a:p>
        </p:txBody>
      </p:sp>
      <p:sp>
        <p:nvSpPr>
          <p:cNvPr id="31" name="Rounded Rectangle 30"/>
          <p:cNvSpPr/>
          <p:nvPr/>
        </p:nvSpPr>
        <p:spPr>
          <a:xfrm>
            <a:off x="6233007" y="4059935"/>
            <a:ext cx="5172303" cy="19385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52463" y="4242816"/>
            <a:ext cx="4733391" cy="219456"/>
          </a:xfrm>
          <a:prstGeom prst="rect">
            <a:avLst/>
          </a:prstGeom>
          <a:noFill/>
        </p:spPr>
        <p:txBody>
          <a:bodyPr wrap="square" lIns="0" rIns="0" tIns="0" bIns="0">
            <a:spAutoFit/>
          </a:bodyPr>
          <a:lstStyle/>
          <a:p>
            <a:pPr>
              <a:lnSpc>
                <a:spcPct val="135000"/>
              </a:lnSpc>
              <a:spcAft>
                <a:spcPts val="0"/>
              </a:spcAft>
            </a:pPr>
            <a:r>
              <a:rPr sz="800" b="0" cap="all" spc="180">
                <a:solidFill>
                  <a:srgbClr val="8A6608"/>
                </a:solidFill>
                <a:latin typeface="IBM Plex Mono"/>
              </a:rPr>
              <a:t>Tax &amp; fee payments</a:t>
            </a:r>
          </a:p>
        </p:txBody>
      </p:sp>
      <p:sp>
        <p:nvSpPr>
          <p:cNvPr id="33" name="Oval 32"/>
          <p:cNvSpPr/>
          <p:nvPr/>
        </p:nvSpPr>
        <p:spPr>
          <a:xfrm>
            <a:off x="6470751" y="4604003"/>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6199" y="4535423"/>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Challans for relevant VAT and tax</a:t>
            </a:r>
          </a:p>
        </p:txBody>
      </p:sp>
      <p:sp>
        <p:nvSpPr>
          <p:cNvPr id="35" name="Oval 34"/>
          <p:cNvSpPr/>
          <p:nvPr/>
        </p:nvSpPr>
        <p:spPr>
          <a:xfrm>
            <a:off x="6470751" y="4852923"/>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6199" y="4784343"/>
            <a:ext cx="4541367" cy="822960"/>
          </a:xfrm>
          <a:prstGeom prst="rect">
            <a:avLst/>
          </a:prstGeom>
          <a:noFill/>
        </p:spPr>
        <p:txBody>
          <a:bodyPr wrap="square" lIns="0" rIns="0" tIns="0" bIns="0">
            <a:spAutoFit/>
          </a:bodyPr>
          <a:lstStyle/>
          <a:p>
            <a:pPr>
              <a:lnSpc>
                <a:spcPct val="136000"/>
              </a:lnSpc>
              <a:spcAft>
                <a:spcPts val="0"/>
              </a:spcAft>
            </a:pPr>
            <a:r>
              <a:rPr sz="1000" b="0">
                <a:solidFill>
                  <a:srgbClr val="33555F"/>
                </a:solidFill>
                <a:latin typeface="Plus Jakarta Sans"/>
              </a:rPr>
              <a:t>Payment summary: embarkation, airport and passenger development fee</a:t>
            </a:r>
          </a:p>
        </p:txBody>
      </p:sp>
      <p:sp>
        <p:nvSpPr>
          <p:cNvPr id="37" name="Rectangle 36"/>
          <p:cNvSpPr/>
          <p:nvPr/>
        </p:nvSpPr>
        <p:spPr>
          <a:xfrm>
            <a:off x="786384" y="629107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6419088"/>
            <a:ext cx="10618927" cy="384048"/>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Twelve items, four groups, every month. Flyport assembles all four groups so Hanoi only ever sees one submitted file.</a:t>
            </a:r>
          </a:p>
        </p:txBody>
      </p:sp>
      <p:sp>
        <p:nvSpPr>
          <p:cNvPr id="39" name="TextBox 38"/>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Part 4  .  13  /  Documentation &amp; roadmap</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The launch roadmap.</a:t>
            </a:r>
          </a:p>
        </p:txBody>
      </p:sp>
      <p:sp>
        <p:nvSpPr>
          <p:cNvPr id="5" name="Rounded Rectangle 4"/>
          <p:cNvSpPr/>
          <p:nvPr/>
        </p:nvSpPr>
        <p:spPr>
          <a:xfrm>
            <a:off x="786384" y="1920240"/>
            <a:ext cx="2476423" cy="301752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037511" cy="219456"/>
          </a:xfrm>
          <a:prstGeom prst="rect">
            <a:avLst/>
          </a:prstGeom>
          <a:noFill/>
        </p:spPr>
        <p:txBody>
          <a:bodyPr wrap="square" lIns="0" rIns="0" tIns="0" bIns="0">
            <a:spAutoFit/>
          </a:bodyPr>
          <a:lstStyle/>
          <a:p>
            <a:pPr>
              <a:lnSpc>
                <a:spcPct val="135000"/>
              </a:lnSpc>
              <a:spcAft>
                <a:spcPts val="0"/>
              </a:spcAft>
            </a:pPr>
            <a:r>
              <a:rPr sz="800" b="0" cap="all" spc="180">
                <a:solidFill>
                  <a:srgbClr val="8A6608"/>
                </a:solidFill>
                <a:latin typeface="IBM Plex Mono"/>
              </a:rPr>
              <a:t>Phase 1</a:t>
            </a:r>
          </a:p>
        </p:txBody>
      </p:sp>
      <p:sp>
        <p:nvSpPr>
          <p:cNvPr id="7" name="TextBox 6"/>
          <p:cNvSpPr txBox="1"/>
          <p:nvPr/>
        </p:nvSpPr>
        <p:spPr>
          <a:xfrm>
            <a:off x="1005840" y="2340864"/>
            <a:ext cx="2037511" cy="384048"/>
          </a:xfrm>
          <a:prstGeom prst="rect">
            <a:avLst/>
          </a:prstGeom>
          <a:noFill/>
        </p:spPr>
        <p:txBody>
          <a:bodyPr wrap="square" lIns="0" rIns="0" tIns="0" bIns="0">
            <a:spAutoFit/>
          </a:bodyPr>
          <a:lstStyle/>
          <a:p>
            <a:pPr>
              <a:lnSpc>
                <a:spcPct val="116000"/>
              </a:lnSpc>
              <a:spcAft>
                <a:spcPts val="0"/>
              </a:spcAft>
            </a:pPr>
            <a:r>
              <a:rPr sz="1150" b="1">
                <a:solidFill>
                  <a:srgbClr val="0E2830"/>
                </a:solidFill>
                <a:latin typeface="Outfit"/>
              </a:rPr>
              <a:t>Legal &amp; Regulatory Foundation</a:t>
            </a:r>
          </a:p>
        </p:txBody>
      </p:sp>
      <p:sp>
        <p:nvSpPr>
          <p:cNvPr id="8" name="Oval 7"/>
          <p:cNvSpPr/>
          <p:nvPr/>
        </p:nvSpPr>
        <p:spPr>
          <a:xfrm>
            <a:off x="1024128" y="2738628"/>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9576" y="2670048"/>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Corporate registration: Trade Licence, TIN, BIN</a:t>
            </a:r>
          </a:p>
        </p:txBody>
      </p:sp>
      <p:sp>
        <p:nvSpPr>
          <p:cNvPr id="10" name="Oval 9"/>
          <p:cNvSpPr/>
          <p:nvPr/>
        </p:nvSpPr>
        <p:spPr>
          <a:xfrm>
            <a:off x="1024128" y="313263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9576" y="3064052"/>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BIDA branch permission and waiver clauses</a:t>
            </a:r>
          </a:p>
        </p:txBody>
      </p:sp>
      <p:sp>
        <p:nvSpPr>
          <p:cNvPr id="12" name="Oval 11"/>
          <p:cNvSpPr/>
          <p:nvPr/>
        </p:nvSpPr>
        <p:spPr>
          <a:xfrm>
            <a:off x="1024128" y="3526637"/>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9576" y="3458057"/>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CAAB designation under the ASA</a:t>
            </a:r>
          </a:p>
        </p:txBody>
      </p:sp>
      <p:sp>
        <p:nvSpPr>
          <p:cNvPr id="14" name="Rounded Rectangle 13"/>
          <p:cNvSpPr/>
          <p:nvPr/>
        </p:nvSpPr>
        <p:spPr>
          <a:xfrm>
            <a:off x="3500551" y="1920240"/>
            <a:ext cx="2476423" cy="301752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20007" y="2103120"/>
            <a:ext cx="2037511" cy="219456"/>
          </a:xfrm>
          <a:prstGeom prst="rect">
            <a:avLst/>
          </a:prstGeom>
          <a:noFill/>
        </p:spPr>
        <p:txBody>
          <a:bodyPr wrap="square" lIns="0" rIns="0" tIns="0" bIns="0">
            <a:spAutoFit/>
          </a:bodyPr>
          <a:lstStyle/>
          <a:p>
            <a:pPr>
              <a:lnSpc>
                <a:spcPct val="135000"/>
              </a:lnSpc>
              <a:spcAft>
                <a:spcPts val="0"/>
              </a:spcAft>
            </a:pPr>
            <a:r>
              <a:rPr sz="800" b="0" cap="all" spc="180">
                <a:solidFill>
                  <a:srgbClr val="0C7A80"/>
                </a:solidFill>
                <a:latin typeface="IBM Plex Mono"/>
              </a:rPr>
              <a:t>Phase 2</a:t>
            </a:r>
          </a:p>
        </p:txBody>
      </p:sp>
      <p:sp>
        <p:nvSpPr>
          <p:cNvPr id="16" name="TextBox 15"/>
          <p:cNvSpPr txBox="1"/>
          <p:nvPr/>
        </p:nvSpPr>
        <p:spPr>
          <a:xfrm>
            <a:off x="3720007" y="2340864"/>
            <a:ext cx="2037511" cy="384048"/>
          </a:xfrm>
          <a:prstGeom prst="rect">
            <a:avLst/>
          </a:prstGeom>
          <a:noFill/>
        </p:spPr>
        <p:txBody>
          <a:bodyPr wrap="square" lIns="0" rIns="0" tIns="0" bIns="0">
            <a:spAutoFit/>
          </a:bodyPr>
          <a:lstStyle/>
          <a:p>
            <a:pPr>
              <a:lnSpc>
                <a:spcPct val="116000"/>
              </a:lnSpc>
              <a:spcAft>
                <a:spcPts val="0"/>
              </a:spcAft>
            </a:pPr>
            <a:r>
              <a:rPr sz="1150" b="1">
                <a:solidFill>
                  <a:srgbClr val="0E2830"/>
                </a:solidFill>
                <a:latin typeface="Outfit"/>
              </a:rPr>
              <a:t>Banking &amp; Tax Set-Up</a:t>
            </a:r>
          </a:p>
        </p:txBody>
      </p:sp>
      <p:sp>
        <p:nvSpPr>
          <p:cNvPr id="17" name="Oval 16"/>
          <p:cNvSpPr/>
          <p:nvPr/>
        </p:nvSpPr>
        <p:spPr>
          <a:xfrm>
            <a:off x="3738295" y="273862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93743" y="2670048"/>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Dedicated AD-bank account for Vietnam Airlines</a:t>
            </a:r>
          </a:p>
        </p:txBody>
      </p:sp>
      <p:sp>
        <p:nvSpPr>
          <p:cNvPr id="19" name="Oval 18"/>
          <p:cNvSpPr/>
          <p:nvPr/>
        </p:nvSpPr>
        <p:spPr>
          <a:xfrm>
            <a:off x="3738295" y="313263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93743" y="3064052"/>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NBR double-taxation and tax exemption certificates</a:t>
            </a:r>
          </a:p>
        </p:txBody>
      </p:sp>
      <p:sp>
        <p:nvSpPr>
          <p:cNvPr id="21" name="Oval 20"/>
          <p:cNvSpPr/>
          <p:nvPr/>
        </p:nvSpPr>
        <p:spPr>
          <a:xfrm>
            <a:off x="3738295" y="3526637"/>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3743" y="3458057"/>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Bangladesh Bank GSA notification</a:t>
            </a:r>
          </a:p>
        </p:txBody>
      </p:sp>
      <p:sp>
        <p:nvSpPr>
          <p:cNvPr id="23" name="Rounded Rectangle 22"/>
          <p:cNvSpPr/>
          <p:nvPr/>
        </p:nvSpPr>
        <p:spPr>
          <a:xfrm>
            <a:off x="6214719" y="1920240"/>
            <a:ext cx="2476423" cy="301752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4175" y="2103120"/>
            <a:ext cx="2037511" cy="219456"/>
          </a:xfrm>
          <a:prstGeom prst="rect">
            <a:avLst/>
          </a:prstGeom>
          <a:noFill/>
        </p:spPr>
        <p:txBody>
          <a:bodyPr wrap="square" lIns="0" rIns="0" tIns="0" bIns="0">
            <a:spAutoFit/>
          </a:bodyPr>
          <a:lstStyle/>
          <a:p>
            <a:pPr>
              <a:lnSpc>
                <a:spcPct val="135000"/>
              </a:lnSpc>
              <a:spcAft>
                <a:spcPts val="0"/>
              </a:spcAft>
            </a:pPr>
            <a:r>
              <a:rPr sz="800" b="0" cap="all" spc="180">
                <a:solidFill>
                  <a:srgbClr val="8A6608"/>
                </a:solidFill>
                <a:latin typeface="IBM Plex Mono"/>
              </a:rPr>
              <a:t>Phase 3</a:t>
            </a:r>
          </a:p>
        </p:txBody>
      </p:sp>
      <p:sp>
        <p:nvSpPr>
          <p:cNvPr id="25" name="TextBox 24"/>
          <p:cNvSpPr txBox="1"/>
          <p:nvPr/>
        </p:nvSpPr>
        <p:spPr>
          <a:xfrm>
            <a:off x="6434175" y="2340864"/>
            <a:ext cx="2037511" cy="384048"/>
          </a:xfrm>
          <a:prstGeom prst="rect">
            <a:avLst/>
          </a:prstGeom>
          <a:noFill/>
        </p:spPr>
        <p:txBody>
          <a:bodyPr wrap="square" lIns="0" rIns="0" tIns="0" bIns="0">
            <a:spAutoFit/>
          </a:bodyPr>
          <a:lstStyle/>
          <a:p>
            <a:pPr>
              <a:lnSpc>
                <a:spcPct val="116000"/>
              </a:lnSpc>
              <a:spcAft>
                <a:spcPts val="0"/>
              </a:spcAft>
            </a:pPr>
            <a:r>
              <a:rPr sz="1150" b="1">
                <a:solidFill>
                  <a:srgbClr val="0E2830"/>
                </a:solidFill>
                <a:latin typeface="Outfit"/>
              </a:rPr>
              <a:t>Operational Launch</a:t>
            </a:r>
          </a:p>
        </p:txBody>
      </p:sp>
      <p:sp>
        <p:nvSpPr>
          <p:cNvPr id="26" name="Oval 25"/>
          <p:cNvSpPr/>
          <p:nvPr/>
        </p:nvSpPr>
        <p:spPr>
          <a:xfrm>
            <a:off x="6452463" y="2738628"/>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7911" y="2670048"/>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GSA appointment filed with CAAB</a:t>
            </a:r>
          </a:p>
        </p:txBody>
      </p:sp>
      <p:sp>
        <p:nvSpPr>
          <p:cNvPr id="28" name="Oval 27"/>
          <p:cNvSpPr/>
          <p:nvPr/>
        </p:nvSpPr>
        <p:spPr>
          <a:xfrm>
            <a:off x="6452463" y="313263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7911" y="3064052"/>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Fare, cargo tariff and schedule approval</a:t>
            </a:r>
          </a:p>
        </p:txBody>
      </p:sp>
      <p:sp>
        <p:nvSpPr>
          <p:cNvPr id="30" name="Oval 29"/>
          <p:cNvSpPr/>
          <p:nvPr/>
        </p:nvSpPr>
        <p:spPr>
          <a:xfrm>
            <a:off x="6452463" y="3526637"/>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7911" y="3458057"/>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Expatriate and local staffing, 1:5 ratio</a:t>
            </a:r>
          </a:p>
        </p:txBody>
      </p:sp>
      <p:sp>
        <p:nvSpPr>
          <p:cNvPr id="32" name="Rounded Rectangle 31"/>
          <p:cNvSpPr/>
          <p:nvPr/>
        </p:nvSpPr>
        <p:spPr>
          <a:xfrm>
            <a:off x="8928887" y="1920240"/>
            <a:ext cx="2476423" cy="301752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8343" y="2103120"/>
            <a:ext cx="2037511" cy="219456"/>
          </a:xfrm>
          <a:prstGeom prst="rect">
            <a:avLst/>
          </a:prstGeom>
          <a:noFill/>
        </p:spPr>
        <p:txBody>
          <a:bodyPr wrap="square" lIns="0" rIns="0" tIns="0" bIns="0">
            <a:spAutoFit/>
          </a:bodyPr>
          <a:lstStyle/>
          <a:p>
            <a:pPr>
              <a:lnSpc>
                <a:spcPct val="135000"/>
              </a:lnSpc>
              <a:spcAft>
                <a:spcPts val="0"/>
              </a:spcAft>
            </a:pPr>
            <a:r>
              <a:rPr sz="800" b="0" cap="all" spc="180">
                <a:solidFill>
                  <a:srgbClr val="C10073"/>
                </a:solidFill>
                <a:latin typeface="IBM Plex Mono"/>
              </a:rPr>
              <a:t>Phase 4</a:t>
            </a:r>
          </a:p>
        </p:txBody>
      </p:sp>
      <p:sp>
        <p:nvSpPr>
          <p:cNvPr id="34" name="TextBox 33"/>
          <p:cNvSpPr txBox="1"/>
          <p:nvPr/>
        </p:nvSpPr>
        <p:spPr>
          <a:xfrm>
            <a:off x="9148343" y="2340864"/>
            <a:ext cx="2037511" cy="384048"/>
          </a:xfrm>
          <a:prstGeom prst="rect">
            <a:avLst/>
          </a:prstGeom>
          <a:noFill/>
        </p:spPr>
        <p:txBody>
          <a:bodyPr wrap="square" lIns="0" rIns="0" tIns="0" bIns="0">
            <a:spAutoFit/>
          </a:bodyPr>
          <a:lstStyle/>
          <a:p>
            <a:pPr>
              <a:lnSpc>
                <a:spcPct val="116000"/>
              </a:lnSpc>
              <a:spcAft>
                <a:spcPts val="0"/>
              </a:spcAft>
            </a:pPr>
            <a:r>
              <a:rPr sz="1150" b="1">
                <a:solidFill>
                  <a:srgbClr val="0E2830"/>
                </a:solidFill>
                <a:latin typeface="Outfit"/>
              </a:rPr>
              <a:t>Ongoing Monthly Cycle</a:t>
            </a:r>
          </a:p>
        </p:txBody>
      </p:sp>
      <p:sp>
        <p:nvSpPr>
          <p:cNvPr id="35" name="Oval 34"/>
          <p:cNvSpPr/>
          <p:nvPr/>
        </p:nvSpPr>
        <p:spPr>
          <a:xfrm>
            <a:off x="9166631" y="2738628"/>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2079" y="2670048"/>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Remittance process flow and PFA filing</a:t>
            </a:r>
          </a:p>
        </p:txBody>
      </p:sp>
      <p:sp>
        <p:nvSpPr>
          <p:cNvPr id="37" name="Oval 36"/>
          <p:cNvSpPr/>
          <p:nvPr/>
        </p:nvSpPr>
        <p:spPr>
          <a:xfrm>
            <a:off x="9166631" y="3132632"/>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2079" y="3064052"/>
            <a:ext cx="1845487" cy="822960"/>
          </a:xfrm>
          <a:prstGeom prst="rect">
            <a:avLst/>
          </a:prstGeom>
          <a:noFill/>
        </p:spPr>
        <p:txBody>
          <a:bodyPr wrap="square" lIns="0" rIns="0" tIns="0" bIns="0">
            <a:spAutoFit/>
          </a:bodyPr>
          <a:lstStyle/>
          <a:p>
            <a:pPr>
              <a:lnSpc>
                <a:spcPct val="136000"/>
              </a:lnSpc>
              <a:spcAft>
                <a:spcPts val="0"/>
              </a:spcAft>
            </a:pPr>
            <a:r>
              <a:rPr sz="919" b="0">
                <a:solidFill>
                  <a:srgbClr val="33555F"/>
                </a:solidFill>
                <a:latin typeface="Plus Jakarta Sans"/>
              </a:rPr>
              <a:t>Annual and monthly documentation</a:t>
            </a:r>
          </a:p>
        </p:txBody>
      </p:sp>
      <p:sp>
        <p:nvSpPr>
          <p:cNvPr id="39" name="Rectangle 38"/>
          <p:cNvSpPr/>
          <p:nvPr/>
        </p:nvSpPr>
        <p:spPr>
          <a:xfrm>
            <a:off x="786384" y="537667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 y="550468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Still to be scoped: Financial Statements and GSA Manpower.  Nothing in phase two starts before phase one closes.</a:t>
            </a:r>
          </a:p>
        </p:txBody>
      </p:sp>
      <p:sp>
        <p:nvSpPr>
          <p:cNvPr id="41" name="TextBox 40"/>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ptx_closer.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86384" y="1417320"/>
            <a:ext cx="6766560" cy="274320"/>
          </a:xfrm>
          <a:prstGeom prst="rect">
            <a:avLst/>
          </a:prstGeom>
          <a:noFill/>
        </p:spPr>
        <p:txBody>
          <a:bodyPr wrap="square" lIns="0" rIns="0" tIns="0" bIns="0">
            <a:spAutoFit/>
          </a:bodyPr>
          <a:lstStyle/>
          <a:p>
            <a:pPr>
              <a:lnSpc>
                <a:spcPct val="135000"/>
              </a:lnSpc>
              <a:spcAft>
                <a:spcPts val="0"/>
              </a:spcAft>
            </a:pPr>
            <a:r>
              <a:rPr sz="950" b="0" cap="all" spc="220">
                <a:solidFill>
                  <a:srgbClr val="0A5F65"/>
                </a:solidFill>
                <a:latin typeface="IBM Plex Mono"/>
              </a:rPr>
              <a:t>Flyport Ltd.   .   General Sales Agent</a:t>
            </a:r>
          </a:p>
        </p:txBody>
      </p:sp>
      <p:sp>
        <p:nvSpPr>
          <p:cNvPr id="5" name="TextBox 4"/>
          <p:cNvSpPr txBox="1"/>
          <p:nvPr/>
        </p:nvSpPr>
        <p:spPr>
          <a:xfrm>
            <a:off x="786384" y="1783080"/>
            <a:ext cx="6309360" cy="1280160"/>
          </a:xfrm>
          <a:prstGeom prst="rect">
            <a:avLst/>
          </a:prstGeom>
          <a:noFill/>
        </p:spPr>
        <p:txBody>
          <a:bodyPr wrap="square" lIns="0" rIns="0" tIns="0" bIns="0">
            <a:spAutoFit/>
          </a:bodyPr>
          <a:lstStyle/>
          <a:p>
            <a:pPr>
              <a:lnSpc>
                <a:spcPct val="102000"/>
              </a:lnSpc>
              <a:spcAft>
                <a:spcPts val="0"/>
              </a:spcAft>
            </a:pPr>
            <a:r>
              <a:rPr sz="3600" b="1">
                <a:solidFill>
                  <a:srgbClr val="0E2830"/>
                </a:solidFill>
                <a:latin typeface="Outfit"/>
              </a:rPr>
              <a:t>Ready for launch.</a:t>
            </a:r>
          </a:p>
        </p:txBody>
      </p:sp>
      <p:sp>
        <p:nvSpPr>
          <p:cNvPr id="6" name="TextBox 5"/>
          <p:cNvSpPr txBox="1"/>
          <p:nvPr/>
        </p:nvSpPr>
        <p:spPr>
          <a:xfrm>
            <a:off x="786384" y="3200400"/>
            <a:ext cx="5943600" cy="1097280"/>
          </a:xfrm>
          <a:prstGeom prst="rect">
            <a:avLst/>
          </a:prstGeom>
          <a:noFill/>
        </p:spPr>
        <p:txBody>
          <a:bodyPr wrap="square" lIns="0" rIns="0" tIns="0" bIns="0">
            <a:spAutoFit/>
          </a:bodyPr>
          <a:lstStyle/>
          <a:p>
            <a:pPr>
              <a:lnSpc>
                <a:spcPct val="142000"/>
              </a:lnSpc>
              <a:spcAft>
                <a:spcPts val="0"/>
              </a:spcAft>
            </a:pPr>
            <a:r>
              <a:rPr sz="1100" b="0">
                <a:solidFill>
                  <a:srgbClr val="33555F"/>
                </a:solidFill>
                <a:latin typeface="Plus Jakarta Sans"/>
              </a:rPr>
              <a:t>This pack brings our launch checklist, four Bangladesh Bank circulars, and our AD-bank remittance procedure into one plan, so Vietnam Airlines can launch in Bangladesh with every approval and every monthly filing accounted for.</a:t>
            </a:r>
          </a:p>
        </p:txBody>
      </p:sp>
      <p:sp>
        <p:nvSpPr>
          <p:cNvPr id="7" name="TextBox 6"/>
          <p:cNvSpPr txBox="1"/>
          <p:nvPr/>
        </p:nvSpPr>
        <p:spPr>
          <a:xfrm>
            <a:off x="786384" y="4443984"/>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BIDA</a:t>
            </a:r>
          </a:p>
          <a:p>
            <a:pPr>
              <a:lnSpc>
                <a:spcPct val="135000"/>
              </a:lnSpc>
              <a:spcAft>
                <a:spcPts val="0"/>
              </a:spcAft>
            </a:pPr>
            <a:r>
              <a:rPr sz="800" b="0" cap="all" spc="160">
                <a:solidFill>
                  <a:srgbClr val="52737D"/>
                </a:solidFill>
                <a:latin typeface="IBM Plex Mono"/>
              </a:rPr>
              <a:t>Permission and waivers</a:t>
            </a:r>
          </a:p>
        </p:txBody>
      </p:sp>
      <p:sp>
        <p:nvSpPr>
          <p:cNvPr id="8" name="TextBox 7"/>
          <p:cNvSpPr txBox="1"/>
          <p:nvPr/>
        </p:nvSpPr>
        <p:spPr>
          <a:xfrm>
            <a:off x="2359152" y="4443984"/>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CAAB</a:t>
            </a:r>
          </a:p>
          <a:p>
            <a:pPr>
              <a:lnSpc>
                <a:spcPct val="135000"/>
              </a:lnSpc>
              <a:spcAft>
                <a:spcPts val="0"/>
              </a:spcAft>
            </a:pPr>
            <a:r>
              <a:rPr sz="800" b="0" cap="all" spc="160">
                <a:solidFill>
                  <a:srgbClr val="52737D"/>
                </a:solidFill>
                <a:latin typeface="IBM Plex Mono"/>
              </a:rPr>
              <a:t>Permits, tariffs, schedule</a:t>
            </a:r>
          </a:p>
        </p:txBody>
      </p:sp>
      <p:sp>
        <p:nvSpPr>
          <p:cNvPr id="9" name="TextBox 8"/>
          <p:cNvSpPr txBox="1"/>
          <p:nvPr/>
        </p:nvSpPr>
        <p:spPr>
          <a:xfrm>
            <a:off x="3931920" y="4443984"/>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NBR</a:t>
            </a:r>
          </a:p>
          <a:p>
            <a:pPr>
              <a:lnSpc>
                <a:spcPct val="135000"/>
              </a:lnSpc>
              <a:spcAft>
                <a:spcPts val="0"/>
              </a:spcAft>
            </a:pPr>
            <a:r>
              <a:rPr sz="800" b="0" cap="all" spc="160">
                <a:solidFill>
                  <a:srgbClr val="52737D"/>
                </a:solidFill>
                <a:latin typeface="IBM Plex Mono"/>
              </a:rPr>
              <a:t>Treaty relief, kept live</a:t>
            </a:r>
          </a:p>
        </p:txBody>
      </p:sp>
      <p:sp>
        <p:nvSpPr>
          <p:cNvPr id="10" name="TextBox 9"/>
          <p:cNvSpPr txBox="1"/>
          <p:nvPr/>
        </p:nvSpPr>
        <p:spPr>
          <a:xfrm>
            <a:off x="5504688" y="4443984"/>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BB + AD</a:t>
            </a:r>
          </a:p>
          <a:p>
            <a:pPr>
              <a:lnSpc>
                <a:spcPct val="135000"/>
              </a:lnSpc>
              <a:spcAft>
                <a:spcPts val="0"/>
              </a:spcAft>
            </a:pPr>
            <a:r>
              <a:rPr sz="800" b="0" cap="all" spc="160">
                <a:solidFill>
                  <a:srgbClr val="52737D"/>
                </a:solidFill>
                <a:latin typeface="IBM Plex Mono"/>
              </a:rPr>
              <a:t>The remittance cycle</a:t>
            </a:r>
          </a:p>
        </p:txBody>
      </p:sp>
      <p:sp>
        <p:nvSpPr>
          <p:cNvPr id="11" name="Rectangle 10"/>
          <p:cNvSpPr/>
          <p:nvPr/>
        </p:nvSpPr>
        <p:spPr>
          <a:xfrm>
            <a:off x="786384" y="5193792"/>
            <a:ext cx="6583680" cy="9525"/>
          </a:xfrm>
          <a:prstGeom prst="rect">
            <a:avLst/>
          </a:prstGeom>
          <a:solidFill>
            <a:srgbClr val="7FC4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g_flyport.png"/>
          <p:cNvPicPr>
            <a:picLocks noChangeAspect="1"/>
          </p:cNvPicPr>
          <p:nvPr/>
        </p:nvPicPr>
        <p:blipFill>
          <a:blip r:embed="rId3"/>
          <a:stretch>
            <a:fillRect/>
          </a:stretch>
        </p:blipFill>
        <p:spPr>
          <a:xfrm>
            <a:off x="786384" y="5358384"/>
            <a:ext cx="1145051" cy="323697"/>
          </a:xfrm>
          <a:prstGeom prst="rect">
            <a:avLst/>
          </a:prstGeom>
        </p:spPr>
      </p:pic>
      <p:sp>
        <p:nvSpPr>
          <p:cNvPr id="13" name="TextBox 12"/>
          <p:cNvSpPr txBox="1"/>
          <p:nvPr/>
        </p:nvSpPr>
        <p:spPr>
          <a:xfrm>
            <a:off x="2242331" y="5446166"/>
            <a:ext cx="868680" cy="274320"/>
          </a:xfrm>
          <a:prstGeom prst="rect">
            <a:avLst/>
          </a:prstGeom>
          <a:noFill/>
        </p:spPr>
        <p:txBody>
          <a:bodyPr wrap="square" lIns="0" rIns="0" tIns="0" bIns="0">
            <a:spAutoFit/>
          </a:bodyPr>
          <a:lstStyle/>
          <a:p>
            <a:pPr>
              <a:lnSpc>
                <a:spcPct val="135000"/>
              </a:lnSpc>
              <a:spcAft>
                <a:spcPts val="0"/>
              </a:spcAft>
            </a:pPr>
            <a:r>
              <a:rPr sz="800" b="0" cap="all" spc="180">
                <a:solidFill>
                  <a:srgbClr val="52737D"/>
                </a:solidFill>
                <a:latin typeface="IBM Plex Mono"/>
              </a:rPr>
              <a:t>Backed by</a:t>
            </a:r>
          </a:p>
        </p:txBody>
      </p:sp>
      <p:pic>
        <p:nvPicPr>
          <p:cNvPr id="14" name="Picture 13" descr="lg_adn.png"/>
          <p:cNvPicPr>
            <a:picLocks noChangeAspect="1"/>
          </p:cNvPicPr>
          <p:nvPr/>
        </p:nvPicPr>
        <p:blipFill>
          <a:blip r:embed="rId4"/>
          <a:stretch>
            <a:fillRect/>
          </a:stretch>
        </p:blipFill>
        <p:spPr>
          <a:xfrm>
            <a:off x="3202450" y="5385816"/>
            <a:ext cx="674164" cy="257860"/>
          </a:xfrm>
          <a:prstGeom prst="rect">
            <a:avLst/>
          </a:prstGeom>
        </p:spPr>
      </p:pic>
      <p:pic>
        <p:nvPicPr>
          <p:cNvPr id="15" name="Picture 14" descr="lg_partex.png"/>
          <p:cNvPicPr>
            <a:picLocks noChangeAspect="1"/>
          </p:cNvPicPr>
          <p:nvPr/>
        </p:nvPicPr>
        <p:blipFill>
          <a:blip r:embed="rId5"/>
          <a:stretch>
            <a:fillRect/>
          </a:stretch>
        </p:blipFill>
        <p:spPr>
          <a:xfrm>
            <a:off x="4150934" y="5369356"/>
            <a:ext cx="654567" cy="290779"/>
          </a:xfrm>
          <a:prstGeom prst="rect">
            <a:avLst/>
          </a:prstGeom>
        </p:spPr>
      </p:pic>
      <p:sp>
        <p:nvSpPr>
          <p:cNvPr id="16" name="Rectangle 15"/>
          <p:cNvSpPr/>
          <p:nvPr/>
        </p:nvSpPr>
        <p:spPr>
          <a:xfrm>
            <a:off x="786384" y="5980176"/>
            <a:ext cx="6583680" cy="9525"/>
          </a:xfrm>
          <a:prstGeom prst="rect">
            <a:avLst/>
          </a:prstGeom>
          <a:solidFill>
            <a:srgbClr val="7FC4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6108192"/>
            <a:ext cx="6583680" cy="457200"/>
          </a:xfrm>
          <a:prstGeom prst="rect">
            <a:avLst/>
          </a:prstGeom>
          <a:noFill/>
        </p:spPr>
        <p:txBody>
          <a:bodyPr wrap="square" lIns="0" rIns="0" tIns="0" bIns="0">
            <a:spAutoFit/>
          </a:bodyPr>
          <a:lstStyle/>
          <a:p>
            <a:pPr>
              <a:lnSpc>
                <a:spcPct val="135000"/>
              </a:lnSpc>
              <a:spcAft>
                <a:spcPts val="0"/>
              </a:spcAft>
            </a:pPr>
            <a:r>
              <a:rPr sz="850" b="0">
                <a:solidFill>
                  <a:srgbClr val="33555F"/>
                </a:solidFill>
                <a:latin typeface="IBM Plex Mono"/>
              </a:rPr>
              <a:t>Finance &amp; Operations Team, Flyport Ltd.   .   info@flyport.net   .   +880 1882 666555</a:t>
            </a:r>
          </a:p>
        </p:txBody>
      </p:sp>
      <p:sp>
        <p:nvSpPr>
          <p:cNvPr id="18" name="TextBox 17"/>
          <p:cNvSpPr txBox="1"/>
          <p:nvPr/>
        </p:nvSpPr>
        <p:spPr>
          <a:xfrm>
            <a:off x="786384" y="6382512"/>
            <a:ext cx="10607040" cy="411480"/>
          </a:xfrm>
          <a:prstGeom prst="rect">
            <a:avLst/>
          </a:prstGeom>
          <a:noFill/>
        </p:spPr>
        <p:txBody>
          <a:bodyPr wrap="square" lIns="0" rIns="0" tIns="0" bIns="0">
            <a:spAutoFit/>
          </a:bodyPr>
          <a:lstStyle/>
          <a:p>
            <a:pPr>
              <a:lnSpc>
                <a:spcPct val="140000"/>
              </a:lnSpc>
              <a:spcAft>
                <a:spcPts val="0"/>
              </a:spcAft>
            </a:pPr>
            <a:r>
              <a:rPr sz="700" b="0">
                <a:solidFill>
                  <a:srgbClr val="52737D"/>
                </a:solidFill>
                <a:latin typeface="IBM Plex Mono"/>
              </a:rPr>
              <a:t>Prepared from Flyport's GSA launch-requirement checklist, four Bangladesh Bank SPA Circulars (No. 01 of 2020, No. 01 and No. 02 of 2021, No. 03 of 2023) and our AD-bank remittance procedure. Prepared for internal briefing. Not legal, tax or regulatory advice.</a:t>
            </a:r>
          </a:p>
        </p:txBody>
      </p:sp>
      <p:sp>
        <p:nvSpPr>
          <p:cNvPr id="19" name="TextBox 18"/>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 Airlines Bangladesh, Operations Launch Plan</dc:title>
  <dc:subject>Launch Requirements and Remittance Operations Plan</dc:subject>
  <dc:creator>Miraz Mullick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