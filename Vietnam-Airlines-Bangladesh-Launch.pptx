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ptx_hero.jp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355080" y="1298448"/>
            <a:ext cx="5029200" cy="274320"/>
          </a:xfrm>
          <a:prstGeom prst="rect">
            <a:avLst/>
          </a:prstGeom>
          <a:noFill/>
        </p:spPr>
        <p:txBody>
          <a:bodyPr wrap="square" lIns="0" rIns="0" tIns="0" bIns="0">
            <a:spAutoFit/>
          </a:bodyPr>
          <a:lstStyle/>
          <a:p>
            <a:pPr>
              <a:lnSpc>
                <a:spcPct val="135000"/>
              </a:lnSpc>
              <a:spcAft>
                <a:spcPts val="0"/>
              </a:spcAft>
            </a:pPr>
            <a:r>
              <a:rPr sz="800" b="0" cap="all" spc="180">
                <a:solidFill>
                  <a:srgbClr val="0C7A80"/>
                </a:solidFill>
                <a:latin typeface="IBM Plex Mono"/>
              </a:rPr>
              <a:t>Vietnam Airlines  /  Bangladesh operation launch  /  2026</a:t>
            </a:r>
          </a:p>
        </p:txBody>
      </p:sp>
      <p:sp>
        <p:nvSpPr>
          <p:cNvPr id="5" name="TextBox 4"/>
          <p:cNvSpPr txBox="1"/>
          <p:nvPr/>
        </p:nvSpPr>
        <p:spPr>
          <a:xfrm>
            <a:off x="6355080" y="1645920"/>
            <a:ext cx="5029200" cy="2103120"/>
          </a:xfrm>
          <a:prstGeom prst="rect">
            <a:avLst/>
          </a:prstGeom>
          <a:noFill/>
        </p:spPr>
        <p:txBody>
          <a:bodyPr wrap="square" lIns="0" rIns="0" tIns="0" bIns="0">
            <a:spAutoFit/>
          </a:bodyPr>
          <a:lstStyle/>
          <a:p>
            <a:pPr>
              <a:lnSpc>
                <a:spcPct val="100000"/>
              </a:lnSpc>
              <a:spcAft>
                <a:spcPts val="0"/>
              </a:spcAft>
            </a:pPr>
            <a:r>
              <a:rPr sz="3000" b="1">
                <a:solidFill>
                  <a:srgbClr val="0E2830"/>
                </a:solidFill>
                <a:latin typeface="Outfit"/>
              </a:rPr>
              <a:t>Launching the route is the easy half. Getting the money out is the regulated half.</a:t>
            </a:r>
          </a:p>
        </p:txBody>
      </p:sp>
      <p:sp>
        <p:nvSpPr>
          <p:cNvPr id="6" name="TextBox 5"/>
          <p:cNvSpPr txBox="1"/>
          <p:nvPr/>
        </p:nvSpPr>
        <p:spPr>
          <a:xfrm>
            <a:off x="6355080" y="3858768"/>
            <a:ext cx="4937760" cy="1051560"/>
          </a:xfrm>
          <a:prstGeom prst="rect">
            <a:avLst/>
          </a:prstGeom>
          <a:noFill/>
        </p:spPr>
        <p:txBody>
          <a:bodyPr wrap="square" lIns="0" rIns="0" tIns="0" bIns="0">
            <a:spAutoFit/>
          </a:bodyPr>
          <a:lstStyle/>
          <a:p>
            <a:pPr>
              <a:lnSpc>
                <a:spcPct val="142000"/>
              </a:lnSpc>
              <a:spcAft>
                <a:spcPts val="0"/>
              </a:spcAft>
            </a:pPr>
            <a:r>
              <a:rPr sz="1050" b="0">
                <a:solidFill>
                  <a:srgbClr val="33555F"/>
                </a:solidFill>
                <a:latin typeface="Plus Jakarta Sans"/>
              </a:rPr>
              <a:t>Every taka Vietnam Airlines earns in Bangladesh is trapped until six authorities have signed. This briefing maps all of them, in the order they must be cleared, and shows exactly what surplus earnings means in arithmetic.</a:t>
            </a:r>
          </a:p>
        </p:txBody>
      </p:sp>
      <p:sp>
        <p:nvSpPr>
          <p:cNvPr id="7" name="Rectangle 6"/>
          <p:cNvSpPr/>
          <p:nvPr/>
        </p:nvSpPr>
        <p:spPr>
          <a:xfrm>
            <a:off x="6355080" y="5084064"/>
            <a:ext cx="4937760" cy="9525"/>
          </a:xfrm>
          <a:prstGeom prst="rect">
            <a:avLst/>
          </a:prstGeom>
          <a:solidFill>
            <a:srgbClr val="C6D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g_flyport.png"/>
          <p:cNvPicPr>
            <a:picLocks noChangeAspect="1"/>
          </p:cNvPicPr>
          <p:nvPr/>
        </p:nvPicPr>
        <p:blipFill>
          <a:blip r:embed="rId3"/>
          <a:stretch>
            <a:fillRect/>
          </a:stretch>
        </p:blipFill>
        <p:spPr>
          <a:xfrm>
            <a:off x="6355080" y="5230368"/>
            <a:ext cx="1068713" cy="302117"/>
          </a:xfrm>
          <a:prstGeom prst="rect">
            <a:avLst/>
          </a:prstGeom>
        </p:spPr>
      </p:pic>
      <p:sp>
        <p:nvSpPr>
          <p:cNvPr id="9" name="TextBox 8"/>
          <p:cNvSpPr txBox="1"/>
          <p:nvPr/>
        </p:nvSpPr>
        <p:spPr>
          <a:xfrm>
            <a:off x="7734689" y="5312298"/>
            <a:ext cx="868680" cy="274320"/>
          </a:xfrm>
          <a:prstGeom prst="rect">
            <a:avLst/>
          </a:prstGeom>
          <a:noFill/>
        </p:spPr>
        <p:txBody>
          <a:bodyPr wrap="square" lIns="0" rIns="0" tIns="0" bIns="0">
            <a:spAutoFit/>
          </a:bodyPr>
          <a:lstStyle/>
          <a:p>
            <a:pPr>
              <a:lnSpc>
                <a:spcPct val="135000"/>
              </a:lnSpc>
              <a:spcAft>
                <a:spcPts val="0"/>
              </a:spcAft>
            </a:pPr>
            <a:r>
              <a:rPr sz="800" b="0" cap="all" spc="180">
                <a:solidFill>
                  <a:srgbClr val="52737D"/>
                </a:solidFill>
                <a:latin typeface="IBM Plex Mono"/>
              </a:rPr>
              <a:t>Backed by</a:t>
            </a:r>
          </a:p>
        </p:txBody>
      </p:sp>
      <p:pic>
        <p:nvPicPr>
          <p:cNvPr id="10" name="Picture 9" descr="lg_adn.png"/>
          <p:cNvPicPr>
            <a:picLocks noChangeAspect="1"/>
          </p:cNvPicPr>
          <p:nvPr/>
        </p:nvPicPr>
        <p:blipFill>
          <a:blip r:embed="rId4"/>
          <a:stretch>
            <a:fillRect/>
          </a:stretch>
        </p:blipFill>
        <p:spPr>
          <a:xfrm>
            <a:off x="8694809" y="5255971"/>
            <a:ext cx="629222" cy="240670"/>
          </a:xfrm>
          <a:prstGeom prst="rect">
            <a:avLst/>
          </a:prstGeom>
        </p:spPr>
      </p:pic>
      <p:pic>
        <p:nvPicPr>
          <p:cNvPr id="11" name="Picture 10" descr="lg_partex.png"/>
          <p:cNvPicPr>
            <a:picLocks noChangeAspect="1"/>
          </p:cNvPicPr>
          <p:nvPr/>
        </p:nvPicPr>
        <p:blipFill>
          <a:blip r:embed="rId5"/>
          <a:stretch>
            <a:fillRect/>
          </a:stretch>
        </p:blipFill>
        <p:spPr>
          <a:xfrm>
            <a:off x="9598351" y="5240609"/>
            <a:ext cx="610928" cy="271393"/>
          </a:xfrm>
          <a:prstGeom prst="rect">
            <a:avLst/>
          </a:prstGeom>
        </p:spPr>
      </p:pic>
      <p:sp>
        <p:nvSpPr>
          <p:cNvPr id="12" name="TextBox 11"/>
          <p:cNvSpPr txBox="1"/>
          <p:nvPr/>
        </p:nvSpPr>
        <p:spPr>
          <a:xfrm>
            <a:off x="6355080" y="5961888"/>
            <a:ext cx="4937760" cy="548640"/>
          </a:xfrm>
          <a:prstGeom prst="rect">
            <a:avLst/>
          </a:prstGeom>
          <a:noFill/>
        </p:spPr>
        <p:txBody>
          <a:bodyPr wrap="square" lIns="0" rIns="0" tIns="0" bIns="0">
            <a:spAutoFit/>
          </a:bodyPr>
          <a:lstStyle/>
          <a:p>
            <a:pPr>
              <a:lnSpc>
                <a:spcPct val="135000"/>
              </a:lnSpc>
              <a:spcAft>
                <a:spcPts val="300"/>
              </a:spcAft>
            </a:pPr>
            <a:r>
              <a:rPr sz="750" b="0">
                <a:solidFill>
                  <a:srgbClr val="52737D"/>
                </a:solidFill>
                <a:latin typeface="IBM Plex Mono"/>
              </a:rPr>
              <a:t>Flyport Limited  .  General Sales Agent, Bangladesh</a:t>
            </a:r>
          </a:p>
          <a:p>
            <a:pPr>
              <a:lnSpc>
                <a:spcPct val="135000"/>
              </a:lnSpc>
              <a:spcAft>
                <a:spcPts val="0"/>
              </a:spcAft>
            </a:pPr>
            <a:r>
              <a:rPr sz="750" b="0">
                <a:solidFill>
                  <a:srgbClr val="52737D"/>
                </a:solidFill>
                <a:latin typeface="IBM Plex Mono"/>
              </a:rPr>
              <a:t>info@flyport.net  .  +880 1882 666555</a:t>
            </a:r>
          </a:p>
        </p:txBody>
      </p:sp>
      <p:sp>
        <p:nvSpPr>
          <p:cNvPr id="13" name="TextBox 12"/>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566928"/>
            <a:ext cx="10618927" cy="274320"/>
          </a:xfrm>
          <a:prstGeom prst="rect">
            <a:avLst/>
          </a:prstGeom>
          <a:noFill/>
        </p:spPr>
        <p:txBody>
          <a:bodyPr wrap="square" lIns="0" rIns="0" tIns="0" bIns="0">
            <a:spAutoFit/>
          </a:bodyPr>
          <a:lstStyle/>
          <a:p>
            <a:pPr>
              <a:lnSpc>
                <a:spcPct val="135000"/>
              </a:lnSpc>
              <a:spcAft>
                <a:spcPts val="0"/>
              </a:spcAft>
            </a:pPr>
            <a:r>
              <a:rPr sz="1000" b="0" cap="all" spc="240">
                <a:solidFill>
                  <a:srgbClr val="0C7A80"/>
                </a:solidFill>
                <a:latin typeface="IBM Plex Mono"/>
              </a:rPr>
              <a:t>The whole brief, in three moves</a:t>
            </a:r>
          </a:p>
        </p:txBody>
      </p:sp>
      <p:sp>
        <p:nvSpPr>
          <p:cNvPr id="4" name="TextBox 3"/>
          <p:cNvSpPr txBox="1"/>
          <p:nvPr/>
        </p:nvSpPr>
        <p:spPr>
          <a:xfrm>
            <a:off x="786384" y="932688"/>
            <a:ext cx="10618927" cy="1371600"/>
          </a:xfrm>
          <a:prstGeom prst="rect">
            <a:avLst/>
          </a:prstGeom>
          <a:noFill/>
        </p:spPr>
        <p:txBody>
          <a:bodyPr wrap="square" lIns="0" rIns="0" tIns="0" bIns="0">
            <a:spAutoFit/>
          </a:bodyPr>
          <a:lstStyle/>
          <a:p>
            <a:pPr>
              <a:lnSpc>
                <a:spcPct val="108000"/>
              </a:lnSpc>
              <a:spcAft>
                <a:spcPts val="0"/>
              </a:spcAft>
            </a:pPr>
            <a:r>
              <a:rPr sz="3000" b="1">
                <a:solidFill>
                  <a:srgbClr val="0E2830"/>
                </a:solidFill>
                <a:latin typeface="Outfit"/>
              </a:rPr>
              <a:t>Six clearances, one bank account, one monthly file.</a:t>
            </a:r>
          </a:p>
        </p:txBody>
      </p:sp>
      <p:sp>
        <p:nvSpPr>
          <p:cNvPr id="5" name="Rounded Rectangle 4"/>
          <p:cNvSpPr/>
          <p:nvPr/>
        </p:nvSpPr>
        <p:spPr>
          <a:xfrm>
            <a:off x="786384" y="1920240"/>
            <a:ext cx="3381146" cy="1965960"/>
          </a:xfrm>
          <a:prstGeom prst="roundRect">
            <a:avLst>
              <a:gd name="adj" fmla="val 5500"/>
            </a:avLst>
          </a:prstGeom>
          <a:gradFill rotWithShape="1">
            <a:gsLst>
              <a:gs pos="0">
                <a:srgbClr val="FBF1D6"/>
              </a:gs>
              <a:gs pos="62000">
                <a:srgbClr val="FFFFFF"/>
              </a:gs>
            </a:gsLst>
            <a:lin scaled="0" ang="2700000"/>
          </a:gradFill>
          <a:ln w="12700">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2942234" cy="1600200"/>
          </a:xfrm>
          <a:prstGeom prst="rect">
            <a:avLst/>
          </a:prstGeom>
          <a:noFill/>
        </p:spPr>
        <p:txBody>
          <a:bodyPr wrap="square" lIns="0" rIns="0" tIns="0" bIns="0">
            <a:spAutoFit/>
          </a:bodyPr>
          <a:lstStyle/>
          <a:p>
            <a:pPr>
              <a:lnSpc>
                <a:spcPct val="135000"/>
              </a:lnSpc>
              <a:spcAft>
                <a:spcPts val="500"/>
              </a:spcAft>
            </a:pPr>
            <a:r>
              <a:rPr sz="800" b="0" cap="all" spc="180">
                <a:solidFill>
                  <a:srgbClr val="8A6608"/>
                </a:solidFill>
                <a:latin typeface="IBM Plex Mono"/>
              </a:rPr>
              <a:t>Move 01</a:t>
            </a:r>
          </a:p>
          <a:p>
            <a:pPr>
              <a:lnSpc>
                <a:spcPct val="116000"/>
              </a:lnSpc>
              <a:spcAft>
                <a:spcPts val="500"/>
              </a:spcAft>
            </a:pPr>
            <a:r>
              <a:rPr sz="1150" b="1">
                <a:solidFill>
                  <a:srgbClr val="0E2830"/>
                </a:solidFill>
                <a:latin typeface="Outfit"/>
              </a:rPr>
              <a:t>Establishment is sequential</a:t>
            </a:r>
          </a:p>
          <a:p>
            <a:pPr>
              <a:lnSpc>
                <a:spcPct val="140000"/>
              </a:lnSpc>
              <a:spcAft>
                <a:spcPts val="0"/>
              </a:spcAft>
            </a:pPr>
            <a:r>
              <a:rPr sz="950" b="0">
                <a:solidFill>
                  <a:srgbClr val="33555F"/>
                </a:solidFill>
                <a:latin typeface="Plus Jakarta Sans"/>
              </a:rPr>
              <a:t>BIDA permission, CAAB operating permission, NBR tax exemption and the AD bank account each depend on the one before it. Attempting them out of order is the most common reason a launch slips a quarter.</a:t>
            </a:r>
          </a:p>
        </p:txBody>
      </p:sp>
      <p:sp>
        <p:nvSpPr>
          <p:cNvPr id="7" name="Rounded Rectangle 6"/>
          <p:cNvSpPr/>
          <p:nvPr/>
        </p:nvSpPr>
        <p:spPr>
          <a:xfrm>
            <a:off x="4405274" y="1920240"/>
            <a:ext cx="3381146" cy="1965960"/>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24730" y="2103120"/>
            <a:ext cx="2942234" cy="1600200"/>
          </a:xfrm>
          <a:prstGeom prst="rect">
            <a:avLst/>
          </a:prstGeom>
          <a:noFill/>
        </p:spPr>
        <p:txBody>
          <a:bodyPr wrap="square" lIns="0" rIns="0" tIns="0" bIns="0">
            <a:spAutoFit/>
          </a:bodyPr>
          <a:lstStyle/>
          <a:p>
            <a:pPr>
              <a:lnSpc>
                <a:spcPct val="135000"/>
              </a:lnSpc>
              <a:spcAft>
                <a:spcPts val="500"/>
              </a:spcAft>
            </a:pPr>
            <a:r>
              <a:rPr sz="800" b="0" cap="all" spc="180">
                <a:solidFill>
                  <a:srgbClr val="0C7A80"/>
                </a:solidFill>
                <a:latin typeface="IBM Plex Mono"/>
              </a:rPr>
              <a:t>Move 02</a:t>
            </a:r>
          </a:p>
          <a:p>
            <a:pPr>
              <a:lnSpc>
                <a:spcPct val="116000"/>
              </a:lnSpc>
              <a:spcAft>
                <a:spcPts val="500"/>
              </a:spcAft>
            </a:pPr>
            <a:r>
              <a:rPr sz="1150" b="1">
                <a:solidFill>
                  <a:srgbClr val="0E2830"/>
                </a:solidFill>
                <a:latin typeface="Outfit"/>
              </a:rPr>
              <a:t>Remittance is formula driven</a:t>
            </a:r>
          </a:p>
          <a:p>
            <a:pPr>
              <a:lnSpc>
                <a:spcPct val="140000"/>
              </a:lnSpc>
              <a:spcAft>
                <a:spcPts val="0"/>
              </a:spcAft>
            </a:pPr>
            <a:r>
              <a:rPr sz="950" b="0">
                <a:solidFill>
                  <a:srgbClr val="33555F"/>
                </a:solidFill>
                <a:latin typeface="Plus Jakarta Sans"/>
              </a:rPr>
              <a:t>Bangladesh Bank does not negotiate surplus earnings. It is collections, less disbursements, less a mandatory ten percent refund provision. Everything else is evidence for that one line.</a:t>
            </a:r>
          </a:p>
        </p:txBody>
      </p:sp>
      <p:sp>
        <p:nvSpPr>
          <p:cNvPr id="9" name="Rounded Rectangle 8"/>
          <p:cNvSpPr/>
          <p:nvPr/>
        </p:nvSpPr>
        <p:spPr>
          <a:xfrm>
            <a:off x="8024164" y="1920240"/>
            <a:ext cx="3381146" cy="1965960"/>
          </a:xfrm>
          <a:prstGeom prst="roundRect">
            <a:avLst>
              <a:gd name="adj" fmla="val 5500"/>
            </a:avLst>
          </a:prstGeom>
          <a:gradFill rotWithShape="1">
            <a:gsLst>
              <a:gs pos="0">
                <a:srgbClr val="FCE2F0"/>
              </a:gs>
              <a:gs pos="62000">
                <a:srgbClr val="FFFFFF"/>
              </a:gs>
            </a:gsLst>
            <a:lin scaled="0" ang="2700000"/>
          </a:gradFill>
          <a:ln w="12700">
            <a:solidFill>
              <a:srgbClr val="F49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43620" y="2103120"/>
            <a:ext cx="2942234" cy="1600200"/>
          </a:xfrm>
          <a:prstGeom prst="rect">
            <a:avLst/>
          </a:prstGeom>
          <a:noFill/>
        </p:spPr>
        <p:txBody>
          <a:bodyPr wrap="square" lIns="0" rIns="0" tIns="0" bIns="0">
            <a:spAutoFit/>
          </a:bodyPr>
          <a:lstStyle/>
          <a:p>
            <a:pPr>
              <a:lnSpc>
                <a:spcPct val="135000"/>
              </a:lnSpc>
              <a:spcAft>
                <a:spcPts val="500"/>
              </a:spcAft>
            </a:pPr>
            <a:r>
              <a:rPr sz="800" b="0" cap="all" spc="180">
                <a:solidFill>
                  <a:srgbClr val="C10073"/>
                </a:solidFill>
                <a:latin typeface="IBM Plex Mono"/>
              </a:rPr>
              <a:t>Move 03</a:t>
            </a:r>
          </a:p>
          <a:p>
            <a:pPr>
              <a:lnSpc>
                <a:spcPct val="116000"/>
              </a:lnSpc>
              <a:spcAft>
                <a:spcPts val="500"/>
              </a:spcAft>
            </a:pPr>
            <a:r>
              <a:rPr sz="1150" b="1">
                <a:solidFill>
                  <a:srgbClr val="0E2830"/>
                </a:solidFill>
                <a:latin typeface="Outfit"/>
              </a:rPr>
              <a:t>The GSA carries the cycle</a:t>
            </a:r>
          </a:p>
          <a:p>
            <a:pPr>
              <a:lnSpc>
                <a:spcPct val="140000"/>
              </a:lnSpc>
              <a:spcAft>
                <a:spcPts val="0"/>
              </a:spcAft>
            </a:pPr>
            <a:r>
              <a:rPr sz="950" b="0">
                <a:solidFill>
                  <a:srgbClr val="33555F"/>
                </a:solidFill>
                <a:latin typeface="Plus Jakarta Sans"/>
              </a:rPr>
              <a:t>Approval is post facto, so the airline remits first and files afterwards. That inverts the risk. Flyport holds the account, builds the file, and answers the bank before it reaches Hanoi.</a:t>
            </a:r>
          </a:p>
        </p:txBody>
      </p:sp>
      <p:sp>
        <p:nvSpPr>
          <p:cNvPr id="11" name="TextBox 10"/>
          <p:cNvSpPr txBox="1"/>
          <p:nvPr/>
        </p:nvSpPr>
        <p:spPr>
          <a:xfrm>
            <a:off x="786384" y="4224528"/>
            <a:ext cx="2654731" cy="1371600"/>
          </a:xfrm>
          <a:prstGeom prst="rect">
            <a:avLst/>
          </a:prstGeom>
          <a:noFill/>
        </p:spPr>
        <p:txBody>
          <a:bodyPr wrap="square" lIns="0" rIns="0" tIns="0" bIns="0">
            <a:spAutoFit/>
          </a:bodyPr>
          <a:lstStyle/>
          <a:p>
            <a:pPr>
              <a:lnSpc>
                <a:spcPct val="95000"/>
              </a:lnSpc>
              <a:spcAft>
                <a:spcPts val="400"/>
              </a:spcAft>
            </a:pPr>
            <a:r>
              <a:rPr sz="2200" b="1">
                <a:solidFill>
                  <a:srgbClr val="8A6608"/>
                </a:solidFill>
                <a:latin typeface="Outfit"/>
              </a:rPr>
              <a:t>6</a:t>
            </a:r>
          </a:p>
          <a:p>
            <a:pPr>
              <a:lnSpc>
                <a:spcPct val="135000"/>
              </a:lnSpc>
              <a:spcAft>
                <a:spcPts val="0"/>
              </a:spcAft>
            </a:pPr>
            <a:r>
              <a:rPr sz="800" b="0" cap="all" spc="160">
                <a:solidFill>
                  <a:srgbClr val="52737D"/>
                </a:solidFill>
                <a:latin typeface="IBM Plex Mono"/>
              </a:rPr>
              <a:t>Regulatory gates to revenue</a:t>
            </a:r>
          </a:p>
        </p:txBody>
      </p:sp>
      <p:sp>
        <p:nvSpPr>
          <p:cNvPr id="12" name="TextBox 11"/>
          <p:cNvSpPr txBox="1"/>
          <p:nvPr/>
        </p:nvSpPr>
        <p:spPr>
          <a:xfrm>
            <a:off x="3441115" y="4224528"/>
            <a:ext cx="2654731" cy="1371600"/>
          </a:xfrm>
          <a:prstGeom prst="rect">
            <a:avLst/>
          </a:prstGeom>
          <a:noFill/>
        </p:spPr>
        <p:txBody>
          <a:bodyPr wrap="square" lIns="0" rIns="0" tIns="0" bIns="0">
            <a:spAutoFit/>
          </a:bodyPr>
          <a:lstStyle/>
          <a:p>
            <a:pPr>
              <a:lnSpc>
                <a:spcPct val="95000"/>
              </a:lnSpc>
              <a:spcAft>
                <a:spcPts val="400"/>
              </a:spcAft>
            </a:pPr>
            <a:r>
              <a:rPr sz="2200" b="1">
                <a:solidFill>
                  <a:srgbClr val="0E2830"/>
                </a:solidFill>
                <a:latin typeface="Outfit"/>
              </a:rPr>
              <a:t>10%</a:t>
            </a:r>
          </a:p>
          <a:p>
            <a:pPr>
              <a:lnSpc>
                <a:spcPct val="135000"/>
              </a:lnSpc>
              <a:spcAft>
                <a:spcPts val="0"/>
              </a:spcAft>
            </a:pPr>
            <a:r>
              <a:rPr sz="800" b="0" cap="all" spc="160">
                <a:solidFill>
                  <a:srgbClr val="52737D"/>
                </a:solidFill>
                <a:latin typeface="IBM Plex Mono"/>
              </a:rPr>
              <a:t>Mandatory refund provision</a:t>
            </a:r>
          </a:p>
        </p:txBody>
      </p:sp>
      <p:sp>
        <p:nvSpPr>
          <p:cNvPr id="13" name="TextBox 12"/>
          <p:cNvSpPr txBox="1"/>
          <p:nvPr/>
        </p:nvSpPr>
        <p:spPr>
          <a:xfrm>
            <a:off x="6095847" y="4224528"/>
            <a:ext cx="2654731" cy="1371600"/>
          </a:xfrm>
          <a:prstGeom prst="rect">
            <a:avLst/>
          </a:prstGeom>
          <a:noFill/>
        </p:spPr>
        <p:txBody>
          <a:bodyPr wrap="square" lIns="0" rIns="0" tIns="0" bIns="0">
            <a:spAutoFit/>
          </a:bodyPr>
          <a:lstStyle/>
          <a:p>
            <a:pPr>
              <a:lnSpc>
                <a:spcPct val="95000"/>
              </a:lnSpc>
              <a:spcAft>
                <a:spcPts val="400"/>
              </a:spcAft>
            </a:pPr>
            <a:r>
              <a:rPr sz="2200" b="1">
                <a:solidFill>
                  <a:srgbClr val="0A5F65"/>
                </a:solidFill>
                <a:latin typeface="Outfit"/>
              </a:rPr>
              <a:t>6 mo</a:t>
            </a:r>
          </a:p>
          <a:p>
            <a:pPr>
              <a:lnSpc>
                <a:spcPct val="135000"/>
              </a:lnSpc>
              <a:spcAft>
                <a:spcPts val="0"/>
              </a:spcAft>
            </a:pPr>
            <a:r>
              <a:rPr sz="800" b="0" cap="all" spc="160">
                <a:solidFill>
                  <a:srgbClr val="52737D"/>
                </a:solidFill>
                <a:latin typeface="IBM Plex Mono"/>
              </a:rPr>
              <a:t>Post facto remittance window</a:t>
            </a:r>
          </a:p>
        </p:txBody>
      </p:sp>
      <p:sp>
        <p:nvSpPr>
          <p:cNvPr id="14" name="TextBox 13"/>
          <p:cNvSpPr txBox="1"/>
          <p:nvPr/>
        </p:nvSpPr>
        <p:spPr>
          <a:xfrm>
            <a:off x="8750579" y="4224528"/>
            <a:ext cx="2654731" cy="1371600"/>
          </a:xfrm>
          <a:prstGeom prst="rect">
            <a:avLst/>
          </a:prstGeom>
          <a:noFill/>
        </p:spPr>
        <p:txBody>
          <a:bodyPr wrap="square" lIns="0" rIns="0" tIns="0" bIns="0">
            <a:spAutoFit/>
          </a:bodyPr>
          <a:lstStyle/>
          <a:p>
            <a:pPr>
              <a:lnSpc>
                <a:spcPct val="95000"/>
              </a:lnSpc>
              <a:spcAft>
                <a:spcPts val="400"/>
              </a:spcAft>
            </a:pPr>
            <a:r>
              <a:rPr sz="2200" b="1">
                <a:solidFill>
                  <a:srgbClr val="C10073"/>
                </a:solidFill>
                <a:latin typeface="Outfit"/>
              </a:rPr>
              <a:t>1</a:t>
            </a:r>
          </a:p>
          <a:p>
            <a:pPr>
              <a:lnSpc>
                <a:spcPct val="135000"/>
              </a:lnSpc>
              <a:spcAft>
                <a:spcPts val="0"/>
              </a:spcAft>
            </a:pPr>
            <a:r>
              <a:rPr sz="800" b="0" cap="all" spc="160">
                <a:solidFill>
                  <a:srgbClr val="52737D"/>
                </a:solidFill>
                <a:latin typeface="IBM Plex Mono"/>
              </a:rPr>
              <a:t>Dedicated account per airline, by law</a:t>
            </a:r>
          </a:p>
        </p:txBody>
      </p:sp>
      <p:sp>
        <p:nvSpPr>
          <p:cNvPr id="15" name="Rectangle 14"/>
          <p:cNvSpPr/>
          <p:nvPr/>
        </p:nvSpPr>
        <p:spPr>
          <a:xfrm>
            <a:off x="786384" y="6016752"/>
            <a:ext cx="10618927" cy="9525"/>
          </a:xfrm>
          <a:prstGeom prst="rect">
            <a:avLst/>
          </a:prstGeom>
          <a:solidFill>
            <a:srgbClr val="DCE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6144768"/>
            <a:ext cx="10618927" cy="640080"/>
          </a:xfrm>
          <a:prstGeom prst="rect">
            <a:avLst/>
          </a:prstGeom>
          <a:noFill/>
        </p:spPr>
        <p:txBody>
          <a:bodyPr wrap="square" lIns="0" rIns="0" tIns="0" bIns="0">
            <a:spAutoFit/>
          </a:bodyPr>
          <a:lstStyle/>
          <a:p>
            <a:pPr>
              <a:lnSpc>
                <a:spcPct val="150000"/>
              </a:lnSpc>
              <a:spcAft>
                <a:spcPts val="0"/>
              </a:spcAft>
            </a:pPr>
            <a:r>
              <a:rPr sz="800" b="0">
                <a:solidFill>
                  <a:srgbClr val="52737D"/>
                </a:solidFill>
                <a:latin typeface="IBM Plex Mono"/>
              </a:rPr>
              <a:t>Every rule cited in this deck comes from the Guidelines for Foreign Exchange Transactions 2018 and the four SPA Circulars on page 10. Figures that are illustrative rather than regulatory are labelled on the page.</a:t>
            </a:r>
          </a:p>
        </p:txBody>
      </p:sp>
      <p:sp>
        <p:nvSpPr>
          <p:cNvPr id="17" name="TextBox 16"/>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566928"/>
            <a:ext cx="10618927" cy="274320"/>
          </a:xfrm>
          <a:prstGeom prst="rect">
            <a:avLst/>
          </a:prstGeom>
          <a:noFill/>
        </p:spPr>
        <p:txBody>
          <a:bodyPr wrap="square" lIns="0" rIns="0" tIns="0" bIns="0">
            <a:spAutoFit/>
          </a:bodyPr>
          <a:lstStyle/>
          <a:p>
            <a:pPr>
              <a:lnSpc>
                <a:spcPct val="135000"/>
              </a:lnSpc>
              <a:spcAft>
                <a:spcPts val="0"/>
              </a:spcAft>
            </a:pPr>
            <a:r>
              <a:rPr sz="1000" b="0" cap="all" spc="240">
                <a:solidFill>
                  <a:srgbClr val="0C7A80"/>
                </a:solidFill>
                <a:latin typeface="IBM Plex Mono"/>
              </a:rPr>
              <a:t>Context  /  The airport and the network</a:t>
            </a:r>
          </a:p>
        </p:txBody>
      </p:sp>
      <p:sp>
        <p:nvSpPr>
          <p:cNvPr id="4" name="TextBox 3"/>
          <p:cNvSpPr txBox="1"/>
          <p:nvPr/>
        </p:nvSpPr>
        <p:spPr>
          <a:xfrm>
            <a:off x="786384" y="932688"/>
            <a:ext cx="10618927" cy="1371600"/>
          </a:xfrm>
          <a:prstGeom prst="rect">
            <a:avLst/>
          </a:prstGeom>
          <a:noFill/>
        </p:spPr>
        <p:txBody>
          <a:bodyPr wrap="square" lIns="0" rIns="0" tIns="0" bIns="0">
            <a:spAutoFit/>
          </a:bodyPr>
          <a:lstStyle/>
          <a:p>
            <a:pPr>
              <a:lnSpc>
                <a:spcPct val="108000"/>
              </a:lnSpc>
              <a:spcAft>
                <a:spcPts val="0"/>
              </a:spcAft>
            </a:pPr>
            <a:r>
              <a:rPr sz="2700" b="1">
                <a:solidFill>
                  <a:srgbClr val="0E2830"/>
                </a:solidFill>
                <a:latin typeface="Outfit"/>
              </a:rPr>
              <a:t>Two routes into a capacity constrained airport that is about to double.</a:t>
            </a:r>
          </a:p>
        </p:txBody>
      </p:sp>
      <p:pic>
        <p:nvPicPr>
          <p:cNvPr id="5" name="Picture 4" descr="t3.jpg"/>
          <p:cNvPicPr>
            <a:picLocks noChangeAspect="1"/>
          </p:cNvPicPr>
          <p:nvPr/>
        </p:nvPicPr>
        <p:blipFill>
          <a:blip r:embed="rId2"/>
          <a:stretch>
            <a:fillRect/>
          </a:stretch>
        </p:blipFill>
        <p:spPr>
          <a:xfrm>
            <a:off x="786384" y="1965960"/>
            <a:ext cx="5532120" cy="3247680"/>
          </a:xfrm>
          <a:prstGeom prst="rect">
            <a:avLst/>
          </a:prstGeom>
        </p:spPr>
      </p:pic>
      <p:sp>
        <p:nvSpPr>
          <p:cNvPr id="6" name="TextBox 5"/>
          <p:cNvSpPr txBox="1"/>
          <p:nvPr/>
        </p:nvSpPr>
        <p:spPr>
          <a:xfrm>
            <a:off x="786384" y="5341655"/>
            <a:ext cx="5532120" cy="548640"/>
          </a:xfrm>
          <a:prstGeom prst="rect">
            <a:avLst/>
          </a:prstGeom>
          <a:noFill/>
        </p:spPr>
        <p:txBody>
          <a:bodyPr wrap="square" lIns="0" rIns="0" tIns="0" bIns="0">
            <a:spAutoFit/>
          </a:bodyPr>
          <a:lstStyle/>
          <a:p>
            <a:pPr>
              <a:lnSpc>
                <a:spcPct val="140000"/>
              </a:lnSpc>
              <a:spcAft>
                <a:spcPts val="0"/>
              </a:spcAft>
            </a:pPr>
            <a:r>
              <a:rPr sz="900" b="0">
                <a:solidFill>
                  <a:srgbClr val="52737D"/>
                </a:solidFill>
                <a:latin typeface="Plus Jakarta Sans"/>
              </a:rPr>
              <a:t>Terminal 3, Hazrat Shahjalal International, Dhaka. The apron, jet bridges and cargo capacity the launch schedule is planned against.</a:t>
            </a:r>
          </a:p>
        </p:txBody>
      </p:sp>
      <p:sp>
        <p:nvSpPr>
          <p:cNvPr id="7" name="TextBox 6"/>
          <p:cNvSpPr txBox="1"/>
          <p:nvPr/>
        </p:nvSpPr>
        <p:spPr>
          <a:xfrm>
            <a:off x="6720840" y="2057400"/>
            <a:ext cx="4480560" cy="274320"/>
          </a:xfrm>
          <a:prstGeom prst="rect">
            <a:avLst/>
          </a:prstGeom>
          <a:noFill/>
        </p:spPr>
        <p:txBody>
          <a:bodyPr wrap="square" lIns="0" rIns="0" tIns="0" bIns="0">
            <a:spAutoFit/>
          </a:bodyPr>
          <a:lstStyle/>
          <a:p>
            <a:pPr>
              <a:lnSpc>
                <a:spcPct val="135000"/>
              </a:lnSpc>
              <a:spcAft>
                <a:spcPts val="0"/>
              </a:spcAft>
            </a:pPr>
            <a:r>
              <a:rPr sz="800" b="0" cap="all" spc="140">
                <a:solidFill>
                  <a:srgbClr val="8AA6AE"/>
                </a:solidFill>
                <a:latin typeface="IBM Plex Mono"/>
              </a:rPr>
              <a:t>Direct scheduled service under the Bangladesh and Vietnam ASA</a:t>
            </a:r>
          </a:p>
        </p:txBody>
      </p:sp>
      <p:cxnSp>
        <p:nvCxnSpPr>
          <p:cNvPr id="8" name="Connector 7"/>
          <p:cNvCxnSpPr/>
          <p:nvPr/>
        </p:nvCxnSpPr>
        <p:spPr>
          <a:xfrm flipV="1">
            <a:off x="7040879" y="2715768"/>
            <a:ext cx="2468880" cy="1033271"/>
          </a:xfrm>
          <a:prstGeom prst="line">
            <a:avLst/>
          </a:prstGeom>
          <a:ln w="25400">
            <a:solidFill>
              <a:srgbClr val="39C0C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7040879" y="3355848"/>
            <a:ext cx="2468880" cy="393191"/>
          </a:xfrm>
          <a:prstGeom prst="line">
            <a:avLst/>
          </a:prstGeom>
          <a:ln w="25400">
            <a:solidFill>
              <a:srgbClr val="EC008C"/>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6972299" y="3680459"/>
            <a:ext cx="137160" cy="137160"/>
          </a:xfrm>
          <a:prstGeom prst="ellipse">
            <a:avLst/>
          </a:prstGeom>
          <a:solidFill>
            <a:srgbClr val="FFFFFF"/>
          </a:solidFill>
          <a:ln w="25400">
            <a:solidFill>
              <a:srgbClr val="0E28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87183" y="3566159"/>
            <a:ext cx="2011680" cy="457200"/>
          </a:xfrm>
          <a:prstGeom prst="rect">
            <a:avLst/>
          </a:prstGeom>
          <a:noFill/>
        </p:spPr>
        <p:txBody>
          <a:bodyPr wrap="square" lIns="0" rIns="0" tIns="0" bIns="0">
            <a:spAutoFit/>
          </a:bodyPr>
          <a:lstStyle/>
          <a:p>
            <a:pPr>
              <a:lnSpc>
                <a:spcPct val="135000"/>
              </a:lnSpc>
              <a:spcAft>
                <a:spcPts val="100"/>
              </a:spcAft>
            </a:pPr>
            <a:r>
              <a:rPr sz="1300" b="1">
                <a:solidFill>
                  <a:srgbClr val="0E2830"/>
                </a:solidFill>
                <a:latin typeface="Outfit"/>
              </a:rPr>
              <a:t>DAC</a:t>
            </a:r>
          </a:p>
          <a:p>
            <a:pPr>
              <a:lnSpc>
                <a:spcPct val="135000"/>
              </a:lnSpc>
              <a:spcAft>
                <a:spcPts val="0"/>
              </a:spcAft>
            </a:pPr>
            <a:r>
              <a:rPr sz="750" b="0" cap="all" spc="120">
                <a:solidFill>
                  <a:srgbClr val="52737D"/>
                </a:solidFill>
                <a:latin typeface="IBM Plex Mono"/>
              </a:rPr>
              <a:t>Dhaka</a:t>
            </a:r>
          </a:p>
        </p:txBody>
      </p:sp>
      <p:sp>
        <p:nvSpPr>
          <p:cNvPr id="12" name="Oval 11"/>
          <p:cNvSpPr/>
          <p:nvPr/>
        </p:nvSpPr>
        <p:spPr>
          <a:xfrm>
            <a:off x="9441180" y="2647187"/>
            <a:ext cx="137160" cy="137160"/>
          </a:xfrm>
          <a:prstGeom prst="ellipse">
            <a:avLst/>
          </a:prstGeom>
          <a:solidFill>
            <a:srgbClr val="FFFFFF"/>
          </a:solidFill>
          <a:ln w="25400">
            <a:solidFill>
              <a:srgbClr val="0A5F6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56063" y="2532887"/>
            <a:ext cx="2011680" cy="457200"/>
          </a:xfrm>
          <a:prstGeom prst="rect">
            <a:avLst/>
          </a:prstGeom>
          <a:noFill/>
        </p:spPr>
        <p:txBody>
          <a:bodyPr wrap="square" lIns="0" rIns="0" tIns="0" bIns="0">
            <a:spAutoFit/>
          </a:bodyPr>
          <a:lstStyle/>
          <a:p>
            <a:pPr>
              <a:lnSpc>
                <a:spcPct val="135000"/>
              </a:lnSpc>
              <a:spcAft>
                <a:spcPts val="100"/>
              </a:spcAft>
            </a:pPr>
            <a:r>
              <a:rPr sz="1300" b="1">
                <a:solidFill>
                  <a:srgbClr val="0A5F65"/>
                </a:solidFill>
                <a:latin typeface="Outfit"/>
              </a:rPr>
              <a:t>HAN</a:t>
            </a:r>
          </a:p>
          <a:p>
            <a:pPr>
              <a:lnSpc>
                <a:spcPct val="135000"/>
              </a:lnSpc>
              <a:spcAft>
                <a:spcPts val="0"/>
              </a:spcAft>
            </a:pPr>
            <a:r>
              <a:rPr sz="750" b="0" cap="all" spc="120">
                <a:solidFill>
                  <a:srgbClr val="52737D"/>
                </a:solidFill>
                <a:latin typeface="IBM Plex Mono"/>
              </a:rPr>
              <a:t>Hanoi</a:t>
            </a:r>
          </a:p>
        </p:txBody>
      </p:sp>
      <p:sp>
        <p:nvSpPr>
          <p:cNvPr id="14" name="Oval 13"/>
          <p:cNvSpPr/>
          <p:nvPr/>
        </p:nvSpPr>
        <p:spPr>
          <a:xfrm>
            <a:off x="9441180" y="3287268"/>
            <a:ext cx="137160" cy="137160"/>
          </a:xfrm>
          <a:prstGeom prst="ellipse">
            <a:avLst/>
          </a:prstGeom>
          <a:solidFill>
            <a:srgbClr val="FFFFFF"/>
          </a:solidFill>
          <a:ln w="25400">
            <a:solidFill>
              <a:srgbClr val="C100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56063" y="3172968"/>
            <a:ext cx="2011680" cy="457200"/>
          </a:xfrm>
          <a:prstGeom prst="rect">
            <a:avLst/>
          </a:prstGeom>
          <a:noFill/>
        </p:spPr>
        <p:txBody>
          <a:bodyPr wrap="square" lIns="0" rIns="0" tIns="0" bIns="0">
            <a:spAutoFit/>
          </a:bodyPr>
          <a:lstStyle/>
          <a:p>
            <a:pPr>
              <a:lnSpc>
                <a:spcPct val="135000"/>
              </a:lnSpc>
              <a:spcAft>
                <a:spcPts val="100"/>
              </a:spcAft>
            </a:pPr>
            <a:r>
              <a:rPr sz="1300" b="1">
                <a:solidFill>
                  <a:srgbClr val="C10073"/>
                </a:solidFill>
                <a:latin typeface="Outfit"/>
              </a:rPr>
              <a:t>SGN</a:t>
            </a:r>
          </a:p>
          <a:p>
            <a:pPr>
              <a:lnSpc>
                <a:spcPct val="135000"/>
              </a:lnSpc>
              <a:spcAft>
                <a:spcPts val="0"/>
              </a:spcAft>
            </a:pPr>
            <a:r>
              <a:rPr sz="750" b="0" cap="all" spc="120">
                <a:solidFill>
                  <a:srgbClr val="52737D"/>
                </a:solidFill>
                <a:latin typeface="IBM Plex Mono"/>
              </a:rPr>
              <a:t>Ho Chi Minh</a:t>
            </a:r>
          </a:p>
        </p:txBody>
      </p:sp>
      <p:sp>
        <p:nvSpPr>
          <p:cNvPr id="16" name="TextBox 15"/>
          <p:cNvSpPr txBox="1"/>
          <p:nvPr/>
        </p:nvSpPr>
        <p:spPr>
          <a:xfrm>
            <a:off x="6720840" y="4315968"/>
            <a:ext cx="1481328" cy="1371600"/>
          </a:xfrm>
          <a:prstGeom prst="rect">
            <a:avLst/>
          </a:prstGeom>
          <a:noFill/>
        </p:spPr>
        <p:txBody>
          <a:bodyPr wrap="square" lIns="0" rIns="0" tIns="0" bIns="0">
            <a:spAutoFit/>
          </a:bodyPr>
          <a:lstStyle/>
          <a:p>
            <a:pPr>
              <a:lnSpc>
                <a:spcPct val="95000"/>
              </a:lnSpc>
              <a:spcAft>
                <a:spcPts val="400"/>
              </a:spcAft>
            </a:pPr>
            <a:r>
              <a:rPr sz="1900" b="1">
                <a:solidFill>
                  <a:srgbClr val="0A5F65"/>
                </a:solidFill>
                <a:latin typeface="Outfit"/>
              </a:rPr>
              <a:t>2</a:t>
            </a:r>
          </a:p>
          <a:p>
            <a:pPr>
              <a:lnSpc>
                <a:spcPct val="135000"/>
              </a:lnSpc>
              <a:spcAft>
                <a:spcPts val="0"/>
              </a:spcAft>
            </a:pPr>
            <a:r>
              <a:rPr sz="800" b="0" cap="all" spc="160">
                <a:solidFill>
                  <a:srgbClr val="52737D"/>
                </a:solidFill>
                <a:latin typeface="IBM Plex Mono"/>
              </a:rPr>
              <a:t>Points in Vietnam</a:t>
            </a:r>
          </a:p>
        </p:txBody>
      </p:sp>
      <p:sp>
        <p:nvSpPr>
          <p:cNvPr id="17" name="TextBox 16"/>
          <p:cNvSpPr txBox="1"/>
          <p:nvPr/>
        </p:nvSpPr>
        <p:spPr>
          <a:xfrm>
            <a:off x="8202167" y="4315968"/>
            <a:ext cx="1481328" cy="1371600"/>
          </a:xfrm>
          <a:prstGeom prst="rect">
            <a:avLst/>
          </a:prstGeom>
          <a:noFill/>
        </p:spPr>
        <p:txBody>
          <a:bodyPr wrap="square" lIns="0" rIns="0" tIns="0" bIns="0">
            <a:spAutoFit/>
          </a:bodyPr>
          <a:lstStyle/>
          <a:p>
            <a:pPr>
              <a:lnSpc>
                <a:spcPct val="95000"/>
              </a:lnSpc>
              <a:spcAft>
                <a:spcPts val="400"/>
              </a:spcAft>
            </a:pPr>
            <a:r>
              <a:rPr sz="1900" b="1">
                <a:solidFill>
                  <a:srgbClr val="0E2830"/>
                </a:solidFill>
                <a:latin typeface="Outfit"/>
              </a:rPr>
              <a:t>1</a:t>
            </a:r>
          </a:p>
          <a:p>
            <a:pPr>
              <a:lnSpc>
                <a:spcPct val="135000"/>
              </a:lnSpc>
              <a:spcAft>
                <a:spcPts val="0"/>
              </a:spcAft>
            </a:pPr>
            <a:r>
              <a:rPr sz="800" b="0" cap="all" spc="160">
                <a:solidFill>
                  <a:srgbClr val="52737D"/>
                </a:solidFill>
                <a:latin typeface="IBM Plex Mono"/>
              </a:rPr>
              <a:t>Dedicated account</a:t>
            </a:r>
          </a:p>
        </p:txBody>
      </p:sp>
      <p:sp>
        <p:nvSpPr>
          <p:cNvPr id="18" name="TextBox 17"/>
          <p:cNvSpPr txBox="1"/>
          <p:nvPr/>
        </p:nvSpPr>
        <p:spPr>
          <a:xfrm>
            <a:off x="9683496" y="4315968"/>
            <a:ext cx="1481328" cy="1371600"/>
          </a:xfrm>
          <a:prstGeom prst="rect">
            <a:avLst/>
          </a:prstGeom>
          <a:noFill/>
        </p:spPr>
        <p:txBody>
          <a:bodyPr wrap="square" lIns="0" rIns="0" tIns="0" bIns="0">
            <a:spAutoFit/>
          </a:bodyPr>
          <a:lstStyle/>
          <a:p>
            <a:pPr>
              <a:lnSpc>
                <a:spcPct val="95000"/>
              </a:lnSpc>
              <a:spcAft>
                <a:spcPts val="400"/>
              </a:spcAft>
            </a:pPr>
            <a:r>
              <a:rPr sz="1900" b="1">
                <a:solidFill>
                  <a:srgbClr val="C10073"/>
                </a:solidFill>
                <a:latin typeface="Outfit"/>
              </a:rPr>
              <a:t>1</a:t>
            </a:r>
          </a:p>
          <a:p>
            <a:pPr>
              <a:lnSpc>
                <a:spcPct val="135000"/>
              </a:lnSpc>
              <a:spcAft>
                <a:spcPts val="0"/>
              </a:spcAft>
            </a:pPr>
            <a:r>
              <a:rPr sz="800" b="0" cap="all" spc="160">
                <a:solidFill>
                  <a:srgbClr val="52737D"/>
                </a:solidFill>
                <a:latin typeface="IBM Plex Mono"/>
              </a:rPr>
              <a:t>Monthly file</a:t>
            </a:r>
          </a:p>
        </p:txBody>
      </p:sp>
      <p:sp>
        <p:nvSpPr>
          <p:cNvPr id="19" name="TextBox 18"/>
          <p:cNvSpPr txBox="1"/>
          <p:nvPr/>
        </p:nvSpPr>
        <p:spPr>
          <a:xfrm>
            <a:off x="6720840" y="5138928"/>
            <a:ext cx="4480560" cy="914400"/>
          </a:xfrm>
          <a:prstGeom prst="rect">
            <a:avLst/>
          </a:prstGeom>
          <a:noFill/>
        </p:spPr>
        <p:txBody>
          <a:bodyPr wrap="square" lIns="0" rIns="0" tIns="0" bIns="0">
            <a:spAutoFit/>
          </a:bodyPr>
          <a:lstStyle/>
          <a:p>
            <a:pPr>
              <a:lnSpc>
                <a:spcPct val="140000"/>
              </a:lnSpc>
              <a:spcAft>
                <a:spcPts val="0"/>
              </a:spcAft>
            </a:pPr>
            <a:r>
              <a:rPr sz="950" b="0">
                <a:solidFill>
                  <a:srgbClr val="33555F"/>
                </a:solidFill>
                <a:latin typeface="Plus Jakarta Sans"/>
              </a:rPr>
              <a:t>Passenger and cargo revenue from both routes settles into the same dedicated account and is computed in one monthly surplus earnings statement. The network shape does not change the compliance shape.</a:t>
            </a:r>
          </a:p>
        </p:txBody>
      </p:sp>
      <p:sp>
        <p:nvSpPr>
          <p:cNvPr id="20" name="TextBox 19"/>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566928"/>
            <a:ext cx="10618927" cy="274320"/>
          </a:xfrm>
          <a:prstGeom prst="rect">
            <a:avLst/>
          </a:prstGeom>
          <a:noFill/>
        </p:spPr>
        <p:txBody>
          <a:bodyPr wrap="square" lIns="0" rIns="0" tIns="0" bIns="0">
            <a:spAutoFit/>
          </a:bodyPr>
          <a:lstStyle/>
          <a:p>
            <a:pPr>
              <a:lnSpc>
                <a:spcPct val="135000"/>
              </a:lnSpc>
              <a:spcAft>
                <a:spcPts val="0"/>
              </a:spcAft>
            </a:pPr>
            <a:r>
              <a:rPr sz="1000" b="0" cap="all" spc="240">
                <a:solidFill>
                  <a:srgbClr val="0C7A80"/>
                </a:solidFill>
                <a:latin typeface="IBM Plex Mono"/>
              </a:rPr>
              <a:t>The map  /  What a new foreign carrier is actually inspected on</a:t>
            </a:r>
          </a:p>
        </p:txBody>
      </p:sp>
      <p:sp>
        <p:nvSpPr>
          <p:cNvPr id="4" name="TextBox 3"/>
          <p:cNvSpPr txBox="1"/>
          <p:nvPr/>
        </p:nvSpPr>
        <p:spPr>
          <a:xfrm>
            <a:off x="786384" y="932688"/>
            <a:ext cx="10618927" cy="1371600"/>
          </a:xfrm>
          <a:prstGeom prst="rect">
            <a:avLst/>
          </a:prstGeom>
          <a:noFill/>
        </p:spPr>
        <p:txBody>
          <a:bodyPr wrap="square" lIns="0" rIns="0" tIns="0" bIns="0">
            <a:spAutoFit/>
          </a:bodyPr>
          <a:lstStyle/>
          <a:p>
            <a:pPr>
              <a:lnSpc>
                <a:spcPct val="108000"/>
              </a:lnSpc>
              <a:spcAft>
                <a:spcPts val="0"/>
              </a:spcAft>
            </a:pPr>
            <a:r>
              <a:rPr sz="2700" b="1">
                <a:solidFill>
                  <a:srgbClr val="0E2830"/>
                </a:solidFill>
                <a:latin typeface="Outfit"/>
              </a:rPr>
              <a:t>Eight domains. Each one holds evidence a bank or an inspector can ask for on any given day.</a:t>
            </a:r>
          </a:p>
        </p:txBody>
      </p:sp>
      <p:sp>
        <p:nvSpPr>
          <p:cNvPr id="5" name="TextBox 4"/>
          <p:cNvSpPr txBox="1"/>
          <p:nvPr/>
        </p:nvSpPr>
        <p:spPr>
          <a:xfrm>
            <a:off x="786384" y="1938528"/>
            <a:ext cx="9326880" cy="914400"/>
          </a:xfrm>
          <a:prstGeom prst="rect">
            <a:avLst/>
          </a:prstGeom>
          <a:noFill/>
        </p:spPr>
        <p:txBody>
          <a:bodyPr wrap="square" lIns="0" rIns="0" tIns="0" bIns="0">
            <a:spAutoFit/>
          </a:bodyPr>
          <a:lstStyle/>
          <a:p>
            <a:pPr>
              <a:lnSpc>
                <a:spcPct val="142000"/>
              </a:lnSpc>
              <a:spcAft>
                <a:spcPts val="0"/>
              </a:spcAft>
            </a:pPr>
            <a:r>
              <a:rPr sz="1150" b="0">
                <a:solidFill>
                  <a:srgbClr val="33555F"/>
                </a:solidFill>
                <a:latin typeface="Plus Jakarta Sans"/>
              </a:rPr>
              <a:t>This is the standing requirement set Flyport maintains for a newly appointed carrier. It is not a launch checklist that gets filed away. It is the permanent shape of the file.</a:t>
            </a:r>
          </a:p>
        </p:txBody>
      </p:sp>
      <p:sp>
        <p:nvSpPr>
          <p:cNvPr id="6" name="Rounded Rectangle 5"/>
          <p:cNvSpPr/>
          <p:nvPr/>
        </p:nvSpPr>
        <p:spPr>
          <a:xfrm>
            <a:off x="786384" y="2761488"/>
            <a:ext cx="2476423" cy="1481328"/>
          </a:xfrm>
          <a:prstGeom prst="roundRect">
            <a:avLst>
              <a:gd name="adj" fmla="val 5500"/>
            </a:avLst>
          </a:prstGeom>
          <a:gradFill rotWithShape="1">
            <a:gsLst>
              <a:gs pos="0">
                <a:srgbClr val="FBF1D6"/>
              </a:gs>
              <a:gs pos="62000">
                <a:srgbClr val="FFFFFF"/>
              </a:gs>
            </a:gsLst>
            <a:lin scaled="0" ang="2700000"/>
          </a:gradFill>
          <a:ln w="12700">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944368"/>
            <a:ext cx="2037511" cy="1115568"/>
          </a:xfrm>
          <a:prstGeom prst="rect">
            <a:avLst/>
          </a:prstGeom>
          <a:noFill/>
        </p:spPr>
        <p:txBody>
          <a:bodyPr wrap="square" lIns="0" rIns="0" tIns="0" bIns="0">
            <a:spAutoFit/>
          </a:bodyPr>
          <a:lstStyle/>
          <a:p>
            <a:pPr>
              <a:lnSpc>
                <a:spcPct val="135000"/>
              </a:lnSpc>
              <a:spcAft>
                <a:spcPts val="500"/>
              </a:spcAft>
            </a:pPr>
            <a:r>
              <a:rPr sz="800" b="0" cap="all" spc="180">
                <a:solidFill>
                  <a:srgbClr val="8A6608"/>
                </a:solidFill>
                <a:latin typeface="IBM Plex Mono"/>
              </a:rPr>
              <a:t>Domain 01</a:t>
            </a:r>
          </a:p>
          <a:p>
            <a:pPr>
              <a:lnSpc>
                <a:spcPct val="116000"/>
              </a:lnSpc>
              <a:spcAft>
                <a:spcPts val="500"/>
              </a:spcAft>
            </a:pPr>
            <a:r>
              <a:rPr sz="1050" b="1">
                <a:solidFill>
                  <a:srgbClr val="0E2830"/>
                </a:solidFill>
                <a:latin typeface="Outfit"/>
              </a:rPr>
              <a:t>Corporate and legal</a:t>
            </a:r>
          </a:p>
          <a:p>
            <a:pPr>
              <a:lnSpc>
                <a:spcPct val="140000"/>
              </a:lnSpc>
              <a:spcAft>
                <a:spcPts val="0"/>
              </a:spcAft>
            </a:pPr>
            <a:r>
              <a:rPr sz="850" b="0">
                <a:solidFill>
                  <a:srgbClr val="33555F"/>
                </a:solidFill>
                <a:latin typeface="Plus Jakarta Sans"/>
              </a:rPr>
              <a:t>Trade licence, Tax Identification Certificate, Business Identification Certificate.</a:t>
            </a:r>
          </a:p>
        </p:txBody>
      </p:sp>
      <p:sp>
        <p:nvSpPr>
          <p:cNvPr id="8" name="Rounded Rectangle 7"/>
          <p:cNvSpPr/>
          <p:nvPr/>
        </p:nvSpPr>
        <p:spPr>
          <a:xfrm>
            <a:off x="3500551" y="2761488"/>
            <a:ext cx="2476423" cy="1481328"/>
          </a:xfrm>
          <a:prstGeom prst="roundRect">
            <a:avLst>
              <a:gd name="adj" fmla="val 5500"/>
            </a:avLst>
          </a:prstGeom>
          <a:gradFill rotWithShape="1">
            <a:gsLst>
              <a:gs pos="0">
                <a:srgbClr val="FBF1D6"/>
              </a:gs>
              <a:gs pos="62000">
                <a:srgbClr val="FFFFFF"/>
              </a:gs>
            </a:gsLst>
            <a:lin scaled="0" ang="2700000"/>
          </a:gradFill>
          <a:ln w="12700">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20007" y="2944368"/>
            <a:ext cx="2037511" cy="1115568"/>
          </a:xfrm>
          <a:prstGeom prst="rect">
            <a:avLst/>
          </a:prstGeom>
          <a:noFill/>
        </p:spPr>
        <p:txBody>
          <a:bodyPr wrap="square" lIns="0" rIns="0" tIns="0" bIns="0">
            <a:spAutoFit/>
          </a:bodyPr>
          <a:lstStyle/>
          <a:p>
            <a:pPr>
              <a:lnSpc>
                <a:spcPct val="135000"/>
              </a:lnSpc>
              <a:spcAft>
                <a:spcPts val="500"/>
              </a:spcAft>
            </a:pPr>
            <a:r>
              <a:rPr sz="800" b="0" cap="all" spc="180">
                <a:solidFill>
                  <a:srgbClr val="8A6608"/>
                </a:solidFill>
                <a:latin typeface="IBM Plex Mono"/>
              </a:rPr>
              <a:t>Domain 02</a:t>
            </a:r>
          </a:p>
          <a:p>
            <a:pPr>
              <a:lnSpc>
                <a:spcPct val="116000"/>
              </a:lnSpc>
              <a:spcAft>
                <a:spcPts val="500"/>
              </a:spcAft>
            </a:pPr>
            <a:r>
              <a:rPr sz="1050" b="1">
                <a:solidFill>
                  <a:srgbClr val="0E2830"/>
                </a:solidFill>
                <a:latin typeface="Outfit"/>
              </a:rPr>
              <a:t>BIDA and expatriate</a:t>
            </a:r>
          </a:p>
          <a:p>
            <a:pPr>
              <a:lnSpc>
                <a:spcPct val="140000"/>
              </a:lnSpc>
              <a:spcAft>
                <a:spcPts val="0"/>
              </a:spcAft>
            </a:pPr>
            <a:r>
              <a:rPr sz="850" b="0">
                <a:solidFill>
                  <a:srgbClr val="33555F"/>
                </a:solidFill>
                <a:latin typeface="Plus Jakarta Sans"/>
              </a:rPr>
              <a:t>Branch office permission, expert e-visa, work permit, and the one to five expatriate ratio.</a:t>
            </a:r>
          </a:p>
        </p:txBody>
      </p:sp>
      <p:sp>
        <p:nvSpPr>
          <p:cNvPr id="10" name="Rounded Rectangle 9"/>
          <p:cNvSpPr/>
          <p:nvPr/>
        </p:nvSpPr>
        <p:spPr>
          <a:xfrm>
            <a:off x="6214719" y="2761488"/>
            <a:ext cx="2476423" cy="1481328"/>
          </a:xfrm>
          <a:prstGeom prst="roundRect">
            <a:avLst>
              <a:gd name="adj" fmla="val 5500"/>
            </a:avLst>
          </a:prstGeom>
          <a:gradFill rotWithShape="1">
            <a:gsLst>
              <a:gs pos="0">
                <a:srgbClr val="FBF1D6"/>
              </a:gs>
              <a:gs pos="62000">
                <a:srgbClr val="FFFFFF"/>
              </a:gs>
            </a:gsLst>
            <a:lin scaled="0" ang="2700000"/>
          </a:gradFill>
          <a:ln w="12700">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34175" y="2944368"/>
            <a:ext cx="2037511" cy="1115568"/>
          </a:xfrm>
          <a:prstGeom prst="rect">
            <a:avLst/>
          </a:prstGeom>
          <a:noFill/>
        </p:spPr>
        <p:txBody>
          <a:bodyPr wrap="square" lIns="0" rIns="0" tIns="0" bIns="0">
            <a:spAutoFit/>
          </a:bodyPr>
          <a:lstStyle/>
          <a:p>
            <a:pPr>
              <a:lnSpc>
                <a:spcPct val="135000"/>
              </a:lnSpc>
              <a:spcAft>
                <a:spcPts val="500"/>
              </a:spcAft>
            </a:pPr>
            <a:r>
              <a:rPr sz="800" b="0" cap="all" spc="180">
                <a:solidFill>
                  <a:srgbClr val="8A6608"/>
                </a:solidFill>
                <a:latin typeface="IBM Plex Mono"/>
              </a:rPr>
              <a:t>Domain 03</a:t>
            </a:r>
          </a:p>
          <a:p>
            <a:pPr>
              <a:lnSpc>
                <a:spcPct val="116000"/>
              </a:lnSpc>
              <a:spcAft>
                <a:spcPts val="500"/>
              </a:spcAft>
            </a:pPr>
            <a:r>
              <a:rPr sz="1050" b="1">
                <a:solidFill>
                  <a:srgbClr val="0E2830"/>
                </a:solidFill>
                <a:latin typeface="Outfit"/>
              </a:rPr>
              <a:t>CAAB and aviation</a:t>
            </a:r>
          </a:p>
          <a:p>
            <a:pPr>
              <a:lnSpc>
                <a:spcPct val="140000"/>
              </a:lnSpc>
              <a:spcAft>
                <a:spcPts val="0"/>
              </a:spcAft>
            </a:pPr>
            <a:r>
              <a:rPr sz="850" b="0">
                <a:solidFill>
                  <a:srgbClr val="33555F"/>
                </a:solidFill>
                <a:latin typeface="Plus Jakarta Sans"/>
              </a:rPr>
              <a:t>Flight operation permission, approved fare and cargo tariff, filed schedule, GSA appointment.</a:t>
            </a:r>
          </a:p>
        </p:txBody>
      </p:sp>
      <p:sp>
        <p:nvSpPr>
          <p:cNvPr id="12" name="Rounded Rectangle 11"/>
          <p:cNvSpPr/>
          <p:nvPr/>
        </p:nvSpPr>
        <p:spPr>
          <a:xfrm>
            <a:off x="8928887" y="2761488"/>
            <a:ext cx="2476423" cy="1481328"/>
          </a:xfrm>
          <a:prstGeom prst="roundRect">
            <a:avLst>
              <a:gd name="adj" fmla="val 5500"/>
            </a:avLst>
          </a:prstGeom>
          <a:gradFill rotWithShape="1">
            <a:gsLst>
              <a:gs pos="0">
                <a:srgbClr val="FBF1D6"/>
              </a:gs>
              <a:gs pos="62000">
                <a:srgbClr val="FFFFFF"/>
              </a:gs>
            </a:gsLst>
            <a:lin scaled="0" ang="2700000"/>
          </a:gradFill>
          <a:ln w="12700">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8343" y="2944368"/>
            <a:ext cx="2037511" cy="1115568"/>
          </a:xfrm>
          <a:prstGeom prst="rect">
            <a:avLst/>
          </a:prstGeom>
          <a:noFill/>
        </p:spPr>
        <p:txBody>
          <a:bodyPr wrap="square" lIns="0" rIns="0" tIns="0" bIns="0">
            <a:spAutoFit/>
          </a:bodyPr>
          <a:lstStyle/>
          <a:p>
            <a:pPr>
              <a:lnSpc>
                <a:spcPct val="135000"/>
              </a:lnSpc>
              <a:spcAft>
                <a:spcPts val="500"/>
              </a:spcAft>
            </a:pPr>
            <a:r>
              <a:rPr sz="800" b="0" cap="all" spc="180">
                <a:solidFill>
                  <a:srgbClr val="8A6608"/>
                </a:solidFill>
                <a:latin typeface="IBM Plex Mono"/>
              </a:rPr>
              <a:t>Domain 04</a:t>
            </a:r>
          </a:p>
          <a:p>
            <a:pPr>
              <a:lnSpc>
                <a:spcPct val="116000"/>
              </a:lnSpc>
              <a:spcAft>
                <a:spcPts val="500"/>
              </a:spcAft>
            </a:pPr>
            <a:r>
              <a:rPr sz="1050" b="1">
                <a:solidFill>
                  <a:srgbClr val="0E2830"/>
                </a:solidFill>
                <a:latin typeface="Outfit"/>
              </a:rPr>
              <a:t>NBR and tax</a:t>
            </a:r>
          </a:p>
          <a:p>
            <a:pPr>
              <a:lnSpc>
                <a:spcPct val="140000"/>
              </a:lnSpc>
              <a:spcAft>
                <a:spcPts val="0"/>
              </a:spcAft>
            </a:pPr>
            <a:r>
              <a:rPr sz="850" b="0">
                <a:solidFill>
                  <a:srgbClr val="33555F"/>
                </a:solidFill>
                <a:latin typeface="Plus Jakarta Sans"/>
              </a:rPr>
              <a:t>Double taxation relief under the Bangladesh and Vietnam agreement, plus a live exemption certificate.</a:t>
            </a:r>
          </a:p>
        </p:txBody>
      </p:sp>
      <p:sp>
        <p:nvSpPr>
          <p:cNvPr id="14" name="Rounded Rectangle 13"/>
          <p:cNvSpPr/>
          <p:nvPr/>
        </p:nvSpPr>
        <p:spPr>
          <a:xfrm>
            <a:off x="786384" y="4480560"/>
            <a:ext cx="2476423" cy="1481328"/>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663440"/>
            <a:ext cx="2037511" cy="1115568"/>
          </a:xfrm>
          <a:prstGeom prst="rect">
            <a:avLst/>
          </a:prstGeom>
          <a:noFill/>
        </p:spPr>
        <p:txBody>
          <a:bodyPr wrap="square" lIns="0" rIns="0" tIns="0" bIns="0">
            <a:spAutoFit/>
          </a:bodyPr>
          <a:lstStyle/>
          <a:p>
            <a:pPr>
              <a:lnSpc>
                <a:spcPct val="135000"/>
              </a:lnSpc>
              <a:spcAft>
                <a:spcPts val="500"/>
              </a:spcAft>
            </a:pPr>
            <a:r>
              <a:rPr sz="800" b="0" cap="all" spc="180">
                <a:solidFill>
                  <a:srgbClr val="0C7A80"/>
                </a:solidFill>
                <a:latin typeface="IBM Plex Mono"/>
              </a:rPr>
              <a:t>Domain 05</a:t>
            </a:r>
          </a:p>
          <a:p>
            <a:pPr>
              <a:lnSpc>
                <a:spcPct val="116000"/>
              </a:lnSpc>
              <a:spcAft>
                <a:spcPts val="500"/>
              </a:spcAft>
            </a:pPr>
            <a:r>
              <a:rPr sz="1050" b="1">
                <a:solidFill>
                  <a:srgbClr val="0E2830"/>
                </a:solidFill>
                <a:latin typeface="Outfit"/>
              </a:rPr>
              <a:t>Bangladesh Bank and FX</a:t>
            </a:r>
          </a:p>
          <a:p>
            <a:pPr>
              <a:lnSpc>
                <a:spcPct val="140000"/>
              </a:lnSpc>
              <a:spcAft>
                <a:spcPts val="0"/>
              </a:spcAft>
            </a:pPr>
            <a:r>
              <a:rPr sz="850" b="0">
                <a:solidFill>
                  <a:srgbClr val="33555F"/>
                </a:solidFill>
                <a:latin typeface="Plus Jakarta Sans"/>
              </a:rPr>
              <a:t>Waiver of the outward remittance clauses, GSA notification, monthly reporting and post facto approval.</a:t>
            </a:r>
          </a:p>
        </p:txBody>
      </p:sp>
      <p:sp>
        <p:nvSpPr>
          <p:cNvPr id="16" name="Rounded Rectangle 15"/>
          <p:cNvSpPr/>
          <p:nvPr/>
        </p:nvSpPr>
        <p:spPr>
          <a:xfrm>
            <a:off x="3500551" y="4480560"/>
            <a:ext cx="2476423" cy="1481328"/>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20007" y="4663440"/>
            <a:ext cx="2037511" cy="1115568"/>
          </a:xfrm>
          <a:prstGeom prst="rect">
            <a:avLst/>
          </a:prstGeom>
          <a:noFill/>
        </p:spPr>
        <p:txBody>
          <a:bodyPr wrap="square" lIns="0" rIns="0" tIns="0" bIns="0">
            <a:spAutoFit/>
          </a:bodyPr>
          <a:lstStyle/>
          <a:p>
            <a:pPr>
              <a:lnSpc>
                <a:spcPct val="135000"/>
              </a:lnSpc>
              <a:spcAft>
                <a:spcPts val="500"/>
              </a:spcAft>
            </a:pPr>
            <a:r>
              <a:rPr sz="800" b="0" cap="all" spc="180">
                <a:solidFill>
                  <a:srgbClr val="0C7A80"/>
                </a:solidFill>
                <a:latin typeface="IBM Plex Mono"/>
              </a:rPr>
              <a:t>Domain 06</a:t>
            </a:r>
          </a:p>
          <a:p>
            <a:pPr>
              <a:lnSpc>
                <a:spcPct val="116000"/>
              </a:lnSpc>
              <a:spcAft>
                <a:spcPts val="500"/>
              </a:spcAft>
            </a:pPr>
            <a:r>
              <a:rPr sz="1050" b="1">
                <a:solidFill>
                  <a:srgbClr val="0E2830"/>
                </a:solidFill>
                <a:latin typeface="Outfit"/>
              </a:rPr>
              <a:t>AD bank and remittance</a:t>
            </a:r>
          </a:p>
          <a:p>
            <a:pPr>
              <a:lnSpc>
                <a:spcPct val="140000"/>
              </a:lnSpc>
              <a:spcAft>
                <a:spcPts val="0"/>
              </a:spcAft>
            </a:pPr>
            <a:r>
              <a:rPr sz="850" b="0">
                <a:solidFill>
                  <a:srgbClr val="33555F"/>
                </a:solidFill>
                <a:latin typeface="Plus Jakarta Sans"/>
              </a:rPr>
              <a:t>A dedicated account and a segregated transaction record, with the bank as the airline's filing agent.</a:t>
            </a:r>
          </a:p>
        </p:txBody>
      </p:sp>
      <p:sp>
        <p:nvSpPr>
          <p:cNvPr id="18" name="Rounded Rectangle 17"/>
          <p:cNvSpPr/>
          <p:nvPr/>
        </p:nvSpPr>
        <p:spPr>
          <a:xfrm>
            <a:off x="6214719" y="4480560"/>
            <a:ext cx="2476423" cy="1481328"/>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34175" y="4663440"/>
            <a:ext cx="2037511" cy="1115568"/>
          </a:xfrm>
          <a:prstGeom prst="rect">
            <a:avLst/>
          </a:prstGeom>
          <a:noFill/>
        </p:spPr>
        <p:txBody>
          <a:bodyPr wrap="square" lIns="0" rIns="0" tIns="0" bIns="0">
            <a:spAutoFit/>
          </a:bodyPr>
          <a:lstStyle/>
          <a:p>
            <a:pPr>
              <a:lnSpc>
                <a:spcPct val="135000"/>
              </a:lnSpc>
              <a:spcAft>
                <a:spcPts val="500"/>
              </a:spcAft>
            </a:pPr>
            <a:r>
              <a:rPr sz="800" b="0" cap="all" spc="180">
                <a:solidFill>
                  <a:srgbClr val="0C7A80"/>
                </a:solidFill>
                <a:latin typeface="IBM Plex Mono"/>
              </a:rPr>
              <a:t>Domain 07</a:t>
            </a:r>
          </a:p>
          <a:p>
            <a:pPr>
              <a:lnSpc>
                <a:spcPct val="116000"/>
              </a:lnSpc>
              <a:spcAft>
                <a:spcPts val="500"/>
              </a:spcAft>
            </a:pPr>
            <a:r>
              <a:rPr sz="1050" b="1">
                <a:solidFill>
                  <a:srgbClr val="0E2830"/>
                </a:solidFill>
                <a:latin typeface="Outfit"/>
              </a:rPr>
              <a:t>Statements and controls</a:t>
            </a:r>
          </a:p>
          <a:p>
            <a:pPr>
              <a:lnSpc>
                <a:spcPct val="140000"/>
              </a:lnSpc>
              <a:spcAft>
                <a:spcPts val="0"/>
              </a:spcAft>
            </a:pPr>
            <a:r>
              <a:rPr sz="850" b="0">
                <a:solidFill>
                  <a:srgbClr val="33555F"/>
                </a:solidFill>
                <a:latin typeface="Plus Jakarta Sans"/>
              </a:rPr>
              <a:t>Books that reconcile to the bank statement line by line, because the statement is the only accepted document.</a:t>
            </a:r>
          </a:p>
        </p:txBody>
      </p:sp>
      <p:sp>
        <p:nvSpPr>
          <p:cNvPr id="20" name="Rounded Rectangle 19"/>
          <p:cNvSpPr/>
          <p:nvPr/>
        </p:nvSpPr>
        <p:spPr>
          <a:xfrm>
            <a:off x="8928887" y="4480560"/>
            <a:ext cx="2476423" cy="1481328"/>
          </a:xfrm>
          <a:prstGeom prst="roundRect">
            <a:avLst>
              <a:gd name="adj" fmla="val 5500"/>
            </a:avLst>
          </a:prstGeom>
          <a:gradFill rotWithShape="1">
            <a:gsLst>
              <a:gs pos="0">
                <a:srgbClr val="FCE2F0"/>
              </a:gs>
              <a:gs pos="62000">
                <a:srgbClr val="FFFFFF"/>
              </a:gs>
            </a:gsLst>
            <a:lin scaled="0" ang="2700000"/>
          </a:gradFill>
          <a:ln w="12700">
            <a:solidFill>
              <a:srgbClr val="F49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8343" y="4663440"/>
            <a:ext cx="2037511" cy="1115568"/>
          </a:xfrm>
          <a:prstGeom prst="rect">
            <a:avLst/>
          </a:prstGeom>
          <a:noFill/>
        </p:spPr>
        <p:txBody>
          <a:bodyPr wrap="square" lIns="0" rIns="0" tIns="0" bIns="0">
            <a:spAutoFit/>
          </a:bodyPr>
          <a:lstStyle/>
          <a:p>
            <a:pPr>
              <a:lnSpc>
                <a:spcPct val="135000"/>
              </a:lnSpc>
              <a:spcAft>
                <a:spcPts val="500"/>
              </a:spcAft>
            </a:pPr>
            <a:r>
              <a:rPr sz="800" b="0" cap="all" spc="180">
                <a:solidFill>
                  <a:srgbClr val="C10073"/>
                </a:solidFill>
                <a:latin typeface="IBM Plex Mono"/>
              </a:rPr>
              <a:t>Domain 08</a:t>
            </a:r>
          </a:p>
          <a:p>
            <a:pPr>
              <a:lnSpc>
                <a:spcPct val="116000"/>
              </a:lnSpc>
              <a:spcAft>
                <a:spcPts val="500"/>
              </a:spcAft>
            </a:pPr>
            <a:r>
              <a:rPr sz="1050" b="1">
                <a:solidFill>
                  <a:srgbClr val="0E2830"/>
                </a:solidFill>
                <a:latin typeface="Outfit"/>
              </a:rPr>
              <a:t>GSA operations and manpower</a:t>
            </a:r>
          </a:p>
          <a:p>
            <a:pPr>
              <a:lnSpc>
                <a:spcPct val="140000"/>
              </a:lnSpc>
              <a:spcAft>
                <a:spcPts val="0"/>
              </a:spcAft>
            </a:pPr>
            <a:r>
              <a:rPr sz="850" b="0">
                <a:solidFill>
                  <a:srgbClr val="33555F"/>
                </a:solidFill>
                <a:latin typeface="Plus Jakarta Sans"/>
              </a:rPr>
              <a:t>City office, airport office, cargo village space, ground handling, catering, and the people who staff them.</a:t>
            </a:r>
          </a:p>
        </p:txBody>
      </p:sp>
      <p:sp>
        <p:nvSpPr>
          <p:cNvPr id="22" name="TextBox 21"/>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566928"/>
            <a:ext cx="10618927" cy="274320"/>
          </a:xfrm>
          <a:prstGeom prst="rect">
            <a:avLst/>
          </a:prstGeom>
          <a:noFill/>
        </p:spPr>
        <p:txBody>
          <a:bodyPr wrap="square" lIns="0" rIns="0" tIns="0" bIns="0">
            <a:spAutoFit/>
          </a:bodyPr>
          <a:lstStyle/>
          <a:p>
            <a:pPr>
              <a:lnSpc>
                <a:spcPct val="135000"/>
              </a:lnSpc>
              <a:spcAft>
                <a:spcPts val="0"/>
              </a:spcAft>
            </a:pPr>
            <a:r>
              <a:rPr sz="1000" b="0" cap="all" spc="240">
                <a:solidFill>
                  <a:srgbClr val="C10073"/>
                </a:solidFill>
                <a:latin typeface="IBM Plex Mono"/>
              </a:rPr>
              <a:t>The map  /  Structure</a:t>
            </a:r>
          </a:p>
        </p:txBody>
      </p:sp>
      <p:sp>
        <p:nvSpPr>
          <p:cNvPr id="4" name="TextBox 3"/>
          <p:cNvSpPr txBox="1"/>
          <p:nvPr/>
        </p:nvSpPr>
        <p:spPr>
          <a:xfrm>
            <a:off x="786384" y="932688"/>
            <a:ext cx="10618927" cy="1371600"/>
          </a:xfrm>
          <a:prstGeom prst="rect">
            <a:avLst/>
          </a:prstGeom>
          <a:noFill/>
        </p:spPr>
        <p:txBody>
          <a:bodyPr wrap="square" lIns="0" rIns="0" tIns="0" bIns="0">
            <a:spAutoFit/>
          </a:bodyPr>
          <a:lstStyle/>
          <a:p>
            <a:pPr>
              <a:lnSpc>
                <a:spcPct val="108000"/>
              </a:lnSpc>
              <a:spcAft>
                <a:spcPts val="0"/>
              </a:spcAft>
            </a:pPr>
            <a:r>
              <a:rPr sz="2900" b="1">
                <a:solidFill>
                  <a:srgbClr val="0E2830"/>
                </a:solidFill>
                <a:latin typeface="Outfit"/>
              </a:rPr>
              <a:t>A foreign carrier cannot simply open an office and sell its own tickets.</a:t>
            </a:r>
          </a:p>
        </p:txBody>
      </p:sp>
      <p:sp>
        <p:nvSpPr>
          <p:cNvPr id="5" name="TextBox 4"/>
          <p:cNvSpPr txBox="1"/>
          <p:nvPr/>
        </p:nvSpPr>
        <p:spPr>
          <a:xfrm>
            <a:off x="786384" y="2057400"/>
            <a:ext cx="91440" cy="91440"/>
          </a:xfrm>
          <a:prstGeom prst="rect">
            <a:avLst/>
          </a:prstGeom>
          <a:noFill/>
        </p:spPr>
        <p:txBody>
          <a:bodyPr wrap="square" lIns="0" rIns="0" tIns="0" bIns="0">
            <a:spAutoFit/>
          </a:bodyPr>
          <a:lstStyle/>
          <a:p/>
        </p:txBody>
      </p:sp>
      <p:sp>
        <p:nvSpPr>
          <p:cNvPr id="6" name="Oval 5"/>
          <p:cNvSpPr/>
          <p:nvPr/>
        </p:nvSpPr>
        <p:spPr>
          <a:xfrm>
            <a:off x="786384" y="2125980"/>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2057400"/>
            <a:ext cx="5239512" cy="822960"/>
          </a:xfrm>
          <a:prstGeom prst="rect">
            <a:avLst/>
          </a:prstGeom>
          <a:noFill/>
        </p:spPr>
        <p:txBody>
          <a:bodyPr wrap="square" lIns="0" rIns="0" tIns="0" bIns="0">
            <a:spAutoFit/>
          </a:bodyPr>
          <a:lstStyle/>
          <a:p>
            <a:pPr>
              <a:lnSpc>
                <a:spcPct val="140000"/>
              </a:lnSpc>
              <a:spcAft>
                <a:spcPts val="0"/>
              </a:spcAft>
            </a:pPr>
            <a:r>
              <a:rPr sz="1050" b="0">
                <a:solidFill>
                  <a:srgbClr val="33555F"/>
                </a:solidFill>
                <a:latin typeface="Plus Jakarta Sans"/>
              </a:rPr>
              <a:t>BIDA branch and liaison office permission covers representing a foreign airline in Bangladesh. That is the legal basis for a local presence at all.</a:t>
            </a:r>
          </a:p>
        </p:txBody>
      </p:sp>
      <p:sp>
        <p:nvSpPr>
          <p:cNvPr id="8" name="Oval 7"/>
          <p:cNvSpPr/>
          <p:nvPr/>
        </p:nvSpPr>
        <p:spPr>
          <a:xfrm>
            <a:off x="786384" y="2639060"/>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2570480"/>
            <a:ext cx="5239512" cy="822960"/>
          </a:xfrm>
          <a:prstGeom prst="rect">
            <a:avLst/>
          </a:prstGeom>
          <a:noFill/>
        </p:spPr>
        <p:txBody>
          <a:bodyPr wrap="square" lIns="0" rIns="0" tIns="0" bIns="0">
            <a:spAutoFit/>
          </a:bodyPr>
          <a:lstStyle/>
          <a:p>
            <a:pPr>
              <a:lnSpc>
                <a:spcPct val="140000"/>
              </a:lnSpc>
              <a:spcAft>
                <a:spcPts val="0"/>
              </a:spcAft>
            </a:pPr>
            <a:r>
              <a:rPr sz="1050" b="0">
                <a:solidFill>
                  <a:srgbClr val="33555F"/>
                </a:solidFill>
                <a:latin typeface="Plus Jakarta Sans"/>
              </a:rPr>
              <a:t>Airline general sales agency and freight agency activity sits in a locally reserved category, so the selling entity has to be Bangladeshi owned.</a:t>
            </a:r>
          </a:p>
        </p:txBody>
      </p:sp>
      <p:sp>
        <p:nvSpPr>
          <p:cNvPr id="10" name="Oval 9"/>
          <p:cNvSpPr/>
          <p:nvPr/>
        </p:nvSpPr>
        <p:spPr>
          <a:xfrm>
            <a:off x="786384" y="3152139"/>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3083559"/>
            <a:ext cx="5239512" cy="822960"/>
          </a:xfrm>
          <a:prstGeom prst="rect">
            <a:avLst/>
          </a:prstGeom>
          <a:noFill/>
        </p:spPr>
        <p:txBody>
          <a:bodyPr wrap="square" lIns="0" rIns="0" tIns="0" bIns="0">
            <a:spAutoFit/>
          </a:bodyPr>
          <a:lstStyle/>
          <a:p>
            <a:pPr>
              <a:lnSpc>
                <a:spcPct val="140000"/>
              </a:lnSpc>
              <a:spcAft>
                <a:spcPts val="0"/>
              </a:spcAft>
            </a:pPr>
            <a:r>
              <a:rPr sz="1050" b="0">
                <a:solidFill>
                  <a:srgbClr val="33555F"/>
                </a:solidFill>
                <a:latin typeface="Plus Jakarta Sans"/>
              </a:rPr>
              <a:t>This is why Vietnam Airlines is represented through Flyport Limited rather than a wholly foreign owned entity. The structure is not a preference, it is the compliant path.</a:t>
            </a:r>
          </a:p>
        </p:txBody>
      </p:sp>
      <p:sp>
        <p:nvSpPr>
          <p:cNvPr id="12" name="Oval 11"/>
          <p:cNvSpPr/>
          <p:nvPr/>
        </p:nvSpPr>
        <p:spPr>
          <a:xfrm>
            <a:off x="786384" y="3851909"/>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1832" y="3783329"/>
            <a:ext cx="5239512" cy="822960"/>
          </a:xfrm>
          <a:prstGeom prst="rect">
            <a:avLst/>
          </a:prstGeom>
          <a:noFill/>
        </p:spPr>
        <p:txBody>
          <a:bodyPr wrap="square" lIns="0" rIns="0" tIns="0" bIns="0">
            <a:spAutoFit/>
          </a:bodyPr>
          <a:lstStyle/>
          <a:p>
            <a:pPr>
              <a:lnSpc>
                <a:spcPct val="140000"/>
              </a:lnSpc>
              <a:spcAft>
                <a:spcPts val="0"/>
              </a:spcAft>
            </a:pPr>
            <a:r>
              <a:rPr sz="1050" b="0">
                <a:solidFill>
                  <a:srgbClr val="33555F"/>
                </a:solidFill>
                <a:latin typeface="Plus Jakarta Sans"/>
              </a:rPr>
              <a:t>The two entities are not interchangeable. The branch office holds the permission and the expatriate. The GSA holds the account, the sales, and the file.</a:t>
            </a:r>
          </a:p>
        </p:txBody>
      </p:sp>
      <p:sp>
        <p:nvSpPr>
          <p:cNvPr id="14" name="Rounded Rectangle 13"/>
          <p:cNvSpPr/>
          <p:nvPr/>
        </p:nvSpPr>
        <p:spPr>
          <a:xfrm>
            <a:off x="6446520" y="2057400"/>
            <a:ext cx="4937760" cy="2834640"/>
          </a:xfrm>
          <a:prstGeom prst="roundRect">
            <a:avLst>
              <a:gd name="adj" fmla="val 5500"/>
            </a:avLst>
          </a:prstGeom>
          <a:gradFill rotWithShape="1">
            <a:gsLst>
              <a:gs pos="0">
                <a:srgbClr val="FCE2F0"/>
              </a:gs>
              <a:gs pos="62000">
                <a:srgbClr val="FFFFFF"/>
              </a:gs>
            </a:gsLst>
            <a:lin scaled="0" ang="2700000"/>
          </a:gradFill>
          <a:ln w="12700">
            <a:solidFill>
              <a:srgbClr val="F49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65976" y="2240280"/>
            <a:ext cx="4498848" cy="2468880"/>
          </a:xfrm>
          <a:prstGeom prst="rect">
            <a:avLst/>
          </a:prstGeom>
          <a:noFill/>
        </p:spPr>
        <p:txBody>
          <a:bodyPr wrap="square" lIns="0" rIns="0" tIns="0" bIns="0">
            <a:spAutoFit/>
          </a:bodyPr>
          <a:lstStyle/>
          <a:p>
            <a:pPr>
              <a:lnSpc>
                <a:spcPct val="135000"/>
              </a:lnSpc>
              <a:spcAft>
                <a:spcPts val="500"/>
              </a:spcAft>
            </a:pPr>
            <a:r>
              <a:rPr sz="800" b="0" cap="all" spc="180">
                <a:solidFill>
                  <a:srgbClr val="C10073"/>
                </a:solidFill>
                <a:latin typeface="IBM Plex Mono"/>
              </a:rPr>
              <a:t>Consequence for the money</a:t>
            </a:r>
          </a:p>
          <a:p>
            <a:pPr>
              <a:lnSpc>
                <a:spcPct val="116000"/>
              </a:lnSpc>
              <a:spcAft>
                <a:spcPts val="500"/>
              </a:spcAft>
            </a:pPr>
            <a:r>
              <a:rPr sz="1200" b="1">
                <a:solidFill>
                  <a:srgbClr val="0E2830"/>
                </a:solidFill>
                <a:latin typeface="Outfit"/>
              </a:rPr>
              <a:t>Collections land in a Flyport held account, in the airline's name and for the airline's benefit</a:t>
            </a:r>
          </a:p>
          <a:p>
            <a:pPr>
              <a:lnSpc>
                <a:spcPct val="140000"/>
              </a:lnSpc>
              <a:spcAft>
                <a:spcPts val="0"/>
              </a:spcAft>
            </a:pPr>
            <a:r>
              <a:rPr sz="950" b="0">
                <a:solidFill>
                  <a:srgbClr val="33555F"/>
                </a:solidFill>
                <a:latin typeface="Plus Jakarta Sans"/>
              </a:rPr>
              <a:t>Under SPA Circular No. 02 of 21 November 2021, a resident general sales agent acting for more than one carrier must maintain a separate bank account for each of them, so collections from each operation are never commingled.</a:t>
            </a:r>
            <a:br/>
            <a:br/>
            <a:r>
              <a:rPr sz="950" b="0">
                <a:solidFill>
                  <a:srgbClr val="33555F"/>
                </a:solidFill>
                <a:latin typeface="Plus Jakarta Sans"/>
              </a:rPr>
              <a:t>Vietnam Airlines therefore gets a ring fenced account from day one, and a bank statement that can be handed to Bangladesh Bank without redaction. That is what makes the monthly file provable.</a:t>
            </a:r>
          </a:p>
        </p:txBody>
      </p:sp>
      <p:sp>
        <p:nvSpPr>
          <p:cNvPr id="16" name="TextBox 15"/>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566928"/>
            <a:ext cx="10618927" cy="274320"/>
          </a:xfrm>
          <a:prstGeom prst="rect">
            <a:avLst/>
          </a:prstGeom>
          <a:noFill/>
        </p:spPr>
        <p:txBody>
          <a:bodyPr wrap="square" lIns="0" rIns="0" tIns="0" bIns="0">
            <a:spAutoFit/>
          </a:bodyPr>
          <a:lstStyle/>
          <a:p>
            <a:pPr>
              <a:lnSpc>
                <a:spcPct val="135000"/>
              </a:lnSpc>
              <a:spcAft>
                <a:spcPts val="0"/>
              </a:spcAft>
            </a:pPr>
            <a:r>
              <a:rPr sz="1000" b="0" cap="all" spc="240">
                <a:solidFill>
                  <a:srgbClr val="0C7A80"/>
                </a:solidFill>
                <a:latin typeface="IBM Plex Mono"/>
              </a:rPr>
              <a:t>The map  /  Sequence</a:t>
            </a:r>
          </a:p>
        </p:txBody>
      </p:sp>
      <p:sp>
        <p:nvSpPr>
          <p:cNvPr id="4" name="TextBox 3"/>
          <p:cNvSpPr txBox="1"/>
          <p:nvPr/>
        </p:nvSpPr>
        <p:spPr>
          <a:xfrm>
            <a:off x="786384" y="932688"/>
            <a:ext cx="10618927" cy="1371600"/>
          </a:xfrm>
          <a:prstGeom prst="rect">
            <a:avLst/>
          </a:prstGeom>
          <a:noFill/>
        </p:spPr>
        <p:txBody>
          <a:bodyPr wrap="square" lIns="0" rIns="0" tIns="0" bIns="0">
            <a:spAutoFit/>
          </a:bodyPr>
          <a:lstStyle/>
          <a:p>
            <a:pPr>
              <a:lnSpc>
                <a:spcPct val="108000"/>
              </a:lnSpc>
              <a:spcAft>
                <a:spcPts val="0"/>
              </a:spcAft>
            </a:pPr>
            <a:r>
              <a:rPr sz="2800" b="1">
                <a:solidFill>
                  <a:srgbClr val="0E2830"/>
                </a:solidFill>
                <a:latin typeface="Outfit"/>
              </a:rPr>
              <a:t>Three phases. Nothing in phase two starts before phase one closes.</a:t>
            </a:r>
          </a:p>
        </p:txBody>
      </p:sp>
      <p:sp>
        <p:nvSpPr>
          <p:cNvPr id="5" name="Rounded Rectangle 4"/>
          <p:cNvSpPr/>
          <p:nvPr/>
        </p:nvSpPr>
        <p:spPr>
          <a:xfrm>
            <a:off x="786384" y="1938528"/>
            <a:ext cx="2331720" cy="3063240"/>
          </a:xfrm>
          <a:prstGeom prst="roundRect">
            <a:avLst>
              <a:gd name="adj" fmla="val 5500"/>
            </a:avLst>
          </a:prstGeom>
          <a:gradFill rotWithShape="1">
            <a:gsLst>
              <a:gs pos="0">
                <a:srgbClr val="FBF1D6"/>
              </a:gs>
              <a:gs pos="62000">
                <a:srgbClr val="FFFFFF"/>
              </a:gs>
            </a:gsLst>
            <a:lin scaled="0" ang="2700000"/>
          </a:gradFill>
          <a:ln w="12700">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7552" y="2103120"/>
            <a:ext cx="1929384" cy="731520"/>
          </a:xfrm>
          <a:prstGeom prst="rect">
            <a:avLst/>
          </a:prstGeom>
          <a:noFill/>
        </p:spPr>
        <p:txBody>
          <a:bodyPr wrap="square" lIns="0" rIns="0" tIns="0" bIns="0">
            <a:spAutoFit/>
          </a:bodyPr>
          <a:lstStyle/>
          <a:p>
            <a:pPr>
              <a:lnSpc>
                <a:spcPct val="135000"/>
              </a:lnSpc>
              <a:spcAft>
                <a:spcPts val="500"/>
              </a:spcAft>
            </a:pPr>
            <a:r>
              <a:rPr sz="750" b="0" cap="all" spc="160">
                <a:solidFill>
                  <a:srgbClr val="8A6608"/>
                </a:solidFill>
                <a:latin typeface="IBM Plex Mono"/>
              </a:rPr>
              <a:t>Phase 1  .  Standing up</a:t>
            </a:r>
          </a:p>
          <a:p>
            <a:pPr>
              <a:lnSpc>
                <a:spcPct val="116000"/>
              </a:lnSpc>
              <a:spcAft>
                <a:spcPts val="0"/>
              </a:spcAft>
            </a:pPr>
            <a:r>
              <a:rPr sz="1100" b="1">
                <a:solidFill>
                  <a:srgbClr val="0E2830"/>
                </a:solidFill>
                <a:latin typeface="Outfit"/>
              </a:rPr>
              <a:t>Legal presence and traffic rights</a:t>
            </a:r>
          </a:p>
        </p:txBody>
      </p:sp>
      <p:sp>
        <p:nvSpPr>
          <p:cNvPr id="7" name="Oval 6"/>
          <p:cNvSpPr/>
          <p:nvPr/>
        </p:nvSpPr>
        <p:spPr>
          <a:xfrm>
            <a:off x="987552" y="2958084"/>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2889504"/>
            <a:ext cx="1792224" cy="822960"/>
          </a:xfrm>
          <a:prstGeom prst="rect">
            <a:avLst/>
          </a:prstGeom>
          <a:noFill/>
        </p:spPr>
        <p:txBody>
          <a:bodyPr wrap="square" lIns="0" rIns="0" tIns="0" bIns="0">
            <a:spAutoFit/>
          </a:bodyPr>
          <a:lstStyle/>
          <a:p>
            <a:pPr>
              <a:lnSpc>
                <a:spcPct val="132000"/>
              </a:lnSpc>
              <a:spcAft>
                <a:spcPts val="0"/>
              </a:spcAft>
            </a:pPr>
            <a:r>
              <a:rPr sz="850" b="0">
                <a:solidFill>
                  <a:srgbClr val="33555F"/>
                </a:solidFill>
                <a:latin typeface="Plus Jakarta Sans"/>
              </a:rPr>
              <a:t>Designation under the Bangladesh and Vietnam ASA</a:t>
            </a:r>
          </a:p>
        </p:txBody>
      </p:sp>
      <p:sp>
        <p:nvSpPr>
          <p:cNvPr id="9" name="Oval 8"/>
          <p:cNvSpPr/>
          <p:nvPr/>
        </p:nvSpPr>
        <p:spPr>
          <a:xfrm>
            <a:off x="987552" y="3319272"/>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3250692"/>
            <a:ext cx="1792224" cy="822960"/>
          </a:xfrm>
          <a:prstGeom prst="rect">
            <a:avLst/>
          </a:prstGeom>
          <a:noFill/>
        </p:spPr>
        <p:txBody>
          <a:bodyPr wrap="square" lIns="0" rIns="0" tIns="0" bIns="0">
            <a:spAutoFit/>
          </a:bodyPr>
          <a:lstStyle/>
          <a:p>
            <a:pPr>
              <a:lnSpc>
                <a:spcPct val="132000"/>
              </a:lnSpc>
              <a:spcAft>
                <a:spcPts val="0"/>
              </a:spcAft>
            </a:pPr>
            <a:r>
              <a:rPr sz="850" b="0">
                <a:solidFill>
                  <a:srgbClr val="33555F"/>
                </a:solidFill>
                <a:latin typeface="Plus Jakarta Sans"/>
              </a:rPr>
              <a:t>BIDA branch office permission via the OSS portal</a:t>
            </a:r>
          </a:p>
        </p:txBody>
      </p:sp>
      <p:sp>
        <p:nvSpPr>
          <p:cNvPr id="11" name="Oval 10"/>
          <p:cNvSpPr/>
          <p:nvPr/>
        </p:nvSpPr>
        <p:spPr>
          <a:xfrm>
            <a:off x="987552" y="3680460"/>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3000" y="3611880"/>
            <a:ext cx="1792224" cy="822960"/>
          </a:xfrm>
          <a:prstGeom prst="rect">
            <a:avLst/>
          </a:prstGeom>
          <a:noFill/>
        </p:spPr>
        <p:txBody>
          <a:bodyPr wrap="square" lIns="0" rIns="0" tIns="0" bIns="0">
            <a:spAutoFit/>
          </a:bodyPr>
          <a:lstStyle/>
          <a:p>
            <a:pPr>
              <a:lnSpc>
                <a:spcPct val="132000"/>
              </a:lnSpc>
              <a:spcAft>
                <a:spcPts val="0"/>
              </a:spcAft>
            </a:pPr>
            <a:r>
              <a:rPr sz="850" b="0">
                <a:solidFill>
                  <a:srgbClr val="33555F"/>
                </a:solidFill>
                <a:latin typeface="Plus Jakarta Sans"/>
              </a:rPr>
              <a:t>Trade licence, TIN and BIN registration</a:t>
            </a:r>
          </a:p>
        </p:txBody>
      </p:sp>
      <p:sp>
        <p:nvSpPr>
          <p:cNvPr id="13" name="Oval 12"/>
          <p:cNvSpPr/>
          <p:nvPr/>
        </p:nvSpPr>
        <p:spPr>
          <a:xfrm>
            <a:off x="987552" y="4041648"/>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43000" y="3973068"/>
            <a:ext cx="1792224" cy="822960"/>
          </a:xfrm>
          <a:prstGeom prst="rect">
            <a:avLst/>
          </a:prstGeom>
          <a:noFill/>
        </p:spPr>
        <p:txBody>
          <a:bodyPr wrap="square" lIns="0" rIns="0" tIns="0" bIns="0">
            <a:spAutoFit/>
          </a:bodyPr>
          <a:lstStyle/>
          <a:p>
            <a:pPr>
              <a:lnSpc>
                <a:spcPct val="132000"/>
              </a:lnSpc>
              <a:spcAft>
                <a:spcPts val="0"/>
              </a:spcAft>
            </a:pPr>
            <a:r>
              <a:rPr sz="850" b="0">
                <a:solidFill>
                  <a:srgbClr val="33555F"/>
                </a:solidFill>
                <a:latin typeface="Plus Jakarta Sans"/>
              </a:rPr>
              <a:t>CAAB flight operation permission and schedule approval</a:t>
            </a:r>
          </a:p>
        </p:txBody>
      </p:sp>
      <p:sp>
        <p:nvSpPr>
          <p:cNvPr id="15" name="Oval 14"/>
          <p:cNvSpPr/>
          <p:nvPr/>
        </p:nvSpPr>
        <p:spPr>
          <a:xfrm>
            <a:off x="987552" y="4402836"/>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43000" y="4334256"/>
            <a:ext cx="1792224" cy="822960"/>
          </a:xfrm>
          <a:prstGeom prst="rect">
            <a:avLst/>
          </a:prstGeom>
          <a:noFill/>
        </p:spPr>
        <p:txBody>
          <a:bodyPr wrap="square" lIns="0" rIns="0" tIns="0" bIns="0">
            <a:spAutoFit/>
          </a:bodyPr>
          <a:lstStyle/>
          <a:p>
            <a:pPr>
              <a:lnSpc>
                <a:spcPct val="132000"/>
              </a:lnSpc>
              <a:spcAft>
                <a:spcPts val="0"/>
              </a:spcAft>
            </a:pPr>
            <a:r>
              <a:rPr sz="850" b="0">
                <a:solidFill>
                  <a:srgbClr val="33555F"/>
                </a:solidFill>
                <a:latin typeface="Plus Jakarta Sans"/>
              </a:rPr>
              <a:t>GSA appointment and the CAAB No Objection Certificate</a:t>
            </a:r>
          </a:p>
        </p:txBody>
      </p:sp>
      <p:sp>
        <p:nvSpPr>
          <p:cNvPr id="17" name="Rounded Rectangle 16"/>
          <p:cNvSpPr/>
          <p:nvPr/>
        </p:nvSpPr>
        <p:spPr>
          <a:xfrm>
            <a:off x="3337560" y="1938528"/>
            <a:ext cx="2331720" cy="3063240"/>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38728" y="2103120"/>
            <a:ext cx="1929384" cy="731520"/>
          </a:xfrm>
          <a:prstGeom prst="rect">
            <a:avLst/>
          </a:prstGeom>
          <a:noFill/>
        </p:spPr>
        <p:txBody>
          <a:bodyPr wrap="square" lIns="0" rIns="0" tIns="0" bIns="0">
            <a:spAutoFit/>
          </a:bodyPr>
          <a:lstStyle/>
          <a:p>
            <a:pPr>
              <a:lnSpc>
                <a:spcPct val="135000"/>
              </a:lnSpc>
              <a:spcAft>
                <a:spcPts val="500"/>
              </a:spcAft>
            </a:pPr>
            <a:r>
              <a:rPr sz="750" b="0" cap="all" spc="160">
                <a:solidFill>
                  <a:srgbClr val="0C7A80"/>
                </a:solidFill>
                <a:latin typeface="IBM Plex Mono"/>
              </a:rPr>
              <a:t>Phase 2  .  Financial plumbing</a:t>
            </a:r>
          </a:p>
          <a:p>
            <a:pPr>
              <a:lnSpc>
                <a:spcPct val="116000"/>
              </a:lnSpc>
              <a:spcAft>
                <a:spcPts val="0"/>
              </a:spcAft>
            </a:pPr>
            <a:r>
              <a:rPr sz="1100" b="1">
                <a:solidFill>
                  <a:srgbClr val="0E2830"/>
                </a:solidFill>
                <a:latin typeface="Outfit"/>
              </a:rPr>
              <a:t>The channel the money will use</a:t>
            </a:r>
          </a:p>
        </p:txBody>
      </p:sp>
      <p:sp>
        <p:nvSpPr>
          <p:cNvPr id="19" name="Oval 18"/>
          <p:cNvSpPr/>
          <p:nvPr/>
        </p:nvSpPr>
        <p:spPr>
          <a:xfrm>
            <a:off x="3538728" y="2958084"/>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94176" y="2889504"/>
            <a:ext cx="1792224" cy="822960"/>
          </a:xfrm>
          <a:prstGeom prst="rect">
            <a:avLst/>
          </a:prstGeom>
          <a:noFill/>
        </p:spPr>
        <p:txBody>
          <a:bodyPr wrap="square" lIns="0" rIns="0" tIns="0" bIns="0">
            <a:spAutoFit/>
          </a:bodyPr>
          <a:lstStyle/>
          <a:p>
            <a:pPr>
              <a:lnSpc>
                <a:spcPct val="132000"/>
              </a:lnSpc>
              <a:spcAft>
                <a:spcPts val="0"/>
              </a:spcAft>
            </a:pPr>
            <a:r>
              <a:rPr sz="850" b="0">
                <a:solidFill>
                  <a:srgbClr val="33555F"/>
                </a:solidFill>
                <a:latin typeface="Plus Jakarta Sans"/>
              </a:rPr>
              <a:t>USD 50,000 inward remittance and encashment certificate</a:t>
            </a:r>
          </a:p>
        </p:txBody>
      </p:sp>
      <p:sp>
        <p:nvSpPr>
          <p:cNvPr id="21" name="Oval 20"/>
          <p:cNvSpPr/>
          <p:nvPr/>
        </p:nvSpPr>
        <p:spPr>
          <a:xfrm>
            <a:off x="3538728" y="3319272"/>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94176" y="3250692"/>
            <a:ext cx="1792224" cy="822960"/>
          </a:xfrm>
          <a:prstGeom prst="rect">
            <a:avLst/>
          </a:prstGeom>
          <a:noFill/>
        </p:spPr>
        <p:txBody>
          <a:bodyPr wrap="square" lIns="0" rIns="0" tIns="0" bIns="0">
            <a:spAutoFit/>
          </a:bodyPr>
          <a:lstStyle/>
          <a:p>
            <a:pPr>
              <a:lnSpc>
                <a:spcPct val="132000"/>
              </a:lnSpc>
              <a:spcAft>
                <a:spcPts val="0"/>
              </a:spcAft>
            </a:pPr>
            <a:r>
              <a:rPr sz="850" b="0">
                <a:solidFill>
                  <a:srgbClr val="33555F"/>
                </a:solidFill>
                <a:latin typeface="Plus Jakarta Sans"/>
              </a:rPr>
              <a:t>Dedicated AD bank account in the carrier's name</a:t>
            </a:r>
          </a:p>
        </p:txBody>
      </p:sp>
      <p:sp>
        <p:nvSpPr>
          <p:cNvPr id="23" name="Oval 22"/>
          <p:cNvSpPr/>
          <p:nvPr/>
        </p:nvSpPr>
        <p:spPr>
          <a:xfrm>
            <a:off x="3538728" y="3680460"/>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94176" y="3611880"/>
            <a:ext cx="1792224" cy="822960"/>
          </a:xfrm>
          <a:prstGeom prst="rect">
            <a:avLst/>
          </a:prstGeom>
          <a:noFill/>
        </p:spPr>
        <p:txBody>
          <a:bodyPr wrap="square" lIns="0" rIns="0" tIns="0" bIns="0">
            <a:spAutoFit/>
          </a:bodyPr>
          <a:lstStyle/>
          <a:p>
            <a:pPr>
              <a:lnSpc>
                <a:spcPct val="132000"/>
              </a:lnSpc>
              <a:spcAft>
                <a:spcPts val="0"/>
              </a:spcAft>
            </a:pPr>
            <a:r>
              <a:rPr sz="850" b="0">
                <a:solidFill>
                  <a:srgbClr val="33555F"/>
                </a:solidFill>
                <a:latin typeface="Plus Jakarta Sans"/>
              </a:rPr>
              <a:t>Waiver of the two outward remittance clauses</a:t>
            </a:r>
          </a:p>
        </p:txBody>
      </p:sp>
      <p:sp>
        <p:nvSpPr>
          <p:cNvPr id="25" name="Oval 24"/>
          <p:cNvSpPr/>
          <p:nvPr/>
        </p:nvSpPr>
        <p:spPr>
          <a:xfrm>
            <a:off x="3538728" y="4041648"/>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94176" y="3973068"/>
            <a:ext cx="1792224" cy="822960"/>
          </a:xfrm>
          <a:prstGeom prst="rect">
            <a:avLst/>
          </a:prstGeom>
          <a:noFill/>
        </p:spPr>
        <p:txBody>
          <a:bodyPr wrap="square" lIns="0" rIns="0" tIns="0" bIns="0">
            <a:spAutoFit/>
          </a:bodyPr>
          <a:lstStyle/>
          <a:p>
            <a:pPr>
              <a:lnSpc>
                <a:spcPct val="132000"/>
              </a:lnSpc>
              <a:spcAft>
                <a:spcPts val="0"/>
              </a:spcAft>
            </a:pPr>
            <a:r>
              <a:rPr sz="850" b="0">
                <a:solidFill>
                  <a:srgbClr val="33555F"/>
                </a:solidFill>
                <a:latin typeface="Plus Jakarta Sans"/>
              </a:rPr>
              <a:t>Notification to Bangladesh Bank of the GSA appointment</a:t>
            </a:r>
          </a:p>
        </p:txBody>
      </p:sp>
      <p:sp>
        <p:nvSpPr>
          <p:cNvPr id="27" name="Oval 26"/>
          <p:cNvSpPr/>
          <p:nvPr/>
        </p:nvSpPr>
        <p:spPr>
          <a:xfrm>
            <a:off x="3538728" y="4402836"/>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94176" y="4334256"/>
            <a:ext cx="1792224" cy="822960"/>
          </a:xfrm>
          <a:prstGeom prst="rect">
            <a:avLst/>
          </a:prstGeom>
          <a:noFill/>
        </p:spPr>
        <p:txBody>
          <a:bodyPr wrap="square" lIns="0" rIns="0" tIns="0" bIns="0">
            <a:spAutoFit/>
          </a:bodyPr>
          <a:lstStyle/>
          <a:p>
            <a:pPr>
              <a:lnSpc>
                <a:spcPct val="132000"/>
              </a:lnSpc>
              <a:spcAft>
                <a:spcPts val="0"/>
              </a:spcAft>
            </a:pPr>
            <a:r>
              <a:rPr sz="850" b="0">
                <a:solidFill>
                  <a:srgbClr val="33555F"/>
                </a:solidFill>
                <a:latin typeface="Plus Jakarta Sans"/>
              </a:rPr>
              <a:t>NBR tax exemption certificate under the DTA</a:t>
            </a:r>
          </a:p>
        </p:txBody>
      </p:sp>
      <p:sp>
        <p:nvSpPr>
          <p:cNvPr id="29" name="Rounded Rectangle 28"/>
          <p:cNvSpPr/>
          <p:nvPr/>
        </p:nvSpPr>
        <p:spPr>
          <a:xfrm>
            <a:off x="5888736" y="1938528"/>
            <a:ext cx="2331720" cy="3063240"/>
          </a:xfrm>
          <a:prstGeom prst="roundRect">
            <a:avLst>
              <a:gd name="adj" fmla="val 5500"/>
            </a:avLst>
          </a:prstGeom>
          <a:gradFill rotWithShape="1">
            <a:gsLst>
              <a:gs pos="0">
                <a:srgbClr val="FCE2F0"/>
              </a:gs>
              <a:gs pos="62000">
                <a:srgbClr val="FFFFFF"/>
              </a:gs>
            </a:gsLst>
            <a:lin scaled="0" ang="2700000"/>
          </a:gradFill>
          <a:ln w="12700">
            <a:solidFill>
              <a:srgbClr val="F49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89904" y="2103120"/>
            <a:ext cx="1929384" cy="731520"/>
          </a:xfrm>
          <a:prstGeom prst="rect">
            <a:avLst/>
          </a:prstGeom>
          <a:noFill/>
        </p:spPr>
        <p:txBody>
          <a:bodyPr wrap="square" lIns="0" rIns="0" tIns="0" bIns="0">
            <a:spAutoFit/>
          </a:bodyPr>
          <a:lstStyle/>
          <a:p>
            <a:pPr>
              <a:lnSpc>
                <a:spcPct val="135000"/>
              </a:lnSpc>
              <a:spcAft>
                <a:spcPts val="500"/>
              </a:spcAft>
            </a:pPr>
            <a:r>
              <a:rPr sz="750" b="0" cap="all" spc="160">
                <a:solidFill>
                  <a:srgbClr val="C10073"/>
                </a:solidFill>
                <a:latin typeface="IBM Plex Mono"/>
              </a:rPr>
              <a:t>Phase 3  .  Running</a:t>
            </a:r>
          </a:p>
          <a:p>
            <a:pPr>
              <a:lnSpc>
                <a:spcPct val="116000"/>
              </a:lnSpc>
              <a:spcAft>
                <a:spcPts val="0"/>
              </a:spcAft>
            </a:pPr>
            <a:r>
              <a:rPr sz="1100" b="1">
                <a:solidFill>
                  <a:srgbClr val="0E2830"/>
                </a:solidFill>
                <a:latin typeface="Outfit"/>
              </a:rPr>
              <a:t>The cycle that repeats every month</a:t>
            </a:r>
          </a:p>
        </p:txBody>
      </p:sp>
      <p:sp>
        <p:nvSpPr>
          <p:cNvPr id="31" name="Oval 30"/>
          <p:cNvSpPr/>
          <p:nvPr/>
        </p:nvSpPr>
        <p:spPr>
          <a:xfrm>
            <a:off x="6089904" y="2958084"/>
            <a:ext cx="50292" cy="50292"/>
          </a:xfrm>
          <a:prstGeom prst="ellipse">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45352" y="2889504"/>
            <a:ext cx="1792224" cy="822960"/>
          </a:xfrm>
          <a:prstGeom prst="rect">
            <a:avLst/>
          </a:prstGeom>
          <a:noFill/>
        </p:spPr>
        <p:txBody>
          <a:bodyPr wrap="square" lIns="0" rIns="0" tIns="0" bIns="0">
            <a:spAutoFit/>
          </a:bodyPr>
          <a:lstStyle/>
          <a:p>
            <a:pPr>
              <a:lnSpc>
                <a:spcPct val="132000"/>
              </a:lnSpc>
              <a:spcAft>
                <a:spcPts val="0"/>
              </a:spcAft>
            </a:pPr>
            <a:r>
              <a:rPr sz="850" b="0">
                <a:solidFill>
                  <a:srgbClr val="33555F"/>
                </a:solidFill>
                <a:latin typeface="Plus Jakarta Sans"/>
              </a:rPr>
              <a:t>BSP and CASS settlement into the dedicated account</a:t>
            </a:r>
          </a:p>
        </p:txBody>
      </p:sp>
      <p:sp>
        <p:nvSpPr>
          <p:cNvPr id="33" name="Oval 32"/>
          <p:cNvSpPr/>
          <p:nvPr/>
        </p:nvSpPr>
        <p:spPr>
          <a:xfrm>
            <a:off x="6089904" y="3319272"/>
            <a:ext cx="50292" cy="50292"/>
          </a:xfrm>
          <a:prstGeom prst="ellipse">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45352" y="3250692"/>
            <a:ext cx="1792224" cy="822960"/>
          </a:xfrm>
          <a:prstGeom prst="rect">
            <a:avLst/>
          </a:prstGeom>
          <a:noFill/>
        </p:spPr>
        <p:txBody>
          <a:bodyPr wrap="square" lIns="0" rIns="0" tIns="0" bIns="0">
            <a:spAutoFit/>
          </a:bodyPr>
          <a:lstStyle/>
          <a:p>
            <a:pPr>
              <a:lnSpc>
                <a:spcPct val="132000"/>
              </a:lnSpc>
              <a:spcAft>
                <a:spcPts val="0"/>
              </a:spcAft>
            </a:pPr>
            <a:r>
              <a:rPr sz="850" b="0">
                <a:solidFill>
                  <a:srgbClr val="33555F"/>
                </a:solidFill>
                <a:latin typeface="Plus Jakarta Sans"/>
              </a:rPr>
              <a:t>Monthly collection, disbursement and provision computation</a:t>
            </a:r>
          </a:p>
        </p:txBody>
      </p:sp>
      <p:sp>
        <p:nvSpPr>
          <p:cNvPr id="35" name="Oval 34"/>
          <p:cNvSpPr/>
          <p:nvPr/>
        </p:nvSpPr>
        <p:spPr>
          <a:xfrm>
            <a:off x="6089904" y="3680460"/>
            <a:ext cx="50292" cy="50292"/>
          </a:xfrm>
          <a:prstGeom prst="ellipse">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45352" y="3611880"/>
            <a:ext cx="1792224" cy="822960"/>
          </a:xfrm>
          <a:prstGeom prst="rect">
            <a:avLst/>
          </a:prstGeom>
          <a:noFill/>
        </p:spPr>
        <p:txBody>
          <a:bodyPr wrap="square" lIns="0" rIns="0" tIns="0" bIns="0">
            <a:spAutoFit/>
          </a:bodyPr>
          <a:lstStyle/>
          <a:p>
            <a:pPr>
              <a:lnSpc>
                <a:spcPct val="132000"/>
              </a:lnSpc>
              <a:spcAft>
                <a:spcPts val="0"/>
              </a:spcAft>
            </a:pPr>
            <a:r>
              <a:rPr sz="850" b="0">
                <a:solidFill>
                  <a:srgbClr val="33555F"/>
                </a:solidFill>
                <a:latin typeface="Plus Jakarta Sans"/>
              </a:rPr>
              <a:t>Remittance through the AD bank</a:t>
            </a:r>
          </a:p>
        </p:txBody>
      </p:sp>
      <p:sp>
        <p:nvSpPr>
          <p:cNvPr id="37" name="Oval 36"/>
          <p:cNvSpPr/>
          <p:nvPr/>
        </p:nvSpPr>
        <p:spPr>
          <a:xfrm>
            <a:off x="6089904" y="3899154"/>
            <a:ext cx="50292" cy="50292"/>
          </a:xfrm>
          <a:prstGeom prst="ellipse">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45352" y="3830574"/>
            <a:ext cx="1792224" cy="822960"/>
          </a:xfrm>
          <a:prstGeom prst="rect">
            <a:avLst/>
          </a:prstGeom>
          <a:noFill/>
        </p:spPr>
        <p:txBody>
          <a:bodyPr wrap="square" lIns="0" rIns="0" tIns="0" bIns="0">
            <a:spAutoFit/>
          </a:bodyPr>
          <a:lstStyle/>
          <a:p>
            <a:pPr>
              <a:lnSpc>
                <a:spcPct val="132000"/>
              </a:lnSpc>
              <a:spcAft>
                <a:spcPts val="0"/>
              </a:spcAft>
            </a:pPr>
            <a:r>
              <a:rPr sz="850" b="0">
                <a:solidFill>
                  <a:srgbClr val="33555F"/>
                </a:solidFill>
                <a:latin typeface="Plus Jakarta Sans"/>
              </a:rPr>
              <a:t>Post facto approval file lodged with Bangladesh Bank</a:t>
            </a:r>
          </a:p>
        </p:txBody>
      </p:sp>
      <p:sp>
        <p:nvSpPr>
          <p:cNvPr id="39" name="Oval 38"/>
          <p:cNvSpPr/>
          <p:nvPr/>
        </p:nvSpPr>
        <p:spPr>
          <a:xfrm>
            <a:off x="6089904" y="4260342"/>
            <a:ext cx="50292" cy="50292"/>
          </a:xfrm>
          <a:prstGeom prst="ellipse">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45352" y="4191762"/>
            <a:ext cx="1792224" cy="822960"/>
          </a:xfrm>
          <a:prstGeom prst="rect">
            <a:avLst/>
          </a:prstGeom>
          <a:noFill/>
        </p:spPr>
        <p:txBody>
          <a:bodyPr wrap="square" lIns="0" rIns="0" tIns="0" bIns="0">
            <a:spAutoFit/>
          </a:bodyPr>
          <a:lstStyle/>
          <a:p>
            <a:pPr>
              <a:lnSpc>
                <a:spcPct val="132000"/>
              </a:lnSpc>
              <a:spcAft>
                <a:spcPts val="0"/>
              </a:spcAft>
            </a:pPr>
            <a:r>
              <a:rPr sz="850" b="0">
                <a:solidFill>
                  <a:srgbClr val="33555F"/>
                </a:solidFill>
                <a:latin typeface="Plus Jakarta Sans"/>
              </a:rPr>
              <a:t>Annual renewals tracked as standing dates</a:t>
            </a:r>
          </a:p>
        </p:txBody>
      </p:sp>
      <p:sp>
        <p:nvSpPr>
          <p:cNvPr id="41" name="TextBox 40"/>
          <p:cNvSpPr txBox="1"/>
          <p:nvPr/>
        </p:nvSpPr>
        <p:spPr>
          <a:xfrm>
            <a:off x="8275320" y="1938528"/>
            <a:ext cx="3108960" cy="274320"/>
          </a:xfrm>
          <a:prstGeom prst="rect">
            <a:avLst/>
          </a:prstGeom>
          <a:noFill/>
        </p:spPr>
        <p:txBody>
          <a:bodyPr wrap="square" lIns="0" rIns="0" tIns="0" bIns="0">
            <a:spAutoFit/>
          </a:bodyPr>
          <a:lstStyle/>
          <a:p>
            <a:pPr>
              <a:lnSpc>
                <a:spcPct val="135000"/>
              </a:lnSpc>
              <a:spcAft>
                <a:spcPts val="0"/>
              </a:spcAft>
            </a:pPr>
            <a:r>
              <a:rPr sz="800" b="0" cap="all" spc="160">
                <a:solidFill>
                  <a:srgbClr val="8AA6AE"/>
                </a:solidFill>
                <a:latin typeface="IBM Plex Mono"/>
              </a:rPr>
              <a:t>Where the calendar actually goes</a:t>
            </a:r>
          </a:p>
        </p:txBody>
      </p:sp>
      <p:sp>
        <p:nvSpPr>
          <p:cNvPr id="42" name="Oval 41"/>
          <p:cNvSpPr/>
          <p:nvPr/>
        </p:nvSpPr>
        <p:spPr>
          <a:xfrm>
            <a:off x="8275320" y="2331720"/>
            <a:ext cx="91440" cy="91440"/>
          </a:xfrm>
          <a:prstGeom prst="ellipse">
            <a:avLst/>
          </a:prstGeom>
          <a:solidFill>
            <a:srgbClr val="39C0C5"/>
          </a:solidFill>
          <a:ln w="15875">
            <a:solidFill>
              <a:srgbClr val="39C0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94776" y="2267712"/>
            <a:ext cx="2926080" cy="548640"/>
          </a:xfrm>
          <a:prstGeom prst="rect">
            <a:avLst/>
          </a:prstGeom>
          <a:noFill/>
        </p:spPr>
        <p:txBody>
          <a:bodyPr wrap="square" lIns="0" rIns="0" tIns="0" bIns="0">
            <a:spAutoFit/>
          </a:bodyPr>
          <a:lstStyle/>
          <a:p>
            <a:pPr>
              <a:lnSpc>
                <a:spcPct val="135000"/>
              </a:lnSpc>
              <a:spcAft>
                <a:spcPts val="200"/>
              </a:spcAft>
            </a:pPr>
            <a:r>
              <a:rPr sz="750" b="0" cap="all" spc="140">
                <a:solidFill>
                  <a:srgbClr val="8AA6AE"/>
                </a:solidFill>
                <a:latin typeface="IBM Plex Mono"/>
              </a:rPr>
              <a:t>Weeks 0 to 4</a:t>
            </a:r>
          </a:p>
          <a:p>
            <a:pPr>
              <a:lnSpc>
                <a:spcPct val="130000"/>
              </a:lnSpc>
              <a:spcAft>
                <a:spcPts val="0"/>
              </a:spcAft>
            </a:pPr>
            <a:r>
              <a:rPr sz="950" b="0">
                <a:solidFill>
                  <a:srgbClr val="33555F"/>
                </a:solidFill>
                <a:latin typeface="Plus Jakarta Sans"/>
              </a:rPr>
              <a:t>Designation and application set</a:t>
            </a:r>
          </a:p>
        </p:txBody>
      </p:sp>
      <p:sp>
        <p:nvSpPr>
          <p:cNvPr id="44" name="Oval 43"/>
          <p:cNvSpPr/>
          <p:nvPr/>
        </p:nvSpPr>
        <p:spPr>
          <a:xfrm>
            <a:off x="8275320" y="2862072"/>
            <a:ext cx="91440" cy="91440"/>
          </a:xfrm>
          <a:prstGeom prst="ellipse">
            <a:avLst/>
          </a:prstGeom>
          <a:solidFill>
            <a:srgbClr val="FBFDFE"/>
          </a:solidFill>
          <a:ln w="15875">
            <a:solidFill>
              <a:srgbClr val="39C0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94776" y="2798064"/>
            <a:ext cx="2926080" cy="548640"/>
          </a:xfrm>
          <a:prstGeom prst="rect">
            <a:avLst/>
          </a:prstGeom>
          <a:noFill/>
        </p:spPr>
        <p:txBody>
          <a:bodyPr wrap="square" lIns="0" rIns="0" tIns="0" bIns="0">
            <a:spAutoFit/>
          </a:bodyPr>
          <a:lstStyle/>
          <a:p>
            <a:pPr>
              <a:lnSpc>
                <a:spcPct val="135000"/>
              </a:lnSpc>
              <a:spcAft>
                <a:spcPts val="200"/>
              </a:spcAft>
            </a:pPr>
            <a:r>
              <a:rPr sz="750" b="0" cap="all" spc="140">
                <a:solidFill>
                  <a:srgbClr val="8AA6AE"/>
                </a:solidFill>
                <a:latin typeface="IBM Plex Mono"/>
              </a:rPr>
              <a:t>Weeks 4 to 12</a:t>
            </a:r>
          </a:p>
          <a:p>
            <a:pPr>
              <a:lnSpc>
                <a:spcPct val="130000"/>
              </a:lnSpc>
              <a:spcAft>
                <a:spcPts val="0"/>
              </a:spcAft>
            </a:pPr>
            <a:r>
              <a:rPr sz="950" b="0">
                <a:solidFill>
                  <a:srgbClr val="33555F"/>
                </a:solidFill>
                <a:latin typeface="Plus Jakarta Sans"/>
              </a:rPr>
              <a:t>Inter ministerial review</a:t>
            </a:r>
          </a:p>
        </p:txBody>
      </p:sp>
      <p:sp>
        <p:nvSpPr>
          <p:cNvPr id="46" name="Oval 45"/>
          <p:cNvSpPr/>
          <p:nvPr/>
        </p:nvSpPr>
        <p:spPr>
          <a:xfrm>
            <a:off x="8275320" y="3392424"/>
            <a:ext cx="91440" cy="91440"/>
          </a:xfrm>
          <a:prstGeom prst="ellipse">
            <a:avLst/>
          </a:prstGeom>
          <a:solidFill>
            <a:srgbClr val="FBFDFE"/>
          </a:solidFill>
          <a:ln w="15875">
            <a:solidFill>
              <a:srgbClr val="39C0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494776" y="3328416"/>
            <a:ext cx="2926080" cy="548640"/>
          </a:xfrm>
          <a:prstGeom prst="rect">
            <a:avLst/>
          </a:prstGeom>
          <a:noFill/>
        </p:spPr>
        <p:txBody>
          <a:bodyPr wrap="square" lIns="0" rIns="0" tIns="0" bIns="0">
            <a:spAutoFit/>
          </a:bodyPr>
          <a:lstStyle/>
          <a:p>
            <a:pPr>
              <a:lnSpc>
                <a:spcPct val="135000"/>
              </a:lnSpc>
              <a:spcAft>
                <a:spcPts val="200"/>
              </a:spcAft>
            </a:pPr>
            <a:r>
              <a:rPr sz="750" b="0" cap="all" spc="140">
                <a:solidFill>
                  <a:srgbClr val="8AA6AE"/>
                </a:solidFill>
                <a:latin typeface="IBM Plex Mono"/>
              </a:rPr>
              <a:t>Weeks 8 to 14</a:t>
            </a:r>
          </a:p>
          <a:p>
            <a:pPr>
              <a:lnSpc>
                <a:spcPct val="130000"/>
              </a:lnSpc>
              <a:spcAft>
                <a:spcPts val="0"/>
              </a:spcAft>
            </a:pPr>
            <a:r>
              <a:rPr sz="950" b="0">
                <a:solidFill>
                  <a:srgbClr val="33555F"/>
                </a:solidFill>
                <a:latin typeface="Plus Jakarta Sans"/>
              </a:rPr>
              <a:t>CAAB permissions in parallel</a:t>
            </a:r>
          </a:p>
        </p:txBody>
      </p:sp>
      <p:sp>
        <p:nvSpPr>
          <p:cNvPr id="48" name="Oval 47"/>
          <p:cNvSpPr/>
          <p:nvPr/>
        </p:nvSpPr>
        <p:spPr>
          <a:xfrm>
            <a:off x="8275320" y="3922776"/>
            <a:ext cx="91440" cy="91440"/>
          </a:xfrm>
          <a:prstGeom prst="ellipse">
            <a:avLst/>
          </a:prstGeom>
          <a:solidFill>
            <a:srgbClr val="FBFDFE"/>
          </a:solidFill>
          <a:ln w="15875">
            <a:solidFill>
              <a:srgbClr val="39C0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94776" y="3858768"/>
            <a:ext cx="2926080" cy="548640"/>
          </a:xfrm>
          <a:prstGeom prst="rect">
            <a:avLst/>
          </a:prstGeom>
          <a:noFill/>
        </p:spPr>
        <p:txBody>
          <a:bodyPr wrap="square" lIns="0" rIns="0" tIns="0" bIns="0">
            <a:spAutoFit/>
          </a:bodyPr>
          <a:lstStyle/>
          <a:p>
            <a:pPr>
              <a:lnSpc>
                <a:spcPct val="135000"/>
              </a:lnSpc>
              <a:spcAft>
                <a:spcPts val="200"/>
              </a:spcAft>
            </a:pPr>
            <a:r>
              <a:rPr sz="750" b="0" cap="all" spc="140">
                <a:solidFill>
                  <a:srgbClr val="8AA6AE"/>
                </a:solidFill>
                <a:latin typeface="IBM Plex Mono"/>
              </a:rPr>
              <a:t>Weeks 12 to 18</a:t>
            </a:r>
          </a:p>
          <a:p>
            <a:pPr>
              <a:lnSpc>
                <a:spcPct val="130000"/>
              </a:lnSpc>
              <a:spcAft>
                <a:spcPts val="0"/>
              </a:spcAft>
            </a:pPr>
            <a:r>
              <a:rPr sz="950" b="0">
                <a:solidFill>
                  <a:srgbClr val="33555F"/>
                </a:solidFill>
                <a:latin typeface="Plus Jakarta Sans"/>
              </a:rPr>
              <a:t>Banking and tax</a:t>
            </a:r>
          </a:p>
        </p:txBody>
      </p:sp>
      <p:sp>
        <p:nvSpPr>
          <p:cNvPr id="50" name="Oval 49"/>
          <p:cNvSpPr/>
          <p:nvPr/>
        </p:nvSpPr>
        <p:spPr>
          <a:xfrm>
            <a:off x="8275320" y="4453128"/>
            <a:ext cx="91440" cy="91440"/>
          </a:xfrm>
          <a:prstGeom prst="ellipse">
            <a:avLst/>
          </a:prstGeom>
          <a:solidFill>
            <a:srgbClr val="FBFDFE"/>
          </a:solidFill>
          <a:ln w="15875">
            <a:solidFill>
              <a:srgbClr val="39C0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94776" y="4389120"/>
            <a:ext cx="2926080" cy="548640"/>
          </a:xfrm>
          <a:prstGeom prst="rect">
            <a:avLst/>
          </a:prstGeom>
          <a:noFill/>
        </p:spPr>
        <p:txBody>
          <a:bodyPr wrap="square" lIns="0" rIns="0" tIns="0" bIns="0">
            <a:spAutoFit/>
          </a:bodyPr>
          <a:lstStyle/>
          <a:p>
            <a:pPr>
              <a:lnSpc>
                <a:spcPct val="135000"/>
              </a:lnSpc>
              <a:spcAft>
                <a:spcPts val="200"/>
              </a:spcAft>
            </a:pPr>
            <a:r>
              <a:rPr sz="750" b="0" cap="all" spc="140">
                <a:solidFill>
                  <a:srgbClr val="8AA6AE"/>
                </a:solidFill>
                <a:latin typeface="IBM Plex Mono"/>
              </a:rPr>
              <a:t>Month 1</a:t>
            </a:r>
          </a:p>
          <a:p>
            <a:pPr>
              <a:lnSpc>
                <a:spcPct val="130000"/>
              </a:lnSpc>
              <a:spcAft>
                <a:spcPts val="0"/>
              </a:spcAft>
            </a:pPr>
            <a:r>
              <a:rPr sz="950" b="0">
                <a:solidFill>
                  <a:srgbClr val="33555F"/>
                </a:solidFill>
                <a:latin typeface="Plus Jakarta Sans"/>
              </a:rPr>
              <a:t>First remittance cycle</a:t>
            </a:r>
          </a:p>
        </p:txBody>
      </p:sp>
      <p:sp>
        <p:nvSpPr>
          <p:cNvPr id="52" name="Rectangle 51"/>
          <p:cNvSpPr/>
          <p:nvPr/>
        </p:nvSpPr>
        <p:spPr>
          <a:xfrm>
            <a:off x="786384" y="6016752"/>
            <a:ext cx="10618927" cy="9525"/>
          </a:xfrm>
          <a:prstGeom prst="rect">
            <a:avLst/>
          </a:prstGeom>
          <a:solidFill>
            <a:srgbClr val="DCE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86384" y="6144768"/>
            <a:ext cx="10618927" cy="640080"/>
          </a:xfrm>
          <a:prstGeom prst="rect">
            <a:avLst/>
          </a:prstGeom>
          <a:noFill/>
        </p:spPr>
        <p:txBody>
          <a:bodyPr wrap="square" lIns="0" rIns="0" tIns="0" bIns="0">
            <a:spAutoFit/>
          </a:bodyPr>
          <a:lstStyle/>
          <a:p>
            <a:pPr>
              <a:lnSpc>
                <a:spcPct val="150000"/>
              </a:lnSpc>
              <a:spcAft>
                <a:spcPts val="0"/>
              </a:spcAft>
            </a:pPr>
            <a:r>
              <a:rPr sz="800" b="0">
                <a:solidFill>
                  <a:srgbClr val="52737D"/>
                </a:solidFill>
                <a:latin typeface="IBM Plex Mono"/>
              </a:rPr>
              <a:t>Timelines are Flyport planning assumptions from comparable carrier entries, not regulatory commitments. No authority guarantees a date.</a:t>
            </a:r>
          </a:p>
        </p:txBody>
      </p:sp>
      <p:sp>
        <p:nvSpPr>
          <p:cNvPr id="54" name="TextBox 53"/>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566928"/>
            <a:ext cx="10618927" cy="274320"/>
          </a:xfrm>
          <a:prstGeom prst="rect">
            <a:avLst/>
          </a:prstGeom>
          <a:noFill/>
        </p:spPr>
        <p:txBody>
          <a:bodyPr wrap="square" lIns="0" rIns="0" tIns="0" bIns="0">
            <a:spAutoFit/>
          </a:bodyPr>
          <a:lstStyle/>
          <a:p>
            <a:pPr>
              <a:lnSpc>
                <a:spcPct val="135000"/>
              </a:lnSpc>
              <a:spcAft>
                <a:spcPts val="0"/>
              </a:spcAft>
            </a:pPr>
            <a:r>
              <a:rPr sz="1000" b="0" cap="all" spc="240">
                <a:solidFill>
                  <a:srgbClr val="0C7A80"/>
                </a:solidFill>
                <a:latin typeface="IBM Plex Mono"/>
              </a:rPr>
              <a:t>01  .  BIDA  /  Registering local representation</a:t>
            </a:r>
          </a:p>
        </p:txBody>
      </p:sp>
      <p:sp>
        <p:nvSpPr>
          <p:cNvPr id="4" name="TextBox 3"/>
          <p:cNvSpPr txBox="1"/>
          <p:nvPr/>
        </p:nvSpPr>
        <p:spPr>
          <a:xfrm>
            <a:off x="786384" y="932688"/>
            <a:ext cx="10618927" cy="1371600"/>
          </a:xfrm>
          <a:prstGeom prst="rect">
            <a:avLst/>
          </a:prstGeom>
          <a:noFill/>
        </p:spPr>
        <p:txBody>
          <a:bodyPr wrap="square" lIns="0" rIns="0" tIns="0" bIns="0">
            <a:spAutoFit/>
          </a:bodyPr>
          <a:lstStyle/>
          <a:p>
            <a:pPr>
              <a:lnSpc>
                <a:spcPct val="108000"/>
              </a:lnSpc>
              <a:spcAft>
                <a:spcPts val="0"/>
              </a:spcAft>
            </a:pPr>
            <a:r>
              <a:rPr sz="2700" b="1">
                <a:solidFill>
                  <a:srgbClr val="0E2830"/>
                </a:solidFill>
                <a:latin typeface="Outfit"/>
              </a:rPr>
              <a:t>The permission letter, and the two clauses inside it that decide whether money can leave.</a:t>
            </a:r>
          </a:p>
        </p:txBody>
      </p:sp>
      <p:sp>
        <p:nvSpPr>
          <p:cNvPr id="5" name="TextBox 4"/>
          <p:cNvSpPr txBox="1"/>
          <p:nvPr/>
        </p:nvSpPr>
        <p:spPr>
          <a:xfrm>
            <a:off x="786384" y="2011680"/>
            <a:ext cx="5212080" cy="274320"/>
          </a:xfrm>
          <a:prstGeom prst="rect">
            <a:avLst/>
          </a:prstGeom>
          <a:noFill/>
        </p:spPr>
        <p:txBody>
          <a:bodyPr wrap="square" lIns="0" rIns="0" tIns="0" bIns="0">
            <a:spAutoFit/>
          </a:bodyPr>
          <a:lstStyle/>
          <a:p>
            <a:pPr>
              <a:lnSpc>
                <a:spcPct val="135000"/>
              </a:lnSpc>
              <a:spcAft>
                <a:spcPts val="0"/>
              </a:spcAft>
            </a:pPr>
            <a:r>
              <a:rPr sz="1300" b="1">
                <a:solidFill>
                  <a:srgbClr val="0E2830"/>
                </a:solidFill>
                <a:latin typeface="Outfit"/>
              </a:rPr>
              <a:t>The permission set</a:t>
            </a:r>
          </a:p>
        </p:txBody>
      </p:sp>
      <p:sp>
        <p:nvSpPr>
          <p:cNvPr id="6" name="Oval 5"/>
          <p:cNvSpPr/>
          <p:nvPr/>
        </p:nvSpPr>
        <p:spPr>
          <a:xfrm>
            <a:off x="786384" y="2427732"/>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2359152"/>
            <a:ext cx="5056632" cy="822960"/>
          </a:xfrm>
          <a:prstGeom prst="rect">
            <a:avLst/>
          </a:prstGeom>
          <a:noFill/>
        </p:spPr>
        <p:txBody>
          <a:bodyPr wrap="square" lIns="0" rIns="0" tIns="0" bIns="0">
            <a:spAutoFit/>
          </a:bodyPr>
          <a:lstStyle/>
          <a:p>
            <a:pPr>
              <a:lnSpc>
                <a:spcPct val="140000"/>
              </a:lnSpc>
              <a:spcAft>
                <a:spcPts val="0"/>
              </a:spcAft>
            </a:pPr>
            <a:r>
              <a:rPr sz="950" b="0">
                <a:solidFill>
                  <a:srgbClr val="33555F"/>
                </a:solidFill>
                <a:latin typeface="Plus Jakarta Sans"/>
              </a:rPr>
              <a:t>Branch office permission from BIDA, via the One Stop Service portal, decided by an inter ministerial committee.</a:t>
            </a:r>
          </a:p>
        </p:txBody>
      </p:sp>
      <p:sp>
        <p:nvSpPr>
          <p:cNvPr id="8" name="Oval 7"/>
          <p:cNvSpPr/>
          <p:nvPr/>
        </p:nvSpPr>
        <p:spPr>
          <a:xfrm>
            <a:off x="786384" y="2867152"/>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2798572"/>
            <a:ext cx="5056632" cy="822960"/>
          </a:xfrm>
          <a:prstGeom prst="rect">
            <a:avLst/>
          </a:prstGeom>
          <a:noFill/>
        </p:spPr>
        <p:txBody>
          <a:bodyPr wrap="square" lIns="0" rIns="0" tIns="0" bIns="0">
            <a:spAutoFit/>
          </a:bodyPr>
          <a:lstStyle/>
          <a:p>
            <a:pPr>
              <a:lnSpc>
                <a:spcPct val="140000"/>
              </a:lnSpc>
              <a:spcAft>
                <a:spcPts val="0"/>
              </a:spcAft>
            </a:pPr>
            <a:r>
              <a:rPr sz="950" b="0">
                <a:solidFill>
                  <a:srgbClr val="33555F"/>
                </a:solidFill>
                <a:latin typeface="Plus Jakarta Sans"/>
              </a:rPr>
              <a:t>Expert e-visa recommendation letter, so the nominated expatriate enters on the right category.</a:t>
            </a:r>
          </a:p>
        </p:txBody>
      </p:sp>
      <p:sp>
        <p:nvSpPr>
          <p:cNvPr id="10" name="Oval 9"/>
          <p:cNvSpPr/>
          <p:nvPr/>
        </p:nvSpPr>
        <p:spPr>
          <a:xfrm>
            <a:off x="786384" y="3306572"/>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3237992"/>
            <a:ext cx="5056632" cy="822960"/>
          </a:xfrm>
          <a:prstGeom prst="rect">
            <a:avLst/>
          </a:prstGeom>
          <a:noFill/>
        </p:spPr>
        <p:txBody>
          <a:bodyPr wrap="square" lIns="0" rIns="0" tIns="0" bIns="0">
            <a:spAutoFit/>
          </a:bodyPr>
          <a:lstStyle/>
          <a:p>
            <a:pPr>
              <a:lnSpc>
                <a:spcPct val="140000"/>
              </a:lnSpc>
              <a:spcAft>
                <a:spcPts val="0"/>
              </a:spcAft>
            </a:pPr>
            <a:r>
              <a:rPr sz="950" b="0">
                <a:solidFill>
                  <a:srgbClr val="33555F"/>
                </a:solidFill>
                <a:latin typeface="Plus Jakarta Sans"/>
              </a:rPr>
              <a:t>Expert work permit, issued after arrival, renewable and inspected.</a:t>
            </a:r>
          </a:p>
        </p:txBody>
      </p:sp>
      <p:sp>
        <p:nvSpPr>
          <p:cNvPr id="12" name="Oval 11"/>
          <p:cNvSpPr/>
          <p:nvPr/>
        </p:nvSpPr>
        <p:spPr>
          <a:xfrm>
            <a:off x="786384" y="3577082"/>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1832" y="3508502"/>
            <a:ext cx="5056632" cy="822960"/>
          </a:xfrm>
          <a:prstGeom prst="rect">
            <a:avLst/>
          </a:prstGeom>
          <a:noFill/>
        </p:spPr>
        <p:txBody>
          <a:bodyPr wrap="square" lIns="0" rIns="0" tIns="0" bIns="0">
            <a:spAutoFit/>
          </a:bodyPr>
          <a:lstStyle/>
          <a:p>
            <a:pPr>
              <a:lnSpc>
                <a:spcPct val="140000"/>
              </a:lnSpc>
              <a:spcAft>
                <a:spcPts val="0"/>
              </a:spcAft>
            </a:pPr>
            <a:r>
              <a:rPr sz="950" b="0">
                <a:solidFill>
                  <a:srgbClr val="33555F"/>
                </a:solidFill>
                <a:latin typeface="Plus Jakarta Sans"/>
              </a:rPr>
              <a:t>Waiver of Clause 7 and Clause 8, the two conditions that restrict outward remittance from the office.</a:t>
            </a:r>
          </a:p>
        </p:txBody>
      </p:sp>
      <p:sp>
        <p:nvSpPr>
          <p:cNvPr id="14" name="Oval 13"/>
          <p:cNvSpPr/>
          <p:nvPr/>
        </p:nvSpPr>
        <p:spPr>
          <a:xfrm>
            <a:off x="786384" y="4016502"/>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3947922"/>
            <a:ext cx="5056632" cy="822960"/>
          </a:xfrm>
          <a:prstGeom prst="rect">
            <a:avLst/>
          </a:prstGeom>
          <a:noFill/>
        </p:spPr>
        <p:txBody>
          <a:bodyPr wrap="square" lIns="0" rIns="0" tIns="0" bIns="0">
            <a:spAutoFit/>
          </a:bodyPr>
          <a:lstStyle/>
          <a:p>
            <a:pPr>
              <a:lnSpc>
                <a:spcPct val="140000"/>
              </a:lnSpc>
              <a:spcAft>
                <a:spcPts val="0"/>
              </a:spcAft>
            </a:pPr>
            <a:r>
              <a:rPr sz="950" b="0">
                <a:solidFill>
                  <a:srgbClr val="33555F"/>
                </a:solidFill>
                <a:latin typeface="Plus Jakarta Sans"/>
              </a:rPr>
              <a:t>Encashment certificate evidencing inward remittance of a minimum USD 50,000 as initial establishment cost.</a:t>
            </a:r>
          </a:p>
        </p:txBody>
      </p:sp>
      <p:sp>
        <p:nvSpPr>
          <p:cNvPr id="16" name="Rounded Rectangle 15"/>
          <p:cNvSpPr/>
          <p:nvPr/>
        </p:nvSpPr>
        <p:spPr>
          <a:xfrm>
            <a:off x="786384" y="4828032"/>
            <a:ext cx="5212080" cy="1298448"/>
          </a:xfrm>
          <a:prstGeom prst="roundRect">
            <a:avLst>
              <a:gd name="adj" fmla="val 5500"/>
            </a:avLst>
          </a:prstGeom>
          <a:gradFill rotWithShape="1">
            <a:gsLst>
              <a:gs pos="0">
                <a:srgbClr val="FBE7E2"/>
              </a:gs>
              <a:gs pos="62000">
                <a:srgbClr val="FFFFFF"/>
              </a:gs>
            </a:gsLst>
            <a:lin scaled="0" ang="2700000"/>
          </a:gradFill>
          <a:ln w="12700">
            <a:solidFill>
              <a:srgbClr val="E3A7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010912"/>
            <a:ext cx="4773168" cy="932688"/>
          </a:xfrm>
          <a:prstGeom prst="rect">
            <a:avLst/>
          </a:prstGeom>
          <a:noFill/>
        </p:spPr>
        <p:txBody>
          <a:bodyPr wrap="square" lIns="0" rIns="0" tIns="0" bIns="0">
            <a:spAutoFit/>
          </a:bodyPr>
          <a:lstStyle/>
          <a:p>
            <a:pPr>
              <a:lnSpc>
                <a:spcPct val="135000"/>
              </a:lnSpc>
              <a:spcAft>
                <a:spcPts val="500"/>
              </a:spcAft>
            </a:pPr>
            <a:r>
              <a:rPr sz="800" b="0" cap="all" spc="180">
                <a:solidFill>
                  <a:srgbClr val="C0442B"/>
                </a:solidFill>
                <a:latin typeface="IBM Plex Mono"/>
              </a:rPr>
              <a:t>Read this one carefully</a:t>
            </a:r>
          </a:p>
          <a:p>
            <a:pPr>
              <a:lnSpc>
                <a:spcPct val="116000"/>
              </a:lnSpc>
              <a:spcAft>
                <a:spcPts val="500"/>
              </a:spcAft>
            </a:pPr>
            <a:r>
              <a:rPr sz="1100" b="1">
                <a:solidFill>
                  <a:srgbClr val="0E2830"/>
                </a:solidFill>
                <a:latin typeface="Outfit"/>
              </a:rPr>
              <a:t>The waiver is not a formality</a:t>
            </a:r>
          </a:p>
          <a:p>
            <a:pPr>
              <a:lnSpc>
                <a:spcPct val="140000"/>
              </a:lnSpc>
              <a:spcAft>
                <a:spcPts val="0"/>
              </a:spcAft>
            </a:pPr>
            <a:r>
              <a:rPr sz="850" b="0">
                <a:solidFill>
                  <a:srgbClr val="33555F"/>
                </a:solidFill>
                <a:latin typeface="Plus Jakarta Sans"/>
              </a:rPr>
              <a:t>Confirm the exact clause numbers against the permission letter as issued: the AD bank reads the letter, not the template. Without both waivers on file, the bank has no basis to pass an outward remittance.</a:t>
            </a:r>
          </a:p>
        </p:txBody>
      </p:sp>
      <p:sp>
        <p:nvSpPr>
          <p:cNvPr id="18" name="TextBox 17"/>
          <p:cNvSpPr txBox="1"/>
          <p:nvPr/>
        </p:nvSpPr>
        <p:spPr>
          <a:xfrm>
            <a:off x="6446520" y="2011680"/>
            <a:ext cx="2606040" cy="1371600"/>
          </a:xfrm>
          <a:prstGeom prst="rect">
            <a:avLst/>
          </a:prstGeom>
          <a:noFill/>
        </p:spPr>
        <p:txBody>
          <a:bodyPr wrap="square" lIns="0" rIns="0" tIns="0" bIns="0">
            <a:spAutoFit/>
          </a:bodyPr>
          <a:lstStyle/>
          <a:p>
            <a:pPr>
              <a:lnSpc>
                <a:spcPct val="95000"/>
              </a:lnSpc>
              <a:spcAft>
                <a:spcPts val="400"/>
              </a:spcAft>
            </a:pPr>
            <a:r>
              <a:rPr sz="2000" b="1">
                <a:solidFill>
                  <a:srgbClr val="8A6608"/>
                </a:solidFill>
                <a:latin typeface="Outfit"/>
              </a:rPr>
              <a:t>1 : 5</a:t>
            </a:r>
          </a:p>
          <a:p>
            <a:pPr>
              <a:lnSpc>
                <a:spcPct val="135000"/>
              </a:lnSpc>
              <a:spcAft>
                <a:spcPts val="300"/>
              </a:spcAft>
            </a:pPr>
            <a:r>
              <a:rPr sz="800" b="0" cap="all" spc="160">
                <a:solidFill>
                  <a:srgbClr val="52737D"/>
                </a:solidFill>
                <a:latin typeface="IBM Plex Mono"/>
              </a:rPr>
              <a:t>Expatriate to local ratio</a:t>
            </a:r>
          </a:p>
          <a:p>
            <a:pPr>
              <a:lnSpc>
                <a:spcPct val="135000"/>
              </a:lnSpc>
              <a:spcAft>
                <a:spcPts val="0"/>
              </a:spcAft>
            </a:pPr>
            <a:r>
              <a:rPr sz="850" b="0">
                <a:solidFill>
                  <a:srgbClr val="52737D"/>
                </a:solidFill>
                <a:latin typeface="Plus Jakarta Sans"/>
              </a:rPr>
              <a:t>One expatriate is expected to be supported by at least five Bangladeshi employees.</a:t>
            </a:r>
          </a:p>
        </p:txBody>
      </p:sp>
      <p:sp>
        <p:nvSpPr>
          <p:cNvPr id="19" name="TextBox 18"/>
          <p:cNvSpPr txBox="1"/>
          <p:nvPr/>
        </p:nvSpPr>
        <p:spPr>
          <a:xfrm>
            <a:off x="9052560" y="2011680"/>
            <a:ext cx="2606040" cy="1371600"/>
          </a:xfrm>
          <a:prstGeom prst="rect">
            <a:avLst/>
          </a:prstGeom>
          <a:noFill/>
        </p:spPr>
        <p:txBody>
          <a:bodyPr wrap="square" lIns="0" rIns="0" tIns="0" bIns="0">
            <a:spAutoFit/>
          </a:bodyPr>
          <a:lstStyle/>
          <a:p>
            <a:pPr>
              <a:lnSpc>
                <a:spcPct val="95000"/>
              </a:lnSpc>
              <a:spcAft>
                <a:spcPts val="400"/>
              </a:spcAft>
            </a:pPr>
            <a:r>
              <a:rPr sz="2000" b="1">
                <a:solidFill>
                  <a:srgbClr val="8A6608"/>
                </a:solidFill>
                <a:latin typeface="Outfit"/>
              </a:rPr>
              <a:t>$50k</a:t>
            </a:r>
          </a:p>
          <a:p>
            <a:pPr>
              <a:lnSpc>
                <a:spcPct val="135000"/>
              </a:lnSpc>
              <a:spcAft>
                <a:spcPts val="300"/>
              </a:spcAft>
            </a:pPr>
            <a:r>
              <a:rPr sz="800" b="0" cap="all" spc="160">
                <a:solidFill>
                  <a:srgbClr val="52737D"/>
                </a:solidFill>
                <a:latin typeface="IBM Plex Mono"/>
              </a:rPr>
              <a:t>Minimum inward remittance</a:t>
            </a:r>
          </a:p>
          <a:p>
            <a:pPr>
              <a:lnSpc>
                <a:spcPct val="135000"/>
              </a:lnSpc>
              <a:spcAft>
                <a:spcPts val="0"/>
              </a:spcAft>
            </a:pPr>
            <a:r>
              <a:rPr sz="850" b="0">
                <a:solidFill>
                  <a:srgbClr val="52737D"/>
                </a:solidFill>
                <a:latin typeface="Plus Jakarta Sans"/>
              </a:rPr>
              <a:t>Initial establishment cost, evidenced by an encashment certificate.</a:t>
            </a:r>
          </a:p>
        </p:txBody>
      </p:sp>
      <p:sp>
        <p:nvSpPr>
          <p:cNvPr id="20" name="TextBox 19"/>
          <p:cNvSpPr txBox="1"/>
          <p:nvPr/>
        </p:nvSpPr>
        <p:spPr>
          <a:xfrm>
            <a:off x="6446520" y="3310128"/>
            <a:ext cx="2606040" cy="1371600"/>
          </a:xfrm>
          <a:prstGeom prst="rect">
            <a:avLst/>
          </a:prstGeom>
          <a:noFill/>
        </p:spPr>
        <p:txBody>
          <a:bodyPr wrap="square" lIns="0" rIns="0" tIns="0" bIns="0">
            <a:spAutoFit/>
          </a:bodyPr>
          <a:lstStyle/>
          <a:p>
            <a:pPr>
              <a:lnSpc>
                <a:spcPct val="95000"/>
              </a:lnSpc>
              <a:spcAft>
                <a:spcPts val="400"/>
              </a:spcAft>
            </a:pPr>
            <a:r>
              <a:rPr sz="2000" b="1">
                <a:solidFill>
                  <a:srgbClr val="0E2830"/>
                </a:solidFill>
                <a:latin typeface="Outfit"/>
              </a:rPr>
              <a:t>6 to 12</a:t>
            </a:r>
          </a:p>
          <a:p>
            <a:pPr>
              <a:lnSpc>
                <a:spcPct val="135000"/>
              </a:lnSpc>
              <a:spcAft>
                <a:spcPts val="300"/>
              </a:spcAft>
            </a:pPr>
            <a:r>
              <a:rPr sz="800" b="0" cap="all" spc="160">
                <a:solidFill>
                  <a:srgbClr val="52737D"/>
                </a:solidFill>
                <a:latin typeface="IBM Plex Mono"/>
              </a:rPr>
              <a:t>Weeks, filing to permission</a:t>
            </a:r>
          </a:p>
          <a:p>
            <a:pPr>
              <a:lnSpc>
                <a:spcPct val="135000"/>
              </a:lnSpc>
              <a:spcAft>
                <a:spcPts val="0"/>
              </a:spcAft>
            </a:pPr>
            <a:r>
              <a:rPr sz="850" b="0">
                <a:solidFill>
                  <a:srgbClr val="52737D"/>
                </a:solidFill>
                <a:latin typeface="Plus Jakarta Sans"/>
              </a:rPr>
              <a:t>Planning assumption. Committee sittings are the pacing item.</a:t>
            </a:r>
          </a:p>
        </p:txBody>
      </p:sp>
      <p:sp>
        <p:nvSpPr>
          <p:cNvPr id="21" name="TextBox 20"/>
          <p:cNvSpPr txBox="1"/>
          <p:nvPr/>
        </p:nvSpPr>
        <p:spPr>
          <a:xfrm>
            <a:off x="9052560" y="3310128"/>
            <a:ext cx="2606040" cy="1371600"/>
          </a:xfrm>
          <a:prstGeom prst="rect">
            <a:avLst/>
          </a:prstGeom>
          <a:noFill/>
        </p:spPr>
        <p:txBody>
          <a:bodyPr wrap="square" lIns="0" rIns="0" tIns="0" bIns="0">
            <a:spAutoFit/>
          </a:bodyPr>
          <a:lstStyle/>
          <a:p>
            <a:pPr>
              <a:lnSpc>
                <a:spcPct val="95000"/>
              </a:lnSpc>
              <a:spcAft>
                <a:spcPts val="400"/>
              </a:spcAft>
            </a:pPr>
            <a:r>
              <a:rPr sz="2000" b="1">
                <a:solidFill>
                  <a:srgbClr val="0A5F65"/>
                </a:solidFill>
                <a:latin typeface="Outfit"/>
              </a:rPr>
              <a:t>2</a:t>
            </a:r>
          </a:p>
          <a:p>
            <a:pPr>
              <a:lnSpc>
                <a:spcPct val="135000"/>
              </a:lnSpc>
              <a:spcAft>
                <a:spcPts val="300"/>
              </a:spcAft>
            </a:pPr>
            <a:r>
              <a:rPr sz="800" b="0" cap="all" spc="160">
                <a:solidFill>
                  <a:srgbClr val="52737D"/>
                </a:solidFill>
                <a:latin typeface="IBM Plex Mono"/>
              </a:rPr>
              <a:t>Waiver clauses required</a:t>
            </a:r>
          </a:p>
          <a:p>
            <a:pPr>
              <a:lnSpc>
                <a:spcPct val="135000"/>
              </a:lnSpc>
              <a:spcAft>
                <a:spcPts val="0"/>
              </a:spcAft>
            </a:pPr>
            <a:r>
              <a:rPr sz="850" b="0">
                <a:solidFill>
                  <a:srgbClr val="52737D"/>
                </a:solidFill>
                <a:latin typeface="Plus Jakarta Sans"/>
              </a:rPr>
              <a:t>Both must be granted before the bank will move surplus earnings.</a:t>
            </a:r>
          </a:p>
        </p:txBody>
      </p:sp>
      <p:sp>
        <p:nvSpPr>
          <p:cNvPr id="22" name="TextBox 21"/>
          <p:cNvSpPr txBox="1"/>
          <p:nvPr/>
        </p:nvSpPr>
        <p:spPr>
          <a:xfrm>
            <a:off x="6446520" y="4590288"/>
            <a:ext cx="4937760" cy="274320"/>
          </a:xfrm>
          <a:prstGeom prst="rect">
            <a:avLst/>
          </a:prstGeom>
          <a:noFill/>
        </p:spPr>
        <p:txBody>
          <a:bodyPr wrap="square" lIns="0" rIns="0" tIns="0" bIns="0">
            <a:spAutoFit/>
          </a:bodyPr>
          <a:lstStyle/>
          <a:p>
            <a:pPr>
              <a:lnSpc>
                <a:spcPct val="135000"/>
              </a:lnSpc>
              <a:spcAft>
                <a:spcPts val="0"/>
              </a:spcAft>
            </a:pPr>
            <a:r>
              <a:rPr sz="800" b="0" cap="all" spc="160">
                <a:solidFill>
                  <a:srgbClr val="8AA6AE"/>
                </a:solidFill>
                <a:latin typeface="IBM Plex Mono"/>
              </a:rPr>
              <a:t>Application pathway</a:t>
            </a:r>
          </a:p>
        </p:txBody>
      </p:sp>
      <p:graphicFrame>
        <p:nvGraphicFramePr>
          <p:cNvPr id="23" name="Table 22"/>
          <p:cNvGraphicFramePr>
            <a:graphicFrameLocks noGrp="1"/>
          </p:cNvGraphicFramePr>
          <p:nvPr/>
        </p:nvGraphicFramePr>
        <p:xfrm>
          <a:off x="6446520" y="4846320"/>
          <a:ext cx="4937760" cy="1426464"/>
        </p:xfrm>
        <a:graphic>
          <a:graphicData uri="http://schemas.openxmlformats.org/drawingml/2006/table">
            <a:tbl>
              <a:tblPr bandRow="0" firstRow="0">
                <a:tableStyleId>{5C22544A-7EE6-4342-B048-85BDC9FD1C3A}</a:tableStyleId>
              </a:tblPr>
              <a:tblGrid>
                <a:gridCol w="457200"/>
                <a:gridCol w="4480560"/>
              </a:tblGrid>
              <a:tr h="237744">
                <a:tc>
                  <a:txBody>
                    <a:bodyPr/>
                    <a:lstStyle/>
                    <a:p>
                      <a:pPr>
                        <a:lnSpc>
                          <a:spcPct val="120000"/>
                        </a:lnSpc>
                        <a:spcAft>
                          <a:spcPts val="0"/>
                        </a:spcAft>
                      </a:pPr>
                    </a:p>
                  </a:txBody>
                  <a:tcPr marL="54864" marR="54864" marT="36576" marB="36576" anchor="b">
                    <a:solidFill>
                      <a:srgbClr val="FBFDFE"/>
                    </a:solidFill>
                  </a:tcPr>
                </a:tc>
                <a:tc>
                  <a:txBody>
                    <a:bodyPr/>
                    <a:lstStyle/>
                    <a:p>
                      <a:pPr>
                        <a:lnSpc>
                          <a:spcPct val="120000"/>
                        </a:lnSpc>
                        <a:spcAft>
                          <a:spcPts val="0"/>
                        </a:spcAft>
                      </a:pPr>
                      <a:r>
                        <a:rPr sz="750" b="0" cap="all" spc="140">
                          <a:solidFill>
                            <a:srgbClr val="8AA6AE"/>
                          </a:solidFill>
                          <a:latin typeface="IBM Plex Mono"/>
                        </a:rPr>
                        <a:t>Step</a:t>
                      </a:r>
                    </a:p>
                  </a:txBody>
                  <a:tcPr marL="54864" marR="54864" marT="36576" marB="36576" anchor="b">
                    <a:solidFill>
                      <a:srgbClr val="FBFDFE"/>
                    </a:solidFill>
                  </a:tcPr>
                </a:tc>
              </a:tr>
              <a:tr h="237744">
                <a:tc>
                  <a:txBody>
                    <a:bodyPr/>
                    <a:lstStyle/>
                    <a:p>
                      <a:pPr>
                        <a:lnSpc>
                          <a:spcPct val="130000"/>
                        </a:lnSpc>
                        <a:spcAft>
                          <a:spcPts val="0"/>
                        </a:spcAft>
                      </a:pPr>
                      <a:r>
                        <a:rPr sz="800" b="0">
                          <a:solidFill>
                            <a:srgbClr val="33555F"/>
                          </a:solidFill>
                          <a:latin typeface="Plus Jakarta Sans"/>
                        </a:rPr>
                        <a:t>01</a:t>
                      </a:r>
                    </a:p>
                  </a:txBody>
                  <a:tcPr marL="54864" marR="54864" marT="45720" marB="45720" anchor="t">
                    <a:solidFill>
                      <a:srgbClr val="FFFFFF"/>
                    </a:solidFill>
                  </a:tcPr>
                </a:tc>
                <a:tc>
                  <a:txBody>
                    <a:bodyPr/>
                    <a:lstStyle/>
                    <a:p>
                      <a:pPr>
                        <a:lnSpc>
                          <a:spcPct val="130000"/>
                        </a:lnSpc>
                        <a:spcAft>
                          <a:spcPts val="0"/>
                        </a:spcAft>
                      </a:pPr>
                      <a:r>
                        <a:rPr sz="800" b="0">
                          <a:solidFill>
                            <a:srgbClr val="33555F"/>
                          </a:solidFill>
                          <a:latin typeface="Plus Jakarta Sans"/>
                        </a:rPr>
                        <a:t>Application lodged through the BIDA One Stop Service portal</a:t>
                      </a:r>
                    </a:p>
                  </a:txBody>
                  <a:tcPr marL="54864" marR="54864" marT="45720" marB="45720" anchor="t">
                    <a:solidFill>
                      <a:srgbClr val="FFFFFF"/>
                    </a:solidFill>
                  </a:tcPr>
                </a:tc>
              </a:tr>
              <a:tr h="237744">
                <a:tc>
                  <a:txBody>
                    <a:bodyPr/>
                    <a:lstStyle/>
                    <a:p>
                      <a:pPr>
                        <a:lnSpc>
                          <a:spcPct val="130000"/>
                        </a:lnSpc>
                        <a:spcAft>
                          <a:spcPts val="0"/>
                        </a:spcAft>
                      </a:pPr>
                      <a:r>
                        <a:rPr sz="800" b="0">
                          <a:solidFill>
                            <a:srgbClr val="33555F"/>
                          </a:solidFill>
                          <a:latin typeface="Plus Jakarta Sans"/>
                        </a:rPr>
                        <a:t>02</a:t>
                      </a:r>
                    </a:p>
                  </a:txBody>
                  <a:tcPr marL="54864" marR="54864" marT="45720" marB="45720" anchor="t">
                    <a:solidFill>
                      <a:srgbClr val="FBFDFE"/>
                    </a:solidFill>
                  </a:tcPr>
                </a:tc>
                <a:tc>
                  <a:txBody>
                    <a:bodyPr/>
                    <a:lstStyle/>
                    <a:p>
                      <a:pPr>
                        <a:lnSpc>
                          <a:spcPct val="130000"/>
                        </a:lnSpc>
                        <a:spcAft>
                          <a:spcPts val="0"/>
                        </a:spcAft>
                      </a:pPr>
                      <a:r>
                        <a:rPr sz="800" b="0">
                          <a:solidFill>
                            <a:srgbClr val="33555F"/>
                          </a:solidFill>
                          <a:latin typeface="Plus Jakarta Sans"/>
                        </a:rPr>
                        <a:t>Corporate documents attested by the Bangladesh Mission or home chamber</a:t>
                      </a:r>
                    </a:p>
                  </a:txBody>
                  <a:tcPr marL="54864" marR="54864" marT="45720" marB="45720" anchor="t">
                    <a:solidFill>
                      <a:srgbClr val="FBFDFE"/>
                    </a:solidFill>
                  </a:tcPr>
                </a:tc>
              </a:tr>
              <a:tr h="237744">
                <a:tc>
                  <a:txBody>
                    <a:bodyPr/>
                    <a:lstStyle/>
                    <a:p>
                      <a:pPr>
                        <a:lnSpc>
                          <a:spcPct val="130000"/>
                        </a:lnSpc>
                        <a:spcAft>
                          <a:spcPts val="0"/>
                        </a:spcAft>
                      </a:pPr>
                      <a:r>
                        <a:rPr sz="800" b="0">
                          <a:solidFill>
                            <a:srgbClr val="33555F"/>
                          </a:solidFill>
                          <a:latin typeface="Plus Jakarta Sans"/>
                        </a:rPr>
                        <a:t>03</a:t>
                      </a:r>
                    </a:p>
                  </a:txBody>
                  <a:tcPr marL="54864" marR="54864" marT="45720" marB="45720" anchor="t">
                    <a:solidFill>
                      <a:srgbClr val="FFFFFF"/>
                    </a:solidFill>
                  </a:tcPr>
                </a:tc>
                <a:tc>
                  <a:txBody>
                    <a:bodyPr/>
                    <a:lstStyle/>
                    <a:p>
                      <a:pPr>
                        <a:lnSpc>
                          <a:spcPct val="130000"/>
                        </a:lnSpc>
                        <a:spcAft>
                          <a:spcPts val="0"/>
                        </a:spcAft>
                      </a:pPr>
                      <a:r>
                        <a:rPr sz="800" b="0">
                          <a:solidFill>
                            <a:srgbClr val="33555F"/>
                          </a:solidFill>
                          <a:latin typeface="Plus Jakarta Sans"/>
                        </a:rPr>
                        <a:t>Inter ministerial committee review at a scheduled sitting</a:t>
                      </a:r>
                    </a:p>
                  </a:txBody>
                  <a:tcPr marL="54864" marR="54864" marT="45720" marB="45720" anchor="t">
                    <a:solidFill>
                      <a:srgbClr val="FFFFFF"/>
                    </a:solidFill>
                  </a:tcPr>
                </a:tc>
              </a:tr>
              <a:tr h="237744">
                <a:tc>
                  <a:txBody>
                    <a:bodyPr/>
                    <a:lstStyle/>
                    <a:p>
                      <a:pPr>
                        <a:lnSpc>
                          <a:spcPct val="130000"/>
                        </a:lnSpc>
                        <a:spcAft>
                          <a:spcPts val="0"/>
                        </a:spcAft>
                      </a:pPr>
                      <a:r>
                        <a:rPr sz="800" b="0">
                          <a:solidFill>
                            <a:srgbClr val="33555F"/>
                          </a:solidFill>
                          <a:latin typeface="Plus Jakarta Sans"/>
                        </a:rPr>
                        <a:t>04</a:t>
                      </a:r>
                    </a:p>
                  </a:txBody>
                  <a:tcPr marL="54864" marR="54864" marT="45720" marB="45720" anchor="t">
                    <a:solidFill>
                      <a:srgbClr val="FBFDFE"/>
                    </a:solidFill>
                  </a:tcPr>
                </a:tc>
                <a:tc>
                  <a:txBody>
                    <a:bodyPr/>
                    <a:lstStyle/>
                    <a:p>
                      <a:pPr>
                        <a:lnSpc>
                          <a:spcPct val="130000"/>
                        </a:lnSpc>
                        <a:spcAft>
                          <a:spcPts val="0"/>
                        </a:spcAft>
                      </a:pPr>
                      <a:r>
                        <a:rPr sz="800" b="0">
                          <a:solidFill>
                            <a:srgbClr val="33555F"/>
                          </a:solidFill>
                          <a:latin typeface="Plus Jakarta Sans"/>
                        </a:rPr>
                        <a:t>Permission letter issued for the office and the permitted activity</a:t>
                      </a:r>
                    </a:p>
                  </a:txBody>
                  <a:tcPr marL="54864" marR="54864" marT="45720" marB="45720" anchor="t">
                    <a:solidFill>
                      <a:srgbClr val="FBFDFE"/>
                    </a:solidFill>
                  </a:tcPr>
                </a:tc>
              </a:tr>
              <a:tr h="237744">
                <a:tc>
                  <a:txBody>
                    <a:bodyPr/>
                    <a:lstStyle/>
                    <a:p>
                      <a:pPr>
                        <a:lnSpc>
                          <a:spcPct val="130000"/>
                        </a:lnSpc>
                        <a:spcAft>
                          <a:spcPts val="0"/>
                        </a:spcAft>
                      </a:pPr>
                      <a:r>
                        <a:rPr sz="800" b="0">
                          <a:solidFill>
                            <a:srgbClr val="0A5F65"/>
                          </a:solidFill>
                          <a:latin typeface="Plus Jakarta Sans"/>
                        </a:rPr>
                        <a:t>05</a:t>
                      </a:r>
                    </a:p>
                  </a:txBody>
                  <a:tcPr marL="54864" marR="54864" marT="45720" marB="45720" anchor="t">
                    <a:solidFill>
                      <a:srgbClr val="DCF2F3"/>
                    </a:solidFill>
                  </a:tcPr>
                </a:tc>
                <a:tc>
                  <a:txBody>
                    <a:bodyPr/>
                    <a:lstStyle/>
                    <a:p>
                      <a:pPr>
                        <a:lnSpc>
                          <a:spcPct val="130000"/>
                        </a:lnSpc>
                        <a:spcAft>
                          <a:spcPts val="0"/>
                        </a:spcAft>
                      </a:pPr>
                      <a:r>
                        <a:rPr sz="800" b="0">
                          <a:solidFill>
                            <a:srgbClr val="0A5F65"/>
                          </a:solidFill>
                          <a:latin typeface="Plus Jakarta Sans"/>
                        </a:rPr>
                        <a:t>Trade licence, TIN, BIN and AD bank account follow</a:t>
                      </a:r>
                    </a:p>
                  </a:txBody>
                  <a:tcPr marL="54864" marR="54864" marT="45720" marB="45720" anchor="t">
                    <a:solidFill>
                      <a:srgbClr val="DCF2F3"/>
                    </a:solidFill>
                  </a:tcPr>
                </a:tc>
              </a:tr>
            </a:tbl>
          </a:graphicData>
        </a:graphic>
      </p:graphicFrame>
      <p:sp>
        <p:nvSpPr>
          <p:cNvPr id="24" name="TextBox 23"/>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566928"/>
            <a:ext cx="10618927" cy="274320"/>
          </a:xfrm>
          <a:prstGeom prst="rect">
            <a:avLst/>
          </a:prstGeom>
          <a:noFill/>
        </p:spPr>
        <p:txBody>
          <a:bodyPr wrap="square" lIns="0" rIns="0" tIns="0" bIns="0">
            <a:spAutoFit/>
          </a:bodyPr>
          <a:lstStyle/>
          <a:p>
            <a:pPr>
              <a:lnSpc>
                <a:spcPct val="135000"/>
              </a:lnSpc>
              <a:spcAft>
                <a:spcPts val="0"/>
              </a:spcAft>
            </a:pPr>
            <a:r>
              <a:rPr sz="1000" b="0" cap="all" spc="240">
                <a:solidFill>
                  <a:srgbClr val="0C7A80"/>
                </a:solidFill>
                <a:latin typeface="IBM Plex Mono"/>
              </a:rPr>
              <a:t>02  .  CAAB  /  Operating permissions</a:t>
            </a:r>
          </a:p>
        </p:txBody>
      </p:sp>
      <p:sp>
        <p:nvSpPr>
          <p:cNvPr id="4" name="TextBox 3"/>
          <p:cNvSpPr txBox="1"/>
          <p:nvPr/>
        </p:nvSpPr>
        <p:spPr>
          <a:xfrm>
            <a:off x="786384" y="932688"/>
            <a:ext cx="10618927" cy="1371600"/>
          </a:xfrm>
          <a:prstGeom prst="rect">
            <a:avLst/>
          </a:prstGeom>
          <a:noFill/>
        </p:spPr>
        <p:txBody>
          <a:bodyPr wrap="square" lIns="0" rIns="0" tIns="0" bIns="0">
            <a:spAutoFit/>
          </a:bodyPr>
          <a:lstStyle/>
          <a:p>
            <a:pPr>
              <a:lnSpc>
                <a:spcPct val="108000"/>
              </a:lnSpc>
              <a:spcAft>
                <a:spcPts val="0"/>
              </a:spcAft>
            </a:pPr>
            <a:r>
              <a:rPr sz="2800" b="1">
                <a:solidFill>
                  <a:srgbClr val="0E2830"/>
                </a:solidFill>
                <a:latin typeface="Outfit"/>
              </a:rPr>
              <a:t>Traffic rights get the aircraft in. Tariff approval is what lets you sell the seat.</a:t>
            </a:r>
          </a:p>
        </p:txBody>
      </p:sp>
      <p:sp>
        <p:nvSpPr>
          <p:cNvPr id="5" name="Rounded Rectangle 4"/>
          <p:cNvSpPr/>
          <p:nvPr/>
        </p:nvSpPr>
        <p:spPr>
          <a:xfrm>
            <a:off x="786384" y="1975104"/>
            <a:ext cx="3381146" cy="1371600"/>
          </a:xfrm>
          <a:prstGeom prst="roundRect">
            <a:avLst>
              <a:gd name="adj" fmla="val 5500"/>
            </a:avLst>
          </a:prstGeom>
          <a:gradFill rotWithShape="1">
            <a:gsLst>
              <a:gs pos="0">
                <a:srgbClr val="FBF1D6"/>
              </a:gs>
              <a:gs pos="62000">
                <a:srgbClr val="FFFFFF"/>
              </a:gs>
            </a:gsLst>
            <a:lin scaled="0" ang="2700000"/>
          </a:gradFill>
          <a:ln w="12700">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57984"/>
            <a:ext cx="2942234" cy="1005840"/>
          </a:xfrm>
          <a:prstGeom prst="rect">
            <a:avLst/>
          </a:prstGeom>
          <a:noFill/>
        </p:spPr>
        <p:txBody>
          <a:bodyPr wrap="square" lIns="0" rIns="0" tIns="0" bIns="0">
            <a:spAutoFit/>
          </a:bodyPr>
          <a:lstStyle/>
          <a:p>
            <a:pPr>
              <a:lnSpc>
                <a:spcPct val="135000"/>
              </a:lnSpc>
              <a:spcAft>
                <a:spcPts val="500"/>
              </a:spcAft>
            </a:pPr>
            <a:r>
              <a:rPr sz="800" b="0" cap="all" spc="180">
                <a:solidFill>
                  <a:srgbClr val="8A6608"/>
                </a:solidFill>
                <a:latin typeface="IBM Plex Mono"/>
              </a:rPr>
              <a:t>Permission</a:t>
            </a:r>
          </a:p>
          <a:p>
            <a:pPr>
              <a:lnSpc>
                <a:spcPct val="116000"/>
              </a:lnSpc>
              <a:spcAft>
                <a:spcPts val="500"/>
              </a:spcAft>
            </a:pPr>
            <a:r>
              <a:rPr sz="1050" b="1">
                <a:solidFill>
                  <a:srgbClr val="0E2830"/>
                </a:solidFill>
                <a:latin typeface="Outfit"/>
              </a:rPr>
              <a:t>Flight operation permission</a:t>
            </a:r>
          </a:p>
          <a:p>
            <a:pPr>
              <a:lnSpc>
                <a:spcPct val="140000"/>
              </a:lnSpc>
              <a:spcAft>
                <a:spcPts val="0"/>
              </a:spcAft>
            </a:pPr>
            <a:r>
              <a:rPr sz="850" b="0">
                <a:solidFill>
                  <a:srgbClr val="33555F"/>
                </a:solidFill>
                <a:latin typeface="Plus Jakarta Sans"/>
              </a:rPr>
              <a:t>Granted by CAAB on the strength of designation under the Bangladesh and Vietnam ASA.</a:t>
            </a:r>
          </a:p>
        </p:txBody>
      </p:sp>
      <p:sp>
        <p:nvSpPr>
          <p:cNvPr id="7" name="Rounded Rectangle 6"/>
          <p:cNvSpPr/>
          <p:nvPr/>
        </p:nvSpPr>
        <p:spPr>
          <a:xfrm>
            <a:off x="4405274" y="1975104"/>
            <a:ext cx="3381146" cy="1371600"/>
          </a:xfrm>
          <a:prstGeom prst="roundRect">
            <a:avLst>
              <a:gd name="adj" fmla="val 5500"/>
            </a:avLst>
          </a:prstGeom>
          <a:gradFill rotWithShape="1">
            <a:gsLst>
              <a:gs pos="0">
                <a:srgbClr val="FBF1D6"/>
              </a:gs>
              <a:gs pos="62000">
                <a:srgbClr val="FFFFFF"/>
              </a:gs>
            </a:gsLst>
            <a:lin scaled="0" ang="2700000"/>
          </a:gradFill>
          <a:ln w="12700">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24730" y="2157984"/>
            <a:ext cx="2942234" cy="1005840"/>
          </a:xfrm>
          <a:prstGeom prst="rect">
            <a:avLst/>
          </a:prstGeom>
          <a:noFill/>
        </p:spPr>
        <p:txBody>
          <a:bodyPr wrap="square" lIns="0" rIns="0" tIns="0" bIns="0">
            <a:spAutoFit/>
          </a:bodyPr>
          <a:lstStyle/>
          <a:p>
            <a:pPr>
              <a:lnSpc>
                <a:spcPct val="135000"/>
              </a:lnSpc>
              <a:spcAft>
                <a:spcPts val="500"/>
              </a:spcAft>
            </a:pPr>
            <a:r>
              <a:rPr sz="800" b="0" cap="all" spc="180">
                <a:solidFill>
                  <a:srgbClr val="8A6608"/>
                </a:solidFill>
                <a:latin typeface="IBM Plex Mono"/>
              </a:rPr>
              <a:t>Permission</a:t>
            </a:r>
          </a:p>
          <a:p>
            <a:pPr>
              <a:lnSpc>
                <a:spcPct val="116000"/>
              </a:lnSpc>
              <a:spcAft>
                <a:spcPts val="500"/>
              </a:spcAft>
            </a:pPr>
            <a:r>
              <a:rPr sz="1050" b="1">
                <a:solidFill>
                  <a:srgbClr val="0E2830"/>
                </a:solidFill>
                <a:latin typeface="Outfit"/>
              </a:rPr>
              <a:t>Approved passenger fare</a:t>
            </a:r>
          </a:p>
          <a:p>
            <a:pPr>
              <a:lnSpc>
                <a:spcPct val="140000"/>
              </a:lnSpc>
              <a:spcAft>
                <a:spcPts val="0"/>
              </a:spcAft>
            </a:pPr>
            <a:r>
              <a:rPr sz="850" b="0">
                <a:solidFill>
                  <a:srgbClr val="33555F"/>
                </a:solidFill>
                <a:latin typeface="Plus Jakarta Sans"/>
              </a:rPr>
              <a:t>Fares are filed and approved. Selling outside an approved tariff is a compliance exposure.</a:t>
            </a:r>
          </a:p>
        </p:txBody>
      </p:sp>
      <p:sp>
        <p:nvSpPr>
          <p:cNvPr id="9" name="Rounded Rectangle 8"/>
          <p:cNvSpPr/>
          <p:nvPr/>
        </p:nvSpPr>
        <p:spPr>
          <a:xfrm>
            <a:off x="8024164" y="1975104"/>
            <a:ext cx="3381146" cy="1371600"/>
          </a:xfrm>
          <a:prstGeom prst="roundRect">
            <a:avLst>
              <a:gd name="adj" fmla="val 5500"/>
            </a:avLst>
          </a:prstGeom>
          <a:gradFill rotWithShape="1">
            <a:gsLst>
              <a:gs pos="0">
                <a:srgbClr val="FBF1D6"/>
              </a:gs>
              <a:gs pos="62000">
                <a:srgbClr val="FFFFFF"/>
              </a:gs>
            </a:gsLst>
            <a:lin scaled="0" ang="2700000"/>
          </a:gradFill>
          <a:ln w="12700">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43620" y="2157984"/>
            <a:ext cx="2942234" cy="1005840"/>
          </a:xfrm>
          <a:prstGeom prst="rect">
            <a:avLst/>
          </a:prstGeom>
          <a:noFill/>
        </p:spPr>
        <p:txBody>
          <a:bodyPr wrap="square" lIns="0" rIns="0" tIns="0" bIns="0">
            <a:spAutoFit/>
          </a:bodyPr>
          <a:lstStyle/>
          <a:p>
            <a:pPr>
              <a:lnSpc>
                <a:spcPct val="135000"/>
              </a:lnSpc>
              <a:spcAft>
                <a:spcPts val="500"/>
              </a:spcAft>
            </a:pPr>
            <a:r>
              <a:rPr sz="800" b="0" cap="all" spc="180">
                <a:solidFill>
                  <a:srgbClr val="8A6608"/>
                </a:solidFill>
                <a:latin typeface="IBM Plex Mono"/>
              </a:rPr>
              <a:t>Permission</a:t>
            </a:r>
          </a:p>
          <a:p>
            <a:pPr>
              <a:lnSpc>
                <a:spcPct val="116000"/>
              </a:lnSpc>
              <a:spcAft>
                <a:spcPts val="500"/>
              </a:spcAft>
            </a:pPr>
            <a:r>
              <a:rPr sz="1050" b="1">
                <a:solidFill>
                  <a:srgbClr val="0E2830"/>
                </a:solidFill>
                <a:latin typeface="Outfit"/>
              </a:rPr>
              <a:t>Approved cargo rate</a:t>
            </a:r>
          </a:p>
          <a:p>
            <a:pPr>
              <a:lnSpc>
                <a:spcPct val="140000"/>
              </a:lnSpc>
              <a:spcAft>
                <a:spcPts val="0"/>
              </a:spcAft>
            </a:pPr>
            <a:r>
              <a:rPr sz="850" b="0">
                <a:solidFill>
                  <a:srgbClr val="33555F"/>
                </a:solidFill>
                <a:latin typeface="Plus Jakarta Sans"/>
              </a:rPr>
              <a:t>Cargo rates need approval before space can be sold. Most often left until after the first booking.</a:t>
            </a:r>
          </a:p>
        </p:txBody>
      </p:sp>
      <p:sp>
        <p:nvSpPr>
          <p:cNvPr id="11" name="Rounded Rectangle 10"/>
          <p:cNvSpPr/>
          <p:nvPr/>
        </p:nvSpPr>
        <p:spPr>
          <a:xfrm>
            <a:off x="786384" y="3566160"/>
            <a:ext cx="3381146" cy="1371600"/>
          </a:xfrm>
          <a:prstGeom prst="roundRect">
            <a:avLst>
              <a:gd name="adj" fmla="val 5500"/>
            </a:avLst>
          </a:prstGeom>
          <a:gradFill rotWithShape="1">
            <a:gsLst>
              <a:gs pos="0">
                <a:srgbClr val="FBF1D6"/>
              </a:gs>
              <a:gs pos="62000">
                <a:srgbClr val="FFFFFF"/>
              </a:gs>
            </a:gsLst>
            <a:lin scaled="0" ang="2700000"/>
          </a:gradFill>
          <a:ln w="12700">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749040"/>
            <a:ext cx="2942234" cy="1005840"/>
          </a:xfrm>
          <a:prstGeom prst="rect">
            <a:avLst/>
          </a:prstGeom>
          <a:noFill/>
        </p:spPr>
        <p:txBody>
          <a:bodyPr wrap="square" lIns="0" rIns="0" tIns="0" bIns="0">
            <a:spAutoFit/>
          </a:bodyPr>
          <a:lstStyle/>
          <a:p>
            <a:pPr>
              <a:lnSpc>
                <a:spcPct val="135000"/>
              </a:lnSpc>
              <a:spcAft>
                <a:spcPts val="500"/>
              </a:spcAft>
            </a:pPr>
            <a:r>
              <a:rPr sz="800" b="0" cap="all" spc="180">
                <a:solidFill>
                  <a:srgbClr val="8A6608"/>
                </a:solidFill>
                <a:latin typeface="IBM Plex Mono"/>
              </a:rPr>
              <a:t>Permission</a:t>
            </a:r>
          </a:p>
          <a:p>
            <a:pPr>
              <a:lnSpc>
                <a:spcPct val="116000"/>
              </a:lnSpc>
              <a:spcAft>
                <a:spcPts val="500"/>
              </a:spcAft>
            </a:pPr>
            <a:r>
              <a:rPr sz="1050" b="1">
                <a:solidFill>
                  <a:srgbClr val="0E2830"/>
                </a:solidFill>
                <a:latin typeface="Outfit"/>
              </a:rPr>
              <a:t>Flight schedule</a:t>
            </a:r>
          </a:p>
          <a:p>
            <a:pPr>
              <a:lnSpc>
                <a:spcPct val="140000"/>
              </a:lnSpc>
              <a:spcAft>
                <a:spcPts val="0"/>
              </a:spcAft>
            </a:pPr>
            <a:r>
              <a:rPr sz="850" b="0">
                <a:solidFill>
                  <a:srgbClr val="33555F"/>
                </a:solidFill>
                <a:latin typeface="Plus Jakarta Sans"/>
              </a:rPr>
              <a:t>The timetable is approved in writing. Changes need advance notice, not retrospective filing.</a:t>
            </a:r>
          </a:p>
        </p:txBody>
      </p:sp>
      <p:sp>
        <p:nvSpPr>
          <p:cNvPr id="13" name="Rounded Rectangle 12"/>
          <p:cNvSpPr/>
          <p:nvPr/>
        </p:nvSpPr>
        <p:spPr>
          <a:xfrm>
            <a:off x="4405274" y="3566160"/>
            <a:ext cx="3381146" cy="1371600"/>
          </a:xfrm>
          <a:prstGeom prst="roundRect">
            <a:avLst>
              <a:gd name="adj" fmla="val 5500"/>
            </a:avLst>
          </a:prstGeom>
          <a:gradFill rotWithShape="1">
            <a:gsLst>
              <a:gs pos="0">
                <a:srgbClr val="FCE2F0"/>
              </a:gs>
              <a:gs pos="62000">
                <a:srgbClr val="FFFFFF"/>
              </a:gs>
            </a:gsLst>
            <a:lin scaled="0" ang="2700000"/>
          </a:gradFill>
          <a:ln w="12700">
            <a:solidFill>
              <a:srgbClr val="F49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24730" y="3749040"/>
            <a:ext cx="2942234" cy="1005840"/>
          </a:xfrm>
          <a:prstGeom prst="rect">
            <a:avLst/>
          </a:prstGeom>
          <a:noFill/>
        </p:spPr>
        <p:txBody>
          <a:bodyPr wrap="square" lIns="0" rIns="0" tIns="0" bIns="0">
            <a:spAutoFit/>
          </a:bodyPr>
          <a:lstStyle/>
          <a:p>
            <a:pPr>
              <a:lnSpc>
                <a:spcPct val="135000"/>
              </a:lnSpc>
              <a:spcAft>
                <a:spcPts val="500"/>
              </a:spcAft>
            </a:pPr>
            <a:r>
              <a:rPr sz="800" b="0" cap="all" spc="180">
                <a:solidFill>
                  <a:srgbClr val="C10073"/>
                </a:solidFill>
                <a:latin typeface="IBM Plex Mono"/>
              </a:rPr>
              <a:t>Permission</a:t>
            </a:r>
          </a:p>
          <a:p>
            <a:pPr>
              <a:lnSpc>
                <a:spcPct val="116000"/>
              </a:lnSpc>
              <a:spcAft>
                <a:spcPts val="500"/>
              </a:spcAft>
            </a:pPr>
            <a:r>
              <a:rPr sz="1050" b="1">
                <a:solidFill>
                  <a:srgbClr val="0E2830"/>
                </a:solidFill>
                <a:latin typeface="Outfit"/>
              </a:rPr>
              <a:t>GSA appointment</a:t>
            </a:r>
          </a:p>
          <a:p>
            <a:pPr>
              <a:lnSpc>
                <a:spcPct val="140000"/>
              </a:lnSpc>
              <a:spcAft>
                <a:spcPts val="0"/>
              </a:spcAft>
            </a:pPr>
            <a:r>
              <a:rPr sz="850" b="0">
                <a:solidFill>
                  <a:srgbClr val="33555F"/>
                </a:solidFill>
                <a:latin typeface="Plus Jakarta Sans"/>
              </a:rPr>
              <a:t>Flyport's appointment is filed, and a No Objection Certificate favouring the GSA is issued.</a:t>
            </a:r>
          </a:p>
        </p:txBody>
      </p:sp>
      <p:sp>
        <p:nvSpPr>
          <p:cNvPr id="15" name="Rounded Rectangle 14"/>
          <p:cNvSpPr/>
          <p:nvPr/>
        </p:nvSpPr>
        <p:spPr>
          <a:xfrm>
            <a:off x="8024164" y="3566160"/>
            <a:ext cx="3381146" cy="1371600"/>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3620" y="3749040"/>
            <a:ext cx="2942234" cy="1005840"/>
          </a:xfrm>
          <a:prstGeom prst="rect">
            <a:avLst/>
          </a:prstGeom>
          <a:noFill/>
        </p:spPr>
        <p:txBody>
          <a:bodyPr wrap="square" lIns="0" rIns="0" tIns="0" bIns="0">
            <a:spAutoFit/>
          </a:bodyPr>
          <a:lstStyle/>
          <a:p>
            <a:pPr>
              <a:lnSpc>
                <a:spcPct val="135000"/>
              </a:lnSpc>
              <a:spcAft>
                <a:spcPts val="500"/>
              </a:spcAft>
            </a:pPr>
            <a:r>
              <a:rPr sz="800" b="0" cap="all" spc="180">
                <a:solidFill>
                  <a:srgbClr val="0C7A80"/>
                </a:solidFill>
                <a:latin typeface="IBM Plex Mono"/>
              </a:rPr>
              <a:t>Ongoing</a:t>
            </a:r>
          </a:p>
          <a:p>
            <a:pPr>
              <a:lnSpc>
                <a:spcPct val="116000"/>
              </a:lnSpc>
              <a:spcAft>
                <a:spcPts val="500"/>
              </a:spcAft>
            </a:pPr>
            <a:r>
              <a:rPr sz="1050" b="1">
                <a:solidFill>
                  <a:srgbClr val="0E2830"/>
                </a:solidFill>
                <a:latin typeface="Outfit"/>
              </a:rPr>
              <a:t>Monthly traffic reporting</a:t>
            </a:r>
          </a:p>
          <a:p>
            <a:pPr>
              <a:lnSpc>
                <a:spcPct val="140000"/>
              </a:lnSpc>
              <a:spcAft>
                <a:spcPts val="0"/>
              </a:spcAft>
            </a:pPr>
            <a:r>
              <a:rPr sz="850" b="0">
                <a:solidFill>
                  <a:srgbClr val="33555F"/>
                </a:solidFill>
                <a:latin typeface="Plus Jakarta Sans"/>
              </a:rPr>
              <a:t>Traffic, cargo and mail statistics on a monthly cycle. A permanent obligation, not a launch task.</a:t>
            </a:r>
          </a:p>
        </p:txBody>
      </p:sp>
      <p:sp>
        <p:nvSpPr>
          <p:cNvPr id="17" name="Rounded Rectangle 16"/>
          <p:cNvSpPr/>
          <p:nvPr/>
        </p:nvSpPr>
        <p:spPr>
          <a:xfrm>
            <a:off x="786384" y="5047488"/>
            <a:ext cx="5257800" cy="1207008"/>
          </a:xfrm>
          <a:prstGeom prst="roundRect">
            <a:avLst>
              <a:gd name="adj" fmla="val 5500"/>
            </a:avLst>
          </a:prstGeom>
          <a:gradFill rotWithShape="1">
            <a:gsLst>
              <a:gs pos="0">
                <a:srgbClr val="FFFFFF"/>
              </a:gs>
              <a:gs pos="62000">
                <a:srgbClr val="FFFFFF"/>
              </a:gs>
            </a:gsLst>
            <a:lin scaled="0" ang="2700000"/>
          </a:gradFill>
          <a:ln w="12700">
            <a:solidFill>
              <a:srgbClr val="DCE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230368"/>
            <a:ext cx="4818888" cy="841248"/>
          </a:xfrm>
          <a:prstGeom prst="rect">
            <a:avLst/>
          </a:prstGeom>
          <a:noFill/>
        </p:spPr>
        <p:txBody>
          <a:bodyPr wrap="square" lIns="0" rIns="0" tIns="0" bIns="0">
            <a:spAutoFit/>
          </a:bodyPr>
          <a:lstStyle/>
          <a:p>
            <a:pPr>
              <a:lnSpc>
                <a:spcPct val="135000"/>
              </a:lnSpc>
              <a:spcAft>
                <a:spcPts val="500"/>
              </a:spcAft>
            </a:pPr>
            <a:r>
              <a:rPr sz="800" b="0" cap="all" spc="180">
                <a:solidFill>
                  <a:srgbClr val="52737D"/>
                </a:solidFill>
                <a:latin typeface="IBM Plex Mono"/>
              </a:rPr>
              <a:t>Also on the annual file</a:t>
            </a:r>
          </a:p>
          <a:p>
            <a:pPr>
              <a:lnSpc>
                <a:spcPct val="116000"/>
              </a:lnSpc>
              <a:spcAft>
                <a:spcPts val="500"/>
              </a:spcAft>
            </a:pPr>
            <a:r>
              <a:rPr sz="1050" b="1">
                <a:solidFill>
                  <a:srgbClr val="0E2830"/>
                </a:solidFill>
                <a:latin typeface="Outfit"/>
              </a:rPr>
              <a:t>City and airport office leases, cargo village lease</a:t>
            </a:r>
          </a:p>
          <a:p>
            <a:pPr>
              <a:lnSpc>
                <a:spcPct val="140000"/>
              </a:lnSpc>
              <a:spcAft>
                <a:spcPts val="0"/>
              </a:spcAft>
            </a:pPr>
            <a:r>
              <a:rPr sz="850" b="0">
                <a:solidFill>
                  <a:srgbClr val="33555F"/>
                </a:solidFill>
                <a:latin typeface="Plus Jakarta Sans"/>
              </a:rPr>
              <a:t>Plus agreements with CAAB and Biman Bangladesh for fuel uplift, catering and ground handling, and a dangerous goods competency certificate where required.</a:t>
            </a:r>
          </a:p>
        </p:txBody>
      </p:sp>
      <p:sp>
        <p:nvSpPr>
          <p:cNvPr id="19" name="Rounded Rectangle 18"/>
          <p:cNvSpPr/>
          <p:nvPr/>
        </p:nvSpPr>
        <p:spPr>
          <a:xfrm>
            <a:off x="6281928" y="5047488"/>
            <a:ext cx="5257800" cy="1207008"/>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01384" y="5230368"/>
            <a:ext cx="4818888" cy="841248"/>
          </a:xfrm>
          <a:prstGeom prst="rect">
            <a:avLst/>
          </a:prstGeom>
          <a:noFill/>
        </p:spPr>
        <p:txBody>
          <a:bodyPr wrap="square" lIns="0" rIns="0" tIns="0" bIns="0">
            <a:spAutoFit/>
          </a:bodyPr>
          <a:lstStyle/>
          <a:p>
            <a:pPr>
              <a:lnSpc>
                <a:spcPct val="135000"/>
              </a:lnSpc>
              <a:spcAft>
                <a:spcPts val="500"/>
              </a:spcAft>
            </a:pPr>
            <a:r>
              <a:rPr sz="800" b="0" cap="all" spc="180">
                <a:solidFill>
                  <a:srgbClr val="0C7A80"/>
                </a:solidFill>
                <a:latin typeface="IBM Plex Mono"/>
              </a:rPr>
              <a:t>Why this sits in a finance briefing</a:t>
            </a:r>
          </a:p>
          <a:p>
            <a:pPr>
              <a:lnSpc>
                <a:spcPct val="116000"/>
              </a:lnSpc>
              <a:spcAft>
                <a:spcPts val="500"/>
              </a:spcAft>
            </a:pPr>
            <a:r>
              <a:rPr sz="1050" b="1">
                <a:solidFill>
                  <a:srgbClr val="0E2830"/>
                </a:solidFill>
                <a:latin typeface="Outfit"/>
              </a:rPr>
              <a:t>Every one is also a remittance document</a:t>
            </a:r>
          </a:p>
          <a:p>
            <a:pPr>
              <a:lnSpc>
                <a:spcPct val="140000"/>
              </a:lnSpc>
              <a:spcAft>
                <a:spcPts val="0"/>
              </a:spcAft>
            </a:pPr>
            <a:r>
              <a:rPr sz="850" b="0">
                <a:solidFill>
                  <a:srgbClr val="33555F"/>
                </a:solidFill>
                <a:latin typeface="Plus Jakarta Sans"/>
              </a:rPr>
              <a:t>The leases, the ground handling agreement and the GSA No Objection Certificate all reappear in the annual set supporting outward remittance. A lapsed operations document stops the money.</a:t>
            </a:r>
          </a:p>
        </p:txBody>
      </p:sp>
      <p:sp>
        <p:nvSpPr>
          <p:cNvPr id="21" name="TextBox 20"/>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566928"/>
            <a:ext cx="10618927" cy="274320"/>
          </a:xfrm>
          <a:prstGeom prst="rect">
            <a:avLst/>
          </a:prstGeom>
          <a:noFill/>
        </p:spPr>
        <p:txBody>
          <a:bodyPr wrap="square" lIns="0" rIns="0" tIns="0" bIns="0">
            <a:spAutoFit/>
          </a:bodyPr>
          <a:lstStyle/>
          <a:p>
            <a:pPr>
              <a:lnSpc>
                <a:spcPct val="135000"/>
              </a:lnSpc>
              <a:spcAft>
                <a:spcPts val="0"/>
              </a:spcAft>
            </a:pPr>
            <a:r>
              <a:rPr sz="1000" b="0" cap="all" spc="240">
                <a:solidFill>
                  <a:srgbClr val="0C7A80"/>
                </a:solidFill>
                <a:latin typeface="IBM Plex Mono"/>
              </a:rPr>
              <a:t>03  .  NBR  /  Double taxation relief</a:t>
            </a:r>
          </a:p>
        </p:txBody>
      </p:sp>
      <p:sp>
        <p:nvSpPr>
          <p:cNvPr id="4" name="TextBox 3"/>
          <p:cNvSpPr txBox="1"/>
          <p:nvPr/>
        </p:nvSpPr>
        <p:spPr>
          <a:xfrm>
            <a:off x="786384" y="932688"/>
            <a:ext cx="10618927" cy="1371600"/>
          </a:xfrm>
          <a:prstGeom prst="rect">
            <a:avLst/>
          </a:prstGeom>
          <a:noFill/>
        </p:spPr>
        <p:txBody>
          <a:bodyPr wrap="square" lIns="0" rIns="0" tIns="0" bIns="0">
            <a:spAutoFit/>
          </a:bodyPr>
          <a:lstStyle/>
          <a:p>
            <a:pPr>
              <a:lnSpc>
                <a:spcPct val="108000"/>
              </a:lnSpc>
              <a:spcAft>
                <a:spcPts val="0"/>
              </a:spcAft>
            </a:pPr>
            <a:r>
              <a:rPr sz="2900" b="1">
                <a:solidFill>
                  <a:srgbClr val="0E2830"/>
                </a:solidFill>
                <a:latin typeface="Outfit"/>
              </a:rPr>
              <a:t>Treaty relief only exists once it is a certificate the bank can hold.</a:t>
            </a:r>
          </a:p>
        </p:txBody>
      </p:sp>
      <p:sp>
        <p:nvSpPr>
          <p:cNvPr id="5" name="Rounded Rectangle 4"/>
          <p:cNvSpPr/>
          <p:nvPr/>
        </p:nvSpPr>
        <p:spPr>
          <a:xfrm>
            <a:off x="786384" y="2029968"/>
            <a:ext cx="5257800" cy="1874519"/>
          </a:xfrm>
          <a:prstGeom prst="roundRect">
            <a:avLst>
              <a:gd name="adj" fmla="val 5500"/>
            </a:avLst>
          </a:prstGeom>
          <a:gradFill rotWithShape="1">
            <a:gsLst>
              <a:gs pos="0">
                <a:srgbClr val="FBF1D6"/>
              </a:gs>
              <a:gs pos="62000">
                <a:srgbClr val="FFFFFF"/>
              </a:gs>
            </a:gsLst>
            <a:lin scaled="0" ang="2700000"/>
          </a:gradFill>
          <a:ln w="12700">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212848"/>
            <a:ext cx="4818888" cy="1508760"/>
          </a:xfrm>
          <a:prstGeom prst="rect">
            <a:avLst/>
          </a:prstGeom>
          <a:noFill/>
        </p:spPr>
        <p:txBody>
          <a:bodyPr wrap="square" lIns="0" rIns="0" tIns="0" bIns="0">
            <a:spAutoFit/>
          </a:bodyPr>
          <a:lstStyle/>
          <a:p>
            <a:pPr>
              <a:lnSpc>
                <a:spcPct val="135000"/>
              </a:lnSpc>
              <a:spcAft>
                <a:spcPts val="500"/>
              </a:spcAft>
            </a:pPr>
            <a:r>
              <a:rPr sz="800" b="0" cap="all" spc="180">
                <a:solidFill>
                  <a:srgbClr val="8A6608"/>
                </a:solidFill>
                <a:latin typeface="IBM Plex Mono"/>
              </a:rPr>
              <a:t>The instrument</a:t>
            </a:r>
          </a:p>
          <a:p>
            <a:pPr>
              <a:lnSpc>
                <a:spcPct val="116000"/>
              </a:lnSpc>
              <a:spcAft>
                <a:spcPts val="500"/>
              </a:spcAft>
            </a:pPr>
            <a:r>
              <a:rPr sz="1200" b="1">
                <a:solidFill>
                  <a:srgbClr val="0E2830"/>
                </a:solidFill>
                <a:latin typeface="Outfit"/>
              </a:rPr>
              <a:t>Bangladesh and Vietnam double taxation agreement</a:t>
            </a:r>
          </a:p>
          <a:p>
            <a:pPr>
              <a:lnSpc>
                <a:spcPct val="140000"/>
              </a:lnSpc>
              <a:spcAft>
                <a:spcPts val="0"/>
              </a:spcAft>
            </a:pPr>
            <a:r>
              <a:rPr sz="900" b="0">
                <a:solidFill>
                  <a:srgbClr val="33555F"/>
                </a:solidFill>
                <a:latin typeface="Plus Jakarta Sans"/>
              </a:rPr>
              <a:t>Bangladesh domestic law is now the Income Tax Act 2023, which succeeded the Income Tax Ordinance 1984, and the treaty operates alongside it.</a:t>
            </a:r>
            <a:br/>
            <a:br/>
            <a:r>
              <a:rPr sz="900" b="0">
                <a:solidFill>
                  <a:srgbClr val="33555F"/>
                </a:solidFill>
                <a:latin typeface="Plus Jakarta Sans"/>
              </a:rPr>
              <a:t>Under the shipping and air transport article, profits from operating aircraft in international traffic are taxable in the enterprise's home state. Vietnam Airlines' core carriage income is not taxed a second time in Bangladesh.</a:t>
            </a:r>
          </a:p>
        </p:txBody>
      </p:sp>
      <p:sp>
        <p:nvSpPr>
          <p:cNvPr id="7" name="Oval 6"/>
          <p:cNvSpPr/>
          <p:nvPr/>
        </p:nvSpPr>
        <p:spPr>
          <a:xfrm>
            <a:off x="786384" y="4165092"/>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4096512"/>
            <a:ext cx="5102352" cy="822960"/>
          </a:xfrm>
          <a:prstGeom prst="rect">
            <a:avLst/>
          </a:prstGeom>
          <a:noFill/>
        </p:spPr>
        <p:txBody>
          <a:bodyPr wrap="square" lIns="0" rIns="0" tIns="0" bIns="0">
            <a:spAutoFit/>
          </a:bodyPr>
          <a:lstStyle/>
          <a:p>
            <a:pPr>
              <a:lnSpc>
                <a:spcPct val="140000"/>
              </a:lnSpc>
              <a:spcAft>
                <a:spcPts val="0"/>
              </a:spcAft>
            </a:pPr>
            <a:r>
              <a:rPr sz="950" b="0">
                <a:solidFill>
                  <a:srgbClr val="33555F"/>
                </a:solidFill>
                <a:latin typeface="Plus Jakarta Sans"/>
              </a:rPr>
              <a:t>Obtain or renew a Tax Residency Certificate from the Vietnamese tax authority for the relevant fiscal year.</a:t>
            </a:r>
          </a:p>
        </p:txBody>
      </p:sp>
      <p:sp>
        <p:nvSpPr>
          <p:cNvPr id="9" name="Oval 8"/>
          <p:cNvSpPr/>
          <p:nvPr/>
        </p:nvSpPr>
        <p:spPr>
          <a:xfrm>
            <a:off x="786384" y="4604512"/>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4535932"/>
            <a:ext cx="5102352" cy="822960"/>
          </a:xfrm>
          <a:prstGeom prst="rect">
            <a:avLst/>
          </a:prstGeom>
          <a:noFill/>
        </p:spPr>
        <p:txBody>
          <a:bodyPr wrap="square" lIns="0" rIns="0" tIns="0" bIns="0">
            <a:spAutoFit/>
          </a:bodyPr>
          <a:lstStyle/>
          <a:p>
            <a:pPr>
              <a:lnSpc>
                <a:spcPct val="140000"/>
              </a:lnSpc>
              <a:spcAft>
                <a:spcPts val="0"/>
              </a:spcAft>
            </a:pPr>
            <a:r>
              <a:rPr sz="950" b="0">
                <a:solidFill>
                  <a:srgbClr val="33555F"/>
                </a:solidFill>
                <a:latin typeface="Plus Jakarta Sans"/>
              </a:rPr>
              <a:t>File it with NBR with a declaration of no permanent establishment in Bangladesh.</a:t>
            </a:r>
          </a:p>
        </p:txBody>
      </p:sp>
      <p:sp>
        <p:nvSpPr>
          <p:cNvPr id="11" name="Oval 10"/>
          <p:cNvSpPr/>
          <p:nvPr/>
        </p:nvSpPr>
        <p:spPr>
          <a:xfrm>
            <a:off x="786384" y="4875022"/>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4806442"/>
            <a:ext cx="5102352" cy="822960"/>
          </a:xfrm>
          <a:prstGeom prst="rect">
            <a:avLst/>
          </a:prstGeom>
          <a:noFill/>
        </p:spPr>
        <p:txBody>
          <a:bodyPr wrap="square" lIns="0" rIns="0" tIns="0" bIns="0">
            <a:spAutoFit/>
          </a:bodyPr>
          <a:lstStyle/>
          <a:p>
            <a:pPr>
              <a:lnSpc>
                <a:spcPct val="140000"/>
              </a:lnSpc>
              <a:spcAft>
                <a:spcPts val="0"/>
              </a:spcAft>
            </a:pPr>
            <a:r>
              <a:rPr sz="950" b="0">
                <a:solidFill>
                  <a:srgbClr val="33555F"/>
                </a:solidFill>
                <a:latin typeface="Plus Jakarta Sans"/>
              </a:rPr>
              <a:t>NBR issues the exemption or reduced withholding certificate.</a:t>
            </a:r>
          </a:p>
        </p:txBody>
      </p:sp>
      <p:sp>
        <p:nvSpPr>
          <p:cNvPr id="13" name="Oval 12"/>
          <p:cNvSpPr/>
          <p:nvPr/>
        </p:nvSpPr>
        <p:spPr>
          <a:xfrm>
            <a:off x="786384" y="5145532"/>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5076952"/>
            <a:ext cx="5102352" cy="822960"/>
          </a:xfrm>
          <a:prstGeom prst="rect">
            <a:avLst/>
          </a:prstGeom>
          <a:noFill/>
        </p:spPr>
        <p:txBody>
          <a:bodyPr wrap="square" lIns="0" rIns="0" tIns="0" bIns="0">
            <a:spAutoFit/>
          </a:bodyPr>
          <a:lstStyle/>
          <a:p>
            <a:pPr>
              <a:lnSpc>
                <a:spcPct val="140000"/>
              </a:lnSpc>
              <a:spcAft>
                <a:spcPts val="0"/>
              </a:spcAft>
            </a:pPr>
            <a:r>
              <a:rPr sz="950" b="0">
                <a:solidFill>
                  <a:srgbClr val="33555F"/>
                </a:solidFill>
                <a:latin typeface="Plus Jakarta Sans"/>
              </a:rPr>
              <a:t>The AD bank requires a valid, unexpired certificate before applying treaty terms to any remittance.</a:t>
            </a:r>
          </a:p>
        </p:txBody>
      </p:sp>
      <p:sp>
        <p:nvSpPr>
          <p:cNvPr id="15" name="Rounded Rectangle 14"/>
          <p:cNvSpPr/>
          <p:nvPr/>
        </p:nvSpPr>
        <p:spPr>
          <a:xfrm>
            <a:off x="6446520" y="2029968"/>
            <a:ext cx="4937760" cy="1481328"/>
          </a:xfrm>
          <a:prstGeom prst="roundRect">
            <a:avLst>
              <a:gd name="adj" fmla="val 5500"/>
            </a:avLst>
          </a:prstGeom>
          <a:gradFill rotWithShape="1">
            <a:gsLst>
              <a:gs pos="0">
                <a:srgbClr val="FBE7E2"/>
              </a:gs>
              <a:gs pos="62000">
                <a:srgbClr val="FFFFFF"/>
              </a:gs>
            </a:gsLst>
            <a:lin scaled="0" ang="2700000"/>
          </a:gradFill>
          <a:ln w="12700">
            <a:solidFill>
              <a:srgbClr val="E3A7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65976" y="2212848"/>
            <a:ext cx="4498848" cy="1115568"/>
          </a:xfrm>
          <a:prstGeom prst="rect">
            <a:avLst/>
          </a:prstGeom>
          <a:noFill/>
        </p:spPr>
        <p:txBody>
          <a:bodyPr wrap="square" lIns="0" rIns="0" tIns="0" bIns="0">
            <a:spAutoFit/>
          </a:bodyPr>
          <a:lstStyle/>
          <a:p>
            <a:pPr>
              <a:lnSpc>
                <a:spcPct val="135000"/>
              </a:lnSpc>
              <a:spcAft>
                <a:spcPts val="500"/>
              </a:spcAft>
            </a:pPr>
            <a:r>
              <a:rPr sz="800" b="0" cap="all" spc="180">
                <a:solidFill>
                  <a:srgbClr val="C0442B"/>
                </a:solidFill>
                <a:latin typeface="IBM Plex Mono"/>
              </a:rPr>
              <a:t>The failure mode</a:t>
            </a:r>
          </a:p>
          <a:p>
            <a:pPr>
              <a:lnSpc>
                <a:spcPct val="116000"/>
              </a:lnSpc>
              <a:spcAft>
                <a:spcPts val="500"/>
              </a:spcAft>
            </a:pPr>
            <a:r>
              <a:rPr sz="1100" b="1">
                <a:solidFill>
                  <a:srgbClr val="0E2830"/>
                </a:solidFill>
                <a:latin typeface="Outfit"/>
              </a:rPr>
              <a:t>An expired certificate stops a clean remittance</a:t>
            </a:r>
          </a:p>
          <a:p>
            <a:pPr>
              <a:lnSpc>
                <a:spcPct val="140000"/>
              </a:lnSpc>
              <a:spcAft>
                <a:spcPts val="0"/>
              </a:spcAft>
            </a:pPr>
            <a:r>
              <a:rPr sz="850" b="0">
                <a:solidFill>
                  <a:srgbClr val="33555F"/>
                </a:solidFill>
                <a:latin typeface="Plus Jakarta Sans"/>
              </a:rPr>
              <a:t>The certificate renews annually. If it lapses mid year the bank must apply full domestic withholding to a treaty exempt remittance, and recovery is slow. Flyport tracks expiry as a calendar date, not an inbox reminder.</a:t>
            </a:r>
          </a:p>
        </p:txBody>
      </p:sp>
      <p:sp>
        <p:nvSpPr>
          <p:cNvPr id="17" name="Rounded Rectangle 16"/>
          <p:cNvSpPr/>
          <p:nvPr/>
        </p:nvSpPr>
        <p:spPr>
          <a:xfrm>
            <a:off x="6446520" y="3675887"/>
            <a:ext cx="4937760" cy="1874519"/>
          </a:xfrm>
          <a:prstGeom prst="roundRect">
            <a:avLst>
              <a:gd name="adj" fmla="val 5500"/>
            </a:avLst>
          </a:prstGeom>
          <a:gradFill rotWithShape="1">
            <a:gsLst>
              <a:gs pos="0">
                <a:srgbClr val="FFFFFF"/>
              </a:gs>
              <a:gs pos="62000">
                <a:srgbClr val="FFFFFF"/>
              </a:gs>
            </a:gsLst>
            <a:lin scaled="0" ang="2700000"/>
          </a:gradFill>
          <a:ln w="12700">
            <a:solidFill>
              <a:srgbClr val="DCE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65976" y="3858768"/>
            <a:ext cx="4498848" cy="1508760"/>
          </a:xfrm>
          <a:prstGeom prst="rect">
            <a:avLst/>
          </a:prstGeom>
          <a:noFill/>
        </p:spPr>
        <p:txBody>
          <a:bodyPr wrap="square" lIns="0" rIns="0" tIns="0" bIns="0">
            <a:spAutoFit/>
          </a:bodyPr>
          <a:lstStyle/>
          <a:p>
            <a:pPr>
              <a:lnSpc>
                <a:spcPct val="135000"/>
              </a:lnSpc>
              <a:spcAft>
                <a:spcPts val="500"/>
              </a:spcAft>
            </a:pPr>
            <a:r>
              <a:rPr sz="800" b="0" cap="all" spc="180">
                <a:solidFill>
                  <a:srgbClr val="52737D"/>
                </a:solidFill>
                <a:latin typeface="IBM Plex Mono"/>
              </a:rPr>
              <a:t>Also on the tax file</a:t>
            </a:r>
          </a:p>
          <a:p>
            <a:pPr>
              <a:lnSpc>
                <a:spcPct val="116000"/>
              </a:lnSpc>
              <a:spcAft>
                <a:spcPts val="500"/>
              </a:spcAft>
            </a:pPr>
            <a:r>
              <a:rPr sz="1100" b="1">
                <a:solidFill>
                  <a:srgbClr val="0E2830"/>
                </a:solidFill>
                <a:latin typeface="Outfit"/>
              </a:rPr>
              <a:t>What the bank will ask to see</a:t>
            </a:r>
          </a:p>
          <a:p>
            <a:pPr>
              <a:lnSpc>
                <a:spcPct val="140000"/>
              </a:lnSpc>
              <a:spcAft>
                <a:spcPts val="0"/>
              </a:spcAft>
            </a:pPr>
            <a:r>
              <a:rPr sz="850" b="0">
                <a:solidFill>
                  <a:srgbClr val="33555F"/>
                </a:solidFill>
                <a:latin typeface="Plus Jakarta Sans"/>
              </a:rPr>
              <a:t>Valid NBR tax exemption certificate.  Updated VAT registration, trade licence and tax certificate.  Advance income tax and refund statements, monthly.  Challans for VAT and tax actually paid.  Payment summaries for embarkation fee, airport charges and passenger development fee.</a:t>
            </a:r>
          </a:p>
        </p:txBody>
      </p:sp>
      <p:sp>
        <p:nvSpPr>
          <p:cNvPr id="19" name="Rectangle 18"/>
          <p:cNvSpPr/>
          <p:nvPr/>
        </p:nvSpPr>
        <p:spPr>
          <a:xfrm>
            <a:off x="786384" y="6016752"/>
            <a:ext cx="10618927" cy="9525"/>
          </a:xfrm>
          <a:prstGeom prst="rect">
            <a:avLst/>
          </a:prstGeom>
          <a:solidFill>
            <a:srgbClr val="DCE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6384" y="6144768"/>
            <a:ext cx="10618927" cy="640080"/>
          </a:xfrm>
          <a:prstGeom prst="rect">
            <a:avLst/>
          </a:prstGeom>
          <a:noFill/>
        </p:spPr>
        <p:txBody>
          <a:bodyPr wrap="square" lIns="0" rIns="0" tIns="0" bIns="0">
            <a:spAutoFit/>
          </a:bodyPr>
          <a:lstStyle/>
          <a:p>
            <a:pPr>
              <a:lnSpc>
                <a:spcPct val="150000"/>
              </a:lnSpc>
              <a:spcAft>
                <a:spcPts val="0"/>
              </a:spcAft>
            </a:pPr>
            <a:r>
              <a:rPr sz="800" b="0">
                <a:solidFill>
                  <a:srgbClr val="52737D"/>
                </a:solidFill>
                <a:latin typeface="IBM Plex Mono"/>
              </a:rPr>
              <a:t>Treaty article numbering and rates should be confirmed against the operative text of the Bangladesh and Vietnam agreement before being relied on in a filing. This page states the mechanism, not the assessment.</a:t>
            </a:r>
          </a:p>
        </p:txBody>
      </p:sp>
      <p:sp>
        <p:nvSpPr>
          <p:cNvPr id="21" name="TextBox 20"/>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566928"/>
            <a:ext cx="10618927" cy="274320"/>
          </a:xfrm>
          <a:prstGeom prst="rect">
            <a:avLst/>
          </a:prstGeom>
          <a:noFill/>
        </p:spPr>
        <p:txBody>
          <a:bodyPr wrap="square" lIns="0" rIns="0" tIns="0" bIns="0">
            <a:spAutoFit/>
          </a:bodyPr>
          <a:lstStyle/>
          <a:p>
            <a:pPr>
              <a:lnSpc>
                <a:spcPct val="135000"/>
              </a:lnSpc>
              <a:spcAft>
                <a:spcPts val="0"/>
              </a:spcAft>
            </a:pPr>
            <a:r>
              <a:rPr sz="1000" b="0" cap="all" spc="240">
                <a:solidFill>
                  <a:srgbClr val="0C7A80"/>
                </a:solidFill>
                <a:latin typeface="IBM Plex Mono"/>
              </a:rPr>
              <a:t>04  .  Bangladesh Bank  /  The legal spine</a:t>
            </a:r>
          </a:p>
        </p:txBody>
      </p:sp>
      <p:sp>
        <p:nvSpPr>
          <p:cNvPr id="4" name="TextBox 3"/>
          <p:cNvSpPr txBox="1"/>
          <p:nvPr/>
        </p:nvSpPr>
        <p:spPr>
          <a:xfrm>
            <a:off x="786384" y="932688"/>
            <a:ext cx="10618927" cy="1371600"/>
          </a:xfrm>
          <a:prstGeom prst="rect">
            <a:avLst/>
          </a:prstGeom>
          <a:noFill/>
        </p:spPr>
        <p:txBody>
          <a:bodyPr wrap="square" lIns="0" rIns="0" tIns="0" bIns="0">
            <a:spAutoFit/>
          </a:bodyPr>
          <a:lstStyle/>
          <a:p>
            <a:pPr>
              <a:lnSpc>
                <a:spcPct val="108000"/>
              </a:lnSpc>
              <a:spcAft>
                <a:spcPts val="0"/>
              </a:spcAft>
            </a:pPr>
            <a:r>
              <a:rPr sz="2500" b="1">
                <a:solidFill>
                  <a:srgbClr val="0E2830"/>
                </a:solidFill>
                <a:latin typeface="Outfit"/>
              </a:rPr>
              <a:t>Four circulars from the Foreign Exchange Operation Department. Between them, the entire remittance regime.</a:t>
            </a:r>
          </a:p>
        </p:txBody>
      </p:sp>
      <p:sp>
        <p:nvSpPr>
          <p:cNvPr id="5" name="TextBox 4"/>
          <p:cNvSpPr txBox="1"/>
          <p:nvPr/>
        </p:nvSpPr>
        <p:spPr>
          <a:xfrm>
            <a:off x="786384" y="1975104"/>
            <a:ext cx="10515600" cy="914400"/>
          </a:xfrm>
          <a:prstGeom prst="rect">
            <a:avLst/>
          </a:prstGeom>
          <a:noFill/>
        </p:spPr>
        <p:txBody>
          <a:bodyPr wrap="square" lIns="0" rIns="0" tIns="0" bIns="0">
            <a:spAutoFit/>
          </a:bodyPr>
          <a:lstStyle/>
          <a:p>
            <a:pPr>
              <a:lnSpc>
                <a:spcPct val="142000"/>
              </a:lnSpc>
              <a:spcAft>
                <a:spcPts val="0"/>
              </a:spcAft>
            </a:pPr>
            <a:r>
              <a:rPr sz="1100" b="0">
                <a:solidFill>
                  <a:srgbClr val="33555F"/>
                </a:solidFill>
                <a:latin typeface="Plus Jakarta Sans"/>
              </a:rPr>
              <a:t>All four sit on top of Chapter 10 of the Guidelines for Foreign Exchange Transactions 2018. Read them in issue order and the current process explains itself.</a:t>
            </a:r>
          </a:p>
        </p:txBody>
      </p:sp>
      <p:graphicFrame>
        <p:nvGraphicFramePr>
          <p:cNvPr id="6" name="Table 5"/>
          <p:cNvGraphicFramePr>
            <a:graphicFrameLocks noGrp="1"/>
          </p:cNvGraphicFramePr>
          <p:nvPr/>
        </p:nvGraphicFramePr>
        <p:xfrm>
          <a:off x="786384" y="2432304"/>
          <a:ext cx="10616184" cy="3291839"/>
        </p:xfrm>
        <a:graphic>
          <a:graphicData uri="http://schemas.openxmlformats.org/drawingml/2006/table">
            <a:tbl>
              <a:tblPr bandRow="0" firstRow="0">
                <a:tableStyleId>{5C22544A-7EE6-4342-B048-85BDC9FD1C3A}</a:tableStyleId>
              </a:tblPr>
              <a:tblGrid>
                <a:gridCol w="1051560"/>
                <a:gridCol w="960120"/>
                <a:gridCol w="4297680"/>
                <a:gridCol w="4306824"/>
              </a:tblGrid>
              <a:tr h="658367">
                <a:tc>
                  <a:txBody>
                    <a:bodyPr/>
                    <a:lstStyle/>
                    <a:p>
                      <a:pPr>
                        <a:lnSpc>
                          <a:spcPct val="120000"/>
                        </a:lnSpc>
                        <a:spcAft>
                          <a:spcPts val="0"/>
                        </a:spcAft>
                      </a:pPr>
                      <a:r>
                        <a:rPr sz="750" b="0" cap="all" spc="140">
                          <a:solidFill>
                            <a:srgbClr val="8AA6AE"/>
                          </a:solidFill>
                          <a:latin typeface="IBM Plex Mono"/>
                        </a:rPr>
                        <a:t>Circular</a:t>
                      </a:r>
                    </a:p>
                  </a:txBody>
                  <a:tcPr marL="54864" marR="54864" marT="36576" marB="36576" anchor="b">
                    <a:solidFill>
                      <a:srgbClr val="FBFDFE"/>
                    </a:solidFill>
                  </a:tcPr>
                </a:tc>
                <a:tc>
                  <a:txBody>
                    <a:bodyPr/>
                    <a:lstStyle/>
                    <a:p>
                      <a:pPr>
                        <a:lnSpc>
                          <a:spcPct val="120000"/>
                        </a:lnSpc>
                        <a:spcAft>
                          <a:spcPts val="0"/>
                        </a:spcAft>
                      </a:pPr>
                      <a:r>
                        <a:rPr sz="750" b="0" cap="all" spc="140">
                          <a:solidFill>
                            <a:srgbClr val="8AA6AE"/>
                          </a:solidFill>
                          <a:latin typeface="IBM Plex Mono"/>
                        </a:rPr>
                        <a:t>Date</a:t>
                      </a:r>
                    </a:p>
                  </a:txBody>
                  <a:tcPr marL="54864" marR="54864" marT="36576" marB="36576" anchor="b">
                    <a:solidFill>
                      <a:srgbClr val="FBFDFE"/>
                    </a:solidFill>
                  </a:tcPr>
                </a:tc>
                <a:tc>
                  <a:txBody>
                    <a:bodyPr/>
                    <a:lstStyle/>
                    <a:p>
                      <a:pPr>
                        <a:lnSpc>
                          <a:spcPct val="120000"/>
                        </a:lnSpc>
                        <a:spcAft>
                          <a:spcPts val="0"/>
                        </a:spcAft>
                      </a:pPr>
                      <a:r>
                        <a:rPr sz="750" b="0" cap="all" spc="140">
                          <a:solidFill>
                            <a:srgbClr val="8AA6AE"/>
                          </a:solidFill>
                          <a:latin typeface="IBM Plex Mono"/>
                        </a:rPr>
                        <a:t>What it changed</a:t>
                      </a:r>
                    </a:p>
                  </a:txBody>
                  <a:tcPr marL="54864" marR="54864" marT="36576" marB="36576" anchor="b">
                    <a:solidFill>
                      <a:srgbClr val="FBFDFE"/>
                    </a:solidFill>
                  </a:tcPr>
                </a:tc>
                <a:tc>
                  <a:txBody>
                    <a:bodyPr/>
                    <a:lstStyle/>
                    <a:p>
                      <a:pPr>
                        <a:lnSpc>
                          <a:spcPct val="120000"/>
                        </a:lnSpc>
                        <a:spcAft>
                          <a:spcPts val="0"/>
                        </a:spcAft>
                      </a:pPr>
                      <a:r>
                        <a:rPr sz="750" b="0" cap="all" spc="140">
                          <a:solidFill>
                            <a:srgbClr val="8AA6AE"/>
                          </a:solidFill>
                          <a:latin typeface="IBM Plex Mono"/>
                        </a:rPr>
                        <a:t>What it means for Vietnam Airlines</a:t>
                      </a:r>
                    </a:p>
                  </a:txBody>
                  <a:tcPr marL="54864" marR="54864" marT="36576" marB="36576" anchor="b">
                    <a:solidFill>
                      <a:srgbClr val="FBFDFE"/>
                    </a:solidFill>
                  </a:tcPr>
                </a:tc>
              </a:tr>
              <a:tr h="658367">
                <a:tc>
                  <a:txBody>
                    <a:bodyPr/>
                    <a:lstStyle/>
                    <a:p>
                      <a:pPr>
                        <a:lnSpc>
                          <a:spcPct val="130000"/>
                        </a:lnSpc>
                        <a:spcAft>
                          <a:spcPts val="0"/>
                        </a:spcAft>
                      </a:pPr>
                      <a:r>
                        <a:rPr sz="850" b="0">
                          <a:solidFill>
                            <a:srgbClr val="0A5F65"/>
                          </a:solidFill>
                          <a:latin typeface="Plus Jakarta Sans"/>
                        </a:rPr>
                        <a:t>SPA No. 01</a:t>
                      </a:r>
                    </a:p>
                  </a:txBody>
                  <a:tcPr marL="54864" marR="54864" marT="45720" marB="45720" anchor="t">
                    <a:solidFill>
                      <a:srgbClr val="DCF2F3"/>
                    </a:solidFill>
                  </a:tcPr>
                </a:tc>
                <a:tc>
                  <a:txBody>
                    <a:bodyPr/>
                    <a:lstStyle/>
                    <a:p>
                      <a:pPr>
                        <a:lnSpc>
                          <a:spcPct val="130000"/>
                        </a:lnSpc>
                        <a:spcAft>
                          <a:spcPts val="0"/>
                        </a:spcAft>
                      </a:pPr>
                      <a:r>
                        <a:rPr sz="850" b="0">
                          <a:solidFill>
                            <a:srgbClr val="0A5F65"/>
                          </a:solidFill>
                          <a:latin typeface="Plus Jakarta Sans"/>
                        </a:rPr>
                        <a:t>3 Sep 2020</a:t>
                      </a:r>
                    </a:p>
                  </a:txBody>
                  <a:tcPr marL="54864" marR="54864" marT="45720" marB="45720" anchor="t">
                    <a:solidFill>
                      <a:srgbClr val="DCF2F3"/>
                    </a:solidFill>
                  </a:tcPr>
                </a:tc>
                <a:tc>
                  <a:txBody>
                    <a:bodyPr/>
                    <a:lstStyle/>
                    <a:p>
                      <a:pPr>
                        <a:lnSpc>
                          <a:spcPct val="130000"/>
                        </a:lnSpc>
                        <a:spcAft>
                          <a:spcPts val="0"/>
                        </a:spcAft>
                      </a:pPr>
                      <a:r>
                        <a:rPr sz="850" b="0">
                          <a:solidFill>
                            <a:srgbClr val="0A5F65"/>
                          </a:solidFill>
                          <a:latin typeface="Plus Jakarta Sans"/>
                        </a:rPr>
                        <a:t>Surplus earnings may be calculated on passage and freight collections, on actual realisation. Form P and Form P-2 abolished. IATA members file system generated BSP documents.</a:t>
                      </a:r>
                    </a:p>
                  </a:txBody>
                  <a:tcPr marL="54864" marR="54864" marT="45720" marB="45720" anchor="t">
                    <a:solidFill>
                      <a:srgbClr val="DCF2F3"/>
                    </a:solidFill>
                  </a:tcPr>
                </a:tc>
                <a:tc>
                  <a:txBody>
                    <a:bodyPr/>
                    <a:lstStyle/>
                    <a:p>
                      <a:pPr>
                        <a:lnSpc>
                          <a:spcPct val="130000"/>
                        </a:lnSpc>
                        <a:spcAft>
                          <a:spcPts val="0"/>
                        </a:spcAft>
                      </a:pPr>
                      <a:r>
                        <a:rPr sz="850" b="0">
                          <a:solidFill>
                            <a:srgbClr val="0A5F65"/>
                          </a:solidFill>
                          <a:latin typeface="Plus Jakarta Sans"/>
                        </a:rPr>
                        <a:t>The governing formula, and the circular that made the process workable by removing per passenger documentation.</a:t>
                      </a:r>
                    </a:p>
                  </a:txBody>
                  <a:tcPr marL="54864" marR="54864" marT="45720" marB="45720" anchor="t">
                    <a:solidFill>
                      <a:srgbClr val="DCF2F3"/>
                    </a:solidFill>
                  </a:tcPr>
                </a:tc>
              </a:tr>
              <a:tr h="658367">
                <a:tc>
                  <a:txBody>
                    <a:bodyPr/>
                    <a:lstStyle/>
                    <a:p>
                      <a:pPr>
                        <a:lnSpc>
                          <a:spcPct val="130000"/>
                        </a:lnSpc>
                        <a:spcAft>
                          <a:spcPts val="0"/>
                        </a:spcAft>
                      </a:pPr>
                      <a:r>
                        <a:rPr sz="850" b="0">
                          <a:solidFill>
                            <a:srgbClr val="33555F"/>
                          </a:solidFill>
                          <a:latin typeface="Plus Jakarta Sans"/>
                        </a:rPr>
                        <a:t>SPA No. 01</a:t>
                      </a:r>
                    </a:p>
                  </a:txBody>
                  <a:tcPr marL="54864" marR="54864" marT="45720" marB="45720" anchor="t">
                    <a:solidFill>
                      <a:srgbClr val="FBFDFE"/>
                    </a:solidFill>
                  </a:tcPr>
                </a:tc>
                <a:tc>
                  <a:txBody>
                    <a:bodyPr/>
                    <a:lstStyle/>
                    <a:p>
                      <a:pPr>
                        <a:lnSpc>
                          <a:spcPct val="130000"/>
                        </a:lnSpc>
                        <a:spcAft>
                          <a:spcPts val="0"/>
                        </a:spcAft>
                      </a:pPr>
                      <a:r>
                        <a:rPr sz="850" b="0">
                          <a:solidFill>
                            <a:srgbClr val="33555F"/>
                          </a:solidFill>
                          <a:latin typeface="Plus Jakarta Sans"/>
                        </a:rPr>
                        <a:t>15 Nov 2021</a:t>
                      </a:r>
                    </a:p>
                  </a:txBody>
                  <a:tcPr marL="54864" marR="54864" marT="45720" marB="45720" anchor="t">
                    <a:solidFill>
                      <a:srgbClr val="FBFDFE"/>
                    </a:solidFill>
                  </a:tcPr>
                </a:tc>
                <a:tc>
                  <a:txBody>
                    <a:bodyPr/>
                    <a:lstStyle/>
                    <a:p>
                      <a:pPr>
                        <a:lnSpc>
                          <a:spcPct val="130000"/>
                        </a:lnSpc>
                        <a:spcAft>
                          <a:spcPts val="0"/>
                        </a:spcAft>
                      </a:pPr>
                      <a:r>
                        <a:rPr sz="850" b="0">
                          <a:solidFill>
                            <a:srgbClr val="33555F"/>
                          </a:solidFill>
                          <a:latin typeface="Plus Jakarta Sans"/>
                        </a:rPr>
                        <a:t>ADs designated for outward remittance may issue drafts in foreign exchange favouring state owned fuel and oil selling companies.</a:t>
                      </a:r>
                    </a:p>
                  </a:txBody>
                  <a:tcPr marL="54864" marR="54864" marT="45720" marB="45720" anchor="t">
                    <a:solidFill>
                      <a:srgbClr val="FBFDFE"/>
                    </a:solidFill>
                  </a:tcPr>
                </a:tc>
                <a:tc>
                  <a:txBody>
                    <a:bodyPr/>
                    <a:lstStyle/>
                    <a:p>
                      <a:pPr>
                        <a:lnSpc>
                          <a:spcPct val="130000"/>
                        </a:lnSpc>
                        <a:spcAft>
                          <a:spcPts val="0"/>
                        </a:spcAft>
                      </a:pPr>
                      <a:r>
                        <a:rPr sz="850" b="0">
                          <a:solidFill>
                            <a:srgbClr val="33555F"/>
                          </a:solidFill>
                          <a:latin typeface="Plus Jakarta Sans"/>
                        </a:rPr>
                        <a:t>Fuel uplift settles in foreign exchange through the designated AD, as an evidenced line in the disbursement statement.</a:t>
                      </a:r>
                    </a:p>
                  </a:txBody>
                  <a:tcPr marL="54864" marR="54864" marT="45720" marB="45720" anchor="t">
                    <a:solidFill>
                      <a:srgbClr val="FBFDFE"/>
                    </a:solidFill>
                  </a:tcPr>
                </a:tc>
              </a:tr>
              <a:tr h="658367">
                <a:tc>
                  <a:txBody>
                    <a:bodyPr/>
                    <a:lstStyle/>
                    <a:p>
                      <a:pPr>
                        <a:lnSpc>
                          <a:spcPct val="130000"/>
                        </a:lnSpc>
                        <a:spcAft>
                          <a:spcPts val="0"/>
                        </a:spcAft>
                      </a:pPr>
                      <a:r>
                        <a:rPr sz="850" b="0">
                          <a:solidFill>
                            <a:srgbClr val="33555F"/>
                          </a:solidFill>
                          <a:latin typeface="Plus Jakarta Sans"/>
                        </a:rPr>
                        <a:t>SPA No. 02</a:t>
                      </a:r>
                    </a:p>
                  </a:txBody>
                  <a:tcPr marL="54864" marR="54864" marT="45720" marB="45720" anchor="t">
                    <a:solidFill>
                      <a:srgbClr val="FFFFFF"/>
                    </a:solidFill>
                  </a:tcPr>
                </a:tc>
                <a:tc>
                  <a:txBody>
                    <a:bodyPr/>
                    <a:lstStyle/>
                    <a:p>
                      <a:pPr>
                        <a:lnSpc>
                          <a:spcPct val="130000"/>
                        </a:lnSpc>
                        <a:spcAft>
                          <a:spcPts val="0"/>
                        </a:spcAft>
                      </a:pPr>
                      <a:r>
                        <a:rPr sz="850" b="0">
                          <a:solidFill>
                            <a:srgbClr val="33555F"/>
                          </a:solidFill>
                          <a:latin typeface="Plus Jakarta Sans"/>
                        </a:rPr>
                        <a:t>21 Nov 2021</a:t>
                      </a:r>
                    </a:p>
                  </a:txBody>
                  <a:tcPr marL="54864" marR="54864" marT="45720" marB="45720" anchor="t">
                    <a:solidFill>
                      <a:srgbClr val="FFFFFF"/>
                    </a:solidFill>
                  </a:tcPr>
                </a:tc>
                <a:tc>
                  <a:txBody>
                    <a:bodyPr/>
                    <a:lstStyle/>
                    <a:p>
                      <a:pPr>
                        <a:lnSpc>
                          <a:spcPct val="130000"/>
                        </a:lnSpc>
                        <a:spcAft>
                          <a:spcPts val="0"/>
                        </a:spcAft>
                      </a:pPr>
                      <a:r>
                        <a:rPr sz="850" b="0">
                          <a:solidFill>
                            <a:srgbClr val="33555F"/>
                          </a:solidFill>
                          <a:latin typeface="Plus Jakarta Sans"/>
                        </a:rPr>
                        <a:t>Resident general sales agents acting for more than one carrier must maintain separate bank accounts for each airline.</a:t>
                      </a:r>
                    </a:p>
                  </a:txBody>
                  <a:tcPr marL="54864" marR="54864" marT="45720" marB="45720" anchor="t">
                    <a:solidFill>
                      <a:srgbClr val="FFFFFF"/>
                    </a:solidFill>
                  </a:tcPr>
                </a:tc>
                <a:tc>
                  <a:txBody>
                    <a:bodyPr/>
                    <a:lstStyle/>
                    <a:p>
                      <a:pPr>
                        <a:lnSpc>
                          <a:spcPct val="130000"/>
                        </a:lnSpc>
                        <a:spcAft>
                          <a:spcPts val="0"/>
                        </a:spcAft>
                      </a:pPr>
                      <a:r>
                        <a:rPr sz="850" b="0">
                          <a:solidFill>
                            <a:srgbClr val="33555F"/>
                          </a:solidFill>
                          <a:latin typeface="Plus Jakarta Sans"/>
                        </a:rPr>
                        <a:t>A dedicated, ring fenced account. A legal requirement on the GSA, not a service promise.</a:t>
                      </a:r>
                    </a:p>
                  </a:txBody>
                  <a:tcPr marL="54864" marR="54864" marT="45720" marB="45720" anchor="t">
                    <a:solidFill>
                      <a:srgbClr val="FFFFFF"/>
                    </a:solidFill>
                  </a:tcPr>
                </a:tc>
              </a:tr>
              <a:tr h="658371">
                <a:tc>
                  <a:txBody>
                    <a:bodyPr/>
                    <a:lstStyle/>
                    <a:p>
                      <a:pPr>
                        <a:lnSpc>
                          <a:spcPct val="130000"/>
                        </a:lnSpc>
                        <a:spcAft>
                          <a:spcPts val="0"/>
                        </a:spcAft>
                      </a:pPr>
                      <a:r>
                        <a:rPr sz="850" b="0">
                          <a:solidFill>
                            <a:srgbClr val="33555F"/>
                          </a:solidFill>
                          <a:latin typeface="Plus Jakarta Sans"/>
                        </a:rPr>
                        <a:t>SPA No. 03</a:t>
                      </a:r>
                    </a:p>
                  </a:txBody>
                  <a:tcPr marL="54864" marR="54864" marT="45720" marB="45720" anchor="t">
                    <a:solidFill>
                      <a:srgbClr val="FBFDFE"/>
                    </a:solidFill>
                  </a:tcPr>
                </a:tc>
                <a:tc>
                  <a:txBody>
                    <a:bodyPr/>
                    <a:lstStyle/>
                    <a:p>
                      <a:pPr>
                        <a:lnSpc>
                          <a:spcPct val="130000"/>
                        </a:lnSpc>
                        <a:spcAft>
                          <a:spcPts val="0"/>
                        </a:spcAft>
                      </a:pPr>
                      <a:r>
                        <a:rPr sz="850" b="0">
                          <a:solidFill>
                            <a:srgbClr val="33555F"/>
                          </a:solidFill>
                          <a:latin typeface="Plus Jakarta Sans"/>
                        </a:rPr>
                        <a:t>9 Aug 2023</a:t>
                      </a:r>
                    </a:p>
                  </a:txBody>
                  <a:tcPr marL="54864" marR="54864" marT="45720" marB="45720" anchor="t">
                    <a:solidFill>
                      <a:srgbClr val="FBFDFE"/>
                    </a:solidFill>
                  </a:tcPr>
                </a:tc>
                <a:tc>
                  <a:txBody>
                    <a:bodyPr/>
                    <a:lstStyle/>
                    <a:p>
                      <a:pPr>
                        <a:lnSpc>
                          <a:spcPct val="130000"/>
                        </a:lnSpc>
                        <a:spcAft>
                          <a:spcPts val="0"/>
                        </a:spcAft>
                      </a:pPr>
                      <a:r>
                        <a:rPr sz="850" b="0">
                          <a:solidFill>
                            <a:srgbClr val="33555F"/>
                          </a:solidFill>
                          <a:latin typeface="Plus Jakarta Sans"/>
                        </a:rPr>
                        <a:t>Freight certificates move online. Form FF Export Prepaid via OEMS and Form FF Import Collect via OIMS, replacing manual certificates.</a:t>
                      </a:r>
                    </a:p>
                  </a:txBody>
                  <a:tcPr marL="54864" marR="54864" marT="45720" marB="45720" anchor="t">
                    <a:solidFill>
                      <a:srgbClr val="FBFDFE"/>
                    </a:solidFill>
                  </a:tcPr>
                </a:tc>
                <a:tc>
                  <a:txBody>
                    <a:bodyPr/>
                    <a:lstStyle/>
                    <a:p>
                      <a:pPr>
                        <a:lnSpc>
                          <a:spcPct val="130000"/>
                        </a:lnSpc>
                        <a:spcAft>
                          <a:spcPts val="0"/>
                        </a:spcAft>
                      </a:pPr>
                      <a:r>
                        <a:rPr sz="850" b="0">
                          <a:solidFill>
                            <a:srgbClr val="33555F"/>
                          </a:solidFill>
                          <a:latin typeface="Plus Jakarta Sans"/>
                        </a:rPr>
                        <a:t>Cargo freight collected in taka must be supported by a system generated Form FF before it can be remitted.</a:t>
                      </a:r>
                    </a:p>
                  </a:txBody>
                  <a:tcPr marL="54864" marR="54864" marT="45720" marB="45720" anchor="t">
                    <a:solidFill>
                      <a:srgbClr val="FBFDFE"/>
                    </a:solidFill>
                  </a:tcPr>
                </a:tc>
              </a:tr>
            </a:tbl>
          </a:graphicData>
        </a:graphic>
      </p:graphicFrame>
      <p:sp>
        <p:nvSpPr>
          <p:cNvPr id="7" name="Rounded Rectangle 6"/>
          <p:cNvSpPr/>
          <p:nvPr/>
        </p:nvSpPr>
        <p:spPr>
          <a:xfrm>
            <a:off x="786384" y="5321808"/>
            <a:ext cx="3381146" cy="1133856"/>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504688"/>
            <a:ext cx="2942234" cy="768096"/>
          </a:xfrm>
          <a:prstGeom prst="rect">
            <a:avLst/>
          </a:prstGeom>
          <a:noFill/>
        </p:spPr>
        <p:txBody>
          <a:bodyPr wrap="square" lIns="0" rIns="0" tIns="0" bIns="0">
            <a:spAutoFit/>
          </a:bodyPr>
          <a:lstStyle/>
          <a:p>
            <a:pPr>
              <a:lnSpc>
                <a:spcPct val="135000"/>
              </a:lnSpc>
              <a:spcAft>
                <a:spcPts val="500"/>
              </a:spcAft>
            </a:pPr>
            <a:r>
              <a:rPr sz="800" b="0" cap="all" spc="180">
                <a:solidFill>
                  <a:srgbClr val="0C7A80"/>
                </a:solidFill>
                <a:latin typeface="IBM Plex Mono"/>
              </a:rPr>
              <a:t>Underneath all four</a:t>
            </a:r>
          </a:p>
          <a:p>
            <a:pPr>
              <a:lnSpc>
                <a:spcPct val="116000"/>
              </a:lnSpc>
              <a:spcAft>
                <a:spcPts val="500"/>
              </a:spcAft>
            </a:pPr>
            <a:r>
              <a:rPr sz="1000" b="1">
                <a:solidFill>
                  <a:srgbClr val="0E2830"/>
                </a:solidFill>
                <a:latin typeface="Outfit"/>
              </a:rPr>
              <a:t>GFET 2018, Chapter 10</a:t>
            </a:r>
          </a:p>
          <a:p>
            <a:pPr>
              <a:lnSpc>
                <a:spcPct val="140000"/>
              </a:lnSpc>
              <a:spcAft>
                <a:spcPts val="0"/>
              </a:spcAft>
            </a:pPr>
            <a:r>
              <a:rPr sz="800" b="0">
                <a:solidFill>
                  <a:srgbClr val="33555F"/>
                </a:solidFill>
                <a:latin typeface="Plus Jakarta Sans"/>
              </a:rPr>
              <a:t>Paragraphs 1 and 2(A) of Chapter 10 and the relevant paragraphs of Chapter 12 remain the base text.</a:t>
            </a:r>
          </a:p>
        </p:txBody>
      </p:sp>
      <p:sp>
        <p:nvSpPr>
          <p:cNvPr id="9" name="Rounded Rectangle 8"/>
          <p:cNvSpPr/>
          <p:nvPr/>
        </p:nvSpPr>
        <p:spPr>
          <a:xfrm>
            <a:off x="4405274" y="5321808"/>
            <a:ext cx="3381146" cy="1133856"/>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24730" y="5504688"/>
            <a:ext cx="2942234" cy="768096"/>
          </a:xfrm>
          <a:prstGeom prst="rect">
            <a:avLst/>
          </a:prstGeom>
          <a:noFill/>
        </p:spPr>
        <p:txBody>
          <a:bodyPr wrap="square" lIns="0" rIns="0" tIns="0" bIns="0">
            <a:spAutoFit/>
          </a:bodyPr>
          <a:lstStyle/>
          <a:p>
            <a:pPr>
              <a:lnSpc>
                <a:spcPct val="135000"/>
              </a:lnSpc>
              <a:spcAft>
                <a:spcPts val="500"/>
              </a:spcAft>
            </a:pPr>
            <a:r>
              <a:rPr sz="800" b="0" cap="all" spc="180">
                <a:solidFill>
                  <a:srgbClr val="0C7A80"/>
                </a:solidFill>
                <a:latin typeface="IBM Plex Mono"/>
              </a:rPr>
              <a:t>Issued under</a:t>
            </a:r>
          </a:p>
          <a:p>
            <a:pPr>
              <a:lnSpc>
                <a:spcPct val="116000"/>
              </a:lnSpc>
              <a:spcAft>
                <a:spcPts val="500"/>
              </a:spcAft>
            </a:pPr>
            <a:r>
              <a:rPr sz="1000" b="1">
                <a:solidFill>
                  <a:srgbClr val="0E2830"/>
                </a:solidFill>
                <a:latin typeface="Outfit"/>
              </a:rPr>
              <a:t>Foreign Exchange Regulation Act, 1947</a:t>
            </a:r>
          </a:p>
          <a:p>
            <a:pPr>
              <a:lnSpc>
                <a:spcPct val="140000"/>
              </a:lnSpc>
              <a:spcAft>
                <a:spcPts val="0"/>
              </a:spcAft>
            </a:pPr>
            <a:r>
              <a:rPr sz="800" b="0">
                <a:solidFill>
                  <a:srgbClr val="33555F"/>
                </a:solidFill>
                <a:latin typeface="Plus Jakarta Sans"/>
              </a:rPr>
              <a:t>Directions to Authorized Dealers. The airline's compliance counterparty is its AD bank.</a:t>
            </a:r>
          </a:p>
        </p:txBody>
      </p:sp>
      <p:sp>
        <p:nvSpPr>
          <p:cNvPr id="11" name="Rounded Rectangle 10"/>
          <p:cNvSpPr/>
          <p:nvPr/>
        </p:nvSpPr>
        <p:spPr>
          <a:xfrm>
            <a:off x="8024164" y="5321808"/>
            <a:ext cx="3381146" cy="1133856"/>
          </a:xfrm>
          <a:prstGeom prst="roundRect">
            <a:avLst>
              <a:gd name="adj" fmla="val 5500"/>
            </a:avLst>
          </a:prstGeom>
          <a:gradFill rotWithShape="1">
            <a:gsLst>
              <a:gs pos="0">
                <a:srgbClr val="FBE7E2"/>
              </a:gs>
              <a:gs pos="62000">
                <a:srgbClr val="FFFFFF"/>
              </a:gs>
            </a:gsLst>
            <a:lin scaled="0" ang="2700000"/>
          </a:gradFill>
          <a:ln w="12700">
            <a:solidFill>
              <a:srgbClr val="E3A7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43620" y="5504688"/>
            <a:ext cx="2942234" cy="768096"/>
          </a:xfrm>
          <a:prstGeom prst="rect">
            <a:avLst/>
          </a:prstGeom>
          <a:noFill/>
        </p:spPr>
        <p:txBody>
          <a:bodyPr wrap="square" lIns="0" rIns="0" tIns="0" bIns="0">
            <a:spAutoFit/>
          </a:bodyPr>
          <a:lstStyle/>
          <a:p>
            <a:pPr>
              <a:lnSpc>
                <a:spcPct val="135000"/>
              </a:lnSpc>
              <a:spcAft>
                <a:spcPts val="500"/>
              </a:spcAft>
            </a:pPr>
            <a:r>
              <a:rPr sz="800" b="0" cap="all" spc="180">
                <a:solidFill>
                  <a:srgbClr val="C0442B"/>
                </a:solidFill>
                <a:latin typeface="IBM Plex Mono"/>
              </a:rPr>
              <a:t>Standing check</a:t>
            </a:r>
          </a:p>
          <a:p>
            <a:pPr>
              <a:lnSpc>
                <a:spcPct val="116000"/>
              </a:lnSpc>
              <a:spcAft>
                <a:spcPts val="500"/>
              </a:spcAft>
            </a:pPr>
            <a:r>
              <a:rPr sz="1000" b="1">
                <a:solidFill>
                  <a:srgbClr val="0E2830"/>
                </a:solidFill>
                <a:latin typeface="Outfit"/>
              </a:rPr>
              <a:t>Confirm nothing has superseded these</a:t>
            </a:r>
          </a:p>
          <a:p>
            <a:pPr>
              <a:lnSpc>
                <a:spcPct val="140000"/>
              </a:lnSpc>
              <a:spcAft>
                <a:spcPts val="0"/>
              </a:spcAft>
            </a:pPr>
            <a:r>
              <a:rPr sz="800" b="0">
                <a:solidFill>
                  <a:srgbClr val="33555F"/>
                </a:solidFill>
                <a:latin typeface="Plus Jakarta Sans"/>
              </a:rPr>
              <a:t>The department issues circulars continuously. Re-check the FE circular index before each annual review.</a:t>
            </a:r>
          </a:p>
        </p:txBody>
      </p:sp>
      <p:sp>
        <p:nvSpPr>
          <p:cNvPr id="13" name="TextBox 12"/>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566928"/>
            <a:ext cx="10618927" cy="274320"/>
          </a:xfrm>
          <a:prstGeom prst="rect">
            <a:avLst/>
          </a:prstGeom>
          <a:noFill/>
        </p:spPr>
        <p:txBody>
          <a:bodyPr wrap="square" lIns="0" rIns="0" tIns="0" bIns="0">
            <a:spAutoFit/>
          </a:bodyPr>
          <a:lstStyle/>
          <a:p>
            <a:pPr>
              <a:lnSpc>
                <a:spcPct val="135000"/>
              </a:lnSpc>
              <a:spcAft>
                <a:spcPts val="0"/>
              </a:spcAft>
            </a:pPr>
            <a:r>
              <a:rPr sz="1000" b="0" cap="all" spc="240">
                <a:solidFill>
                  <a:srgbClr val="0C7A80"/>
                </a:solidFill>
                <a:latin typeface="IBM Plex Mono"/>
              </a:rPr>
              <a:t>04  .  Bangladesh Bank  /  The definition</a:t>
            </a:r>
          </a:p>
        </p:txBody>
      </p:sp>
      <p:sp>
        <p:nvSpPr>
          <p:cNvPr id="4" name="TextBox 3"/>
          <p:cNvSpPr txBox="1"/>
          <p:nvPr/>
        </p:nvSpPr>
        <p:spPr>
          <a:xfrm>
            <a:off x="786384" y="932688"/>
            <a:ext cx="10618927" cy="1371600"/>
          </a:xfrm>
          <a:prstGeom prst="rect">
            <a:avLst/>
          </a:prstGeom>
          <a:noFill/>
        </p:spPr>
        <p:txBody>
          <a:bodyPr wrap="square" lIns="0" rIns="0" tIns="0" bIns="0">
            <a:spAutoFit/>
          </a:bodyPr>
          <a:lstStyle/>
          <a:p>
            <a:pPr>
              <a:lnSpc>
                <a:spcPct val="108000"/>
              </a:lnSpc>
              <a:spcAft>
                <a:spcPts val="0"/>
              </a:spcAft>
            </a:pPr>
            <a:r>
              <a:rPr sz="2900" b="1">
                <a:solidFill>
                  <a:srgbClr val="0E2830"/>
                </a:solidFill>
                <a:latin typeface="Outfit"/>
              </a:rPr>
              <a:t>Three conditions, and remittance out of funds actually held.</a:t>
            </a:r>
          </a:p>
        </p:txBody>
      </p:sp>
      <p:sp>
        <p:nvSpPr>
          <p:cNvPr id="5" name="TextBox 4"/>
          <p:cNvSpPr txBox="1"/>
          <p:nvPr/>
        </p:nvSpPr>
        <p:spPr>
          <a:xfrm>
            <a:off x="786384" y="1920240"/>
            <a:ext cx="10515600" cy="914400"/>
          </a:xfrm>
          <a:prstGeom prst="rect">
            <a:avLst/>
          </a:prstGeom>
          <a:noFill/>
        </p:spPr>
        <p:txBody>
          <a:bodyPr wrap="square" lIns="0" rIns="0" tIns="0" bIns="0">
            <a:spAutoFit/>
          </a:bodyPr>
          <a:lstStyle/>
          <a:p>
            <a:pPr>
              <a:lnSpc>
                <a:spcPct val="142000"/>
              </a:lnSpc>
              <a:spcAft>
                <a:spcPts val="0"/>
              </a:spcAft>
            </a:pPr>
            <a:r>
              <a:rPr sz="1100" b="0">
                <a:solidFill>
                  <a:srgbClr val="33555F"/>
                </a:solidFill>
                <a:latin typeface="Plus Jakarta Sans"/>
              </a:rPr>
              <a:t>SPA Circular No. 01 of 3 September 2020 permits ADs to remit surplus earnings against passage and freight based on actual realisation, provided three conditions are met.</a:t>
            </a:r>
          </a:p>
        </p:txBody>
      </p:sp>
      <p:sp>
        <p:nvSpPr>
          <p:cNvPr id="6" name="Rounded Rectangle 5"/>
          <p:cNvSpPr/>
          <p:nvPr/>
        </p:nvSpPr>
        <p:spPr>
          <a:xfrm>
            <a:off x="786384" y="2487168"/>
            <a:ext cx="3381146" cy="1298448"/>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670048"/>
            <a:ext cx="2942234" cy="932688"/>
          </a:xfrm>
          <a:prstGeom prst="rect">
            <a:avLst/>
          </a:prstGeom>
          <a:noFill/>
        </p:spPr>
        <p:txBody>
          <a:bodyPr wrap="square" lIns="0" rIns="0" tIns="0" bIns="0">
            <a:spAutoFit/>
          </a:bodyPr>
          <a:lstStyle/>
          <a:p>
            <a:pPr>
              <a:lnSpc>
                <a:spcPct val="135000"/>
              </a:lnSpc>
              <a:spcAft>
                <a:spcPts val="500"/>
              </a:spcAft>
            </a:pPr>
            <a:r>
              <a:rPr sz="800" b="0" cap="all" spc="180">
                <a:solidFill>
                  <a:srgbClr val="0C7A80"/>
                </a:solidFill>
                <a:latin typeface="IBM Plex Mono"/>
              </a:rPr>
              <a:t>Condition i</a:t>
            </a:r>
          </a:p>
          <a:p>
            <a:pPr>
              <a:lnSpc>
                <a:spcPct val="116000"/>
              </a:lnSpc>
              <a:spcAft>
                <a:spcPts val="500"/>
              </a:spcAft>
            </a:pPr>
            <a:r>
              <a:rPr sz="1050" b="1">
                <a:solidFill>
                  <a:srgbClr val="0E2830"/>
                </a:solidFill>
                <a:latin typeface="Outfit"/>
              </a:rPr>
              <a:t>All collections supported by bank statements</a:t>
            </a:r>
          </a:p>
          <a:p>
            <a:pPr>
              <a:lnSpc>
                <a:spcPct val="140000"/>
              </a:lnSpc>
              <a:spcAft>
                <a:spcPts val="0"/>
              </a:spcAft>
            </a:pPr>
            <a:r>
              <a:rPr sz="850" b="0">
                <a:solidFill>
                  <a:srgbClr val="33555F"/>
                </a:solidFill>
                <a:latin typeface="Plus Jakarta Sans"/>
              </a:rPr>
              <a:t>The bank statement is the primary evidence. Not the sales report, not the ledger. Collections that did not land in the account did not happen.</a:t>
            </a:r>
          </a:p>
        </p:txBody>
      </p:sp>
      <p:sp>
        <p:nvSpPr>
          <p:cNvPr id="8" name="Rounded Rectangle 7"/>
          <p:cNvSpPr/>
          <p:nvPr/>
        </p:nvSpPr>
        <p:spPr>
          <a:xfrm>
            <a:off x="4405274" y="2487168"/>
            <a:ext cx="3381146" cy="1298448"/>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24730" y="2670048"/>
            <a:ext cx="2942234" cy="932688"/>
          </a:xfrm>
          <a:prstGeom prst="rect">
            <a:avLst/>
          </a:prstGeom>
          <a:noFill/>
        </p:spPr>
        <p:txBody>
          <a:bodyPr wrap="square" lIns="0" rIns="0" tIns="0" bIns="0">
            <a:spAutoFit/>
          </a:bodyPr>
          <a:lstStyle/>
          <a:p>
            <a:pPr>
              <a:lnSpc>
                <a:spcPct val="135000"/>
              </a:lnSpc>
              <a:spcAft>
                <a:spcPts val="500"/>
              </a:spcAft>
            </a:pPr>
            <a:r>
              <a:rPr sz="800" b="0" cap="all" spc="180">
                <a:solidFill>
                  <a:srgbClr val="0C7A80"/>
                </a:solidFill>
                <a:latin typeface="IBM Plex Mono"/>
              </a:rPr>
              <a:t>Condition ii</a:t>
            </a:r>
          </a:p>
          <a:p>
            <a:pPr>
              <a:lnSpc>
                <a:spcPct val="116000"/>
              </a:lnSpc>
              <a:spcAft>
                <a:spcPts val="500"/>
              </a:spcAft>
            </a:pPr>
            <a:r>
              <a:rPr sz="1050" b="1">
                <a:solidFill>
                  <a:srgbClr val="0E2830"/>
                </a:solidFill>
                <a:latin typeface="Outfit"/>
              </a:rPr>
              <a:t>Minimum ten percent provision maintained</a:t>
            </a:r>
          </a:p>
          <a:p>
            <a:pPr>
              <a:lnSpc>
                <a:spcPct val="140000"/>
              </a:lnSpc>
              <a:spcAft>
                <a:spcPts val="0"/>
              </a:spcAft>
            </a:pPr>
            <a:r>
              <a:rPr sz="850" b="0">
                <a:solidFill>
                  <a:srgbClr val="33555F"/>
                </a:solidFill>
                <a:latin typeface="Plus Jakarta Sans"/>
              </a:rPr>
              <a:t>A minimum provision of ten percent on collections is held against refunds for unavailed journeys. The unused portion may be added back later.</a:t>
            </a:r>
          </a:p>
        </p:txBody>
      </p:sp>
      <p:sp>
        <p:nvSpPr>
          <p:cNvPr id="10" name="Rounded Rectangle 9"/>
          <p:cNvSpPr/>
          <p:nvPr/>
        </p:nvSpPr>
        <p:spPr>
          <a:xfrm>
            <a:off x="8024164" y="2487168"/>
            <a:ext cx="3381146" cy="1298448"/>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43620" y="2670048"/>
            <a:ext cx="2942234" cy="932688"/>
          </a:xfrm>
          <a:prstGeom prst="rect">
            <a:avLst/>
          </a:prstGeom>
          <a:noFill/>
        </p:spPr>
        <p:txBody>
          <a:bodyPr wrap="square" lIns="0" rIns="0" tIns="0" bIns="0">
            <a:spAutoFit/>
          </a:bodyPr>
          <a:lstStyle/>
          <a:p>
            <a:pPr>
              <a:lnSpc>
                <a:spcPct val="135000"/>
              </a:lnSpc>
              <a:spcAft>
                <a:spcPts val="500"/>
              </a:spcAft>
            </a:pPr>
            <a:r>
              <a:rPr sz="800" b="0" cap="all" spc="180">
                <a:solidFill>
                  <a:srgbClr val="0C7A80"/>
                </a:solidFill>
                <a:latin typeface="IBM Plex Mono"/>
              </a:rPr>
              <a:t>Condition iii</a:t>
            </a:r>
          </a:p>
          <a:p>
            <a:pPr>
              <a:lnSpc>
                <a:spcPct val="116000"/>
              </a:lnSpc>
              <a:spcAft>
                <a:spcPts val="500"/>
              </a:spcAft>
            </a:pPr>
            <a:r>
              <a:rPr sz="1050" b="1">
                <a:solidFill>
                  <a:srgbClr val="0E2830"/>
                </a:solidFill>
                <a:latin typeface="Outfit"/>
              </a:rPr>
              <a:t>All disbursements adjusted</a:t>
            </a:r>
          </a:p>
          <a:p>
            <a:pPr>
              <a:lnSpc>
                <a:spcPct val="140000"/>
              </a:lnSpc>
              <a:spcAft>
                <a:spcPts val="0"/>
              </a:spcAft>
            </a:pPr>
            <a:r>
              <a:rPr sz="850" b="0">
                <a:solidFill>
                  <a:srgbClr val="33555F"/>
                </a:solidFill>
                <a:latin typeface="Plus Jakarta Sans"/>
              </a:rPr>
              <a:t>Disbursements, accrued expenses, refunds, and income tax paid or payable are all deducted before anything is treated as surplus.</a:t>
            </a:r>
          </a:p>
        </p:txBody>
      </p:sp>
      <p:sp>
        <p:nvSpPr>
          <p:cNvPr id="12" name="Rounded Rectangle 11"/>
          <p:cNvSpPr/>
          <p:nvPr/>
        </p:nvSpPr>
        <p:spPr>
          <a:xfrm>
            <a:off x="786384" y="4023360"/>
            <a:ext cx="5257800" cy="1874519"/>
          </a:xfrm>
          <a:prstGeom prst="roundRect">
            <a:avLst>
              <a:gd name="adj" fmla="val 5500"/>
            </a:avLst>
          </a:prstGeom>
          <a:gradFill rotWithShape="1">
            <a:gsLst>
              <a:gs pos="0">
                <a:srgbClr val="FBE7E2"/>
              </a:gs>
              <a:gs pos="62000">
                <a:srgbClr val="FFFFFF"/>
              </a:gs>
            </a:gsLst>
            <a:lin scaled="0" ang="2700000"/>
          </a:gradFill>
          <a:ln w="12700">
            <a:solidFill>
              <a:srgbClr val="E3A7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206240"/>
            <a:ext cx="4818888" cy="1508760"/>
          </a:xfrm>
          <a:prstGeom prst="rect">
            <a:avLst/>
          </a:prstGeom>
          <a:noFill/>
        </p:spPr>
        <p:txBody>
          <a:bodyPr wrap="square" lIns="0" rIns="0" tIns="0" bIns="0">
            <a:spAutoFit/>
          </a:bodyPr>
          <a:lstStyle/>
          <a:p>
            <a:pPr>
              <a:lnSpc>
                <a:spcPct val="135000"/>
              </a:lnSpc>
              <a:spcAft>
                <a:spcPts val="500"/>
              </a:spcAft>
            </a:pPr>
            <a:r>
              <a:rPr sz="800" b="0" cap="all" spc="180">
                <a:solidFill>
                  <a:srgbClr val="C0442B"/>
                </a:solidFill>
                <a:latin typeface="IBM Plex Mono"/>
              </a:rPr>
              <a:t>The sentence that catches people</a:t>
            </a:r>
          </a:p>
          <a:p>
            <a:pPr>
              <a:lnSpc>
                <a:spcPct val="116000"/>
              </a:lnSpc>
              <a:spcAft>
                <a:spcPts val="500"/>
              </a:spcAft>
            </a:pPr>
            <a:r>
              <a:rPr sz="1100" b="1">
                <a:solidFill>
                  <a:srgbClr val="0E2830"/>
                </a:solidFill>
                <a:latin typeface="Outfit"/>
              </a:rPr>
              <a:t>Remittance is allowed out of the fund available, without borrowed funds, in the designated bank account.</a:t>
            </a:r>
          </a:p>
          <a:p>
            <a:pPr>
              <a:lnSpc>
                <a:spcPct val="140000"/>
              </a:lnSpc>
              <a:spcAft>
                <a:spcPts val="0"/>
              </a:spcAft>
            </a:pPr>
            <a:r>
              <a:rPr sz="900" b="0">
                <a:solidFill>
                  <a:srgbClr val="33555F"/>
                </a:solidFill>
                <a:latin typeface="Plus Jakarta Sans"/>
              </a:rPr>
              <a:t>An airline cannot fund a remittance from a facility, an intercompany advance, or next month's collections. If the money is not sitting in the designated account, it does not go. This is why the account structure in SPA Circular No. 02 matters, and why a shared agency account is not an option.</a:t>
            </a:r>
          </a:p>
        </p:txBody>
      </p:sp>
      <p:sp>
        <p:nvSpPr>
          <p:cNvPr id="14" name="TextBox 13"/>
          <p:cNvSpPr txBox="1"/>
          <p:nvPr/>
        </p:nvSpPr>
        <p:spPr>
          <a:xfrm>
            <a:off x="6446520" y="4023360"/>
            <a:ext cx="4937760" cy="274320"/>
          </a:xfrm>
          <a:prstGeom prst="rect">
            <a:avLst/>
          </a:prstGeom>
          <a:noFill/>
        </p:spPr>
        <p:txBody>
          <a:bodyPr wrap="square" lIns="0" rIns="0" tIns="0" bIns="0">
            <a:spAutoFit/>
          </a:bodyPr>
          <a:lstStyle/>
          <a:p>
            <a:pPr>
              <a:lnSpc>
                <a:spcPct val="135000"/>
              </a:lnSpc>
              <a:spcAft>
                <a:spcPts val="0"/>
              </a:spcAft>
            </a:pPr>
            <a:r>
              <a:rPr sz="800" b="0" cap="all" spc="160">
                <a:solidFill>
                  <a:srgbClr val="8AA6AE"/>
                </a:solidFill>
                <a:latin typeface="IBM Plex Mono"/>
              </a:rPr>
              <a:t>What replaced the old paperwork</a:t>
            </a:r>
          </a:p>
        </p:txBody>
      </p:sp>
      <p:sp>
        <p:nvSpPr>
          <p:cNvPr id="15" name="Oval 14"/>
          <p:cNvSpPr/>
          <p:nvPr/>
        </p:nvSpPr>
        <p:spPr>
          <a:xfrm>
            <a:off x="6446520" y="4384548"/>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01968" y="4315968"/>
            <a:ext cx="4782312" cy="822960"/>
          </a:xfrm>
          <a:prstGeom prst="rect">
            <a:avLst/>
          </a:prstGeom>
          <a:noFill/>
        </p:spPr>
        <p:txBody>
          <a:bodyPr wrap="square" lIns="0" rIns="0" tIns="0" bIns="0">
            <a:spAutoFit/>
          </a:bodyPr>
          <a:lstStyle/>
          <a:p>
            <a:pPr>
              <a:lnSpc>
                <a:spcPct val="132000"/>
              </a:lnSpc>
              <a:spcAft>
                <a:spcPts val="0"/>
              </a:spcAft>
            </a:pPr>
            <a:r>
              <a:rPr sz="850" b="0">
                <a:solidFill>
                  <a:srgbClr val="33555F"/>
                </a:solidFill>
                <a:latin typeface="Plus Jakarta Sans"/>
              </a:rPr>
              <a:t>Form P and Form P-2 from outgoing passengers are no longer required against ticket sales in local currency.</a:t>
            </a:r>
          </a:p>
        </p:txBody>
      </p:sp>
      <p:sp>
        <p:nvSpPr>
          <p:cNvPr id="17" name="Oval 16"/>
          <p:cNvSpPr/>
          <p:nvPr/>
        </p:nvSpPr>
        <p:spPr>
          <a:xfrm>
            <a:off x="6446520" y="4745736"/>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01968" y="4677156"/>
            <a:ext cx="4782312" cy="822960"/>
          </a:xfrm>
          <a:prstGeom prst="rect">
            <a:avLst/>
          </a:prstGeom>
          <a:noFill/>
        </p:spPr>
        <p:txBody>
          <a:bodyPr wrap="square" lIns="0" rIns="0" tIns="0" bIns="0">
            <a:spAutoFit/>
          </a:bodyPr>
          <a:lstStyle/>
          <a:p>
            <a:pPr>
              <a:lnSpc>
                <a:spcPct val="132000"/>
              </a:lnSpc>
              <a:spcAft>
                <a:spcPts val="0"/>
              </a:spcAft>
            </a:pPr>
            <a:r>
              <a:rPr sz="850" b="0">
                <a:solidFill>
                  <a:srgbClr val="33555F"/>
                </a:solidFill>
                <a:latin typeface="Plus Jakarta Sans"/>
              </a:rPr>
              <a:t>IATA members file the BSP airline billing summary and statement summary, with counter sales and excess baggage reports, plus a revenue and expenditure summary.</a:t>
            </a:r>
          </a:p>
        </p:txBody>
      </p:sp>
      <p:sp>
        <p:nvSpPr>
          <p:cNvPr id="19" name="Oval 18"/>
          <p:cNvSpPr/>
          <p:nvPr/>
        </p:nvSpPr>
        <p:spPr>
          <a:xfrm>
            <a:off x="6446520" y="5106924"/>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01968" y="5038344"/>
            <a:ext cx="4782312" cy="822960"/>
          </a:xfrm>
          <a:prstGeom prst="rect">
            <a:avLst/>
          </a:prstGeom>
          <a:noFill/>
        </p:spPr>
        <p:txBody>
          <a:bodyPr wrap="square" lIns="0" rIns="0" tIns="0" bIns="0">
            <a:spAutoFit/>
          </a:bodyPr>
          <a:lstStyle/>
          <a:p>
            <a:pPr>
              <a:lnSpc>
                <a:spcPct val="132000"/>
              </a:lnSpc>
              <a:spcAft>
                <a:spcPts val="0"/>
              </a:spcAft>
            </a:pPr>
            <a:r>
              <a:rPr sz="850" b="0">
                <a:solidFill>
                  <a:srgbClr val="33555F"/>
                </a:solidFill>
                <a:latin typeface="Plus Jakarta Sans"/>
              </a:rPr>
              <a:t>Supporting documents are no longer submitted, except bank statements and tax documents.</a:t>
            </a:r>
          </a:p>
        </p:txBody>
      </p:sp>
      <p:sp>
        <p:nvSpPr>
          <p:cNvPr id="21" name="Oval 20"/>
          <p:cNvSpPr/>
          <p:nvPr/>
        </p:nvSpPr>
        <p:spPr>
          <a:xfrm>
            <a:off x="6446520" y="5468112"/>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01968" y="5399531"/>
            <a:ext cx="4782312" cy="822960"/>
          </a:xfrm>
          <a:prstGeom prst="rect">
            <a:avLst/>
          </a:prstGeom>
          <a:noFill/>
        </p:spPr>
        <p:txBody>
          <a:bodyPr wrap="square" lIns="0" rIns="0" tIns="0" bIns="0">
            <a:spAutoFit/>
          </a:bodyPr>
          <a:lstStyle/>
          <a:p>
            <a:pPr>
              <a:lnSpc>
                <a:spcPct val="132000"/>
              </a:lnSpc>
              <a:spcAft>
                <a:spcPts val="0"/>
              </a:spcAft>
            </a:pPr>
            <a:r>
              <a:rPr sz="850" b="0">
                <a:solidFill>
                  <a:srgbClr val="33555F"/>
                </a:solidFill>
                <a:latin typeface="Plus Jakarta Sans"/>
              </a:rPr>
              <a:t>Those documents are retained for production to the AD bank and a Bangladesh Bank inspection team on request.</a:t>
            </a:r>
          </a:p>
        </p:txBody>
      </p:sp>
      <p:sp>
        <p:nvSpPr>
          <p:cNvPr id="23" name="TextBox 22"/>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566928"/>
            <a:ext cx="10618927" cy="274320"/>
          </a:xfrm>
          <a:prstGeom prst="rect">
            <a:avLst/>
          </a:prstGeom>
          <a:noFill/>
        </p:spPr>
        <p:txBody>
          <a:bodyPr wrap="square" lIns="0" rIns="0" tIns="0" bIns="0">
            <a:spAutoFit/>
          </a:bodyPr>
          <a:lstStyle/>
          <a:p>
            <a:pPr>
              <a:lnSpc>
                <a:spcPct val="135000"/>
              </a:lnSpc>
              <a:spcAft>
                <a:spcPts val="0"/>
              </a:spcAft>
            </a:pPr>
            <a:r>
              <a:rPr sz="1000" b="0" cap="all" spc="240">
                <a:solidFill>
                  <a:srgbClr val="0C7A80"/>
                </a:solidFill>
                <a:latin typeface="IBM Plex Mono"/>
              </a:rPr>
              <a:t>04  .  The arithmetic</a:t>
            </a:r>
          </a:p>
        </p:txBody>
      </p:sp>
      <p:sp>
        <p:nvSpPr>
          <p:cNvPr id="4" name="TextBox 3"/>
          <p:cNvSpPr txBox="1"/>
          <p:nvPr/>
        </p:nvSpPr>
        <p:spPr>
          <a:xfrm>
            <a:off x="786384" y="932688"/>
            <a:ext cx="10618927" cy="1371600"/>
          </a:xfrm>
          <a:prstGeom prst="rect">
            <a:avLst/>
          </a:prstGeom>
          <a:noFill/>
        </p:spPr>
        <p:txBody>
          <a:bodyPr wrap="square" lIns="0" rIns="0" tIns="0" bIns="0">
            <a:spAutoFit/>
          </a:bodyPr>
          <a:lstStyle/>
          <a:p>
            <a:pPr>
              <a:lnSpc>
                <a:spcPct val="108000"/>
              </a:lnSpc>
              <a:spcAft>
                <a:spcPts val="0"/>
              </a:spcAft>
            </a:pPr>
            <a:r>
              <a:rPr sz="2800" b="1">
                <a:solidFill>
                  <a:srgbClr val="0E2830"/>
                </a:solidFill>
                <a:latin typeface="Outfit"/>
              </a:rPr>
              <a:t>Surplus earnings, computed the way the AD bank computes it.</a:t>
            </a:r>
          </a:p>
        </p:txBody>
      </p:sp>
      <p:sp>
        <p:nvSpPr>
          <p:cNvPr id="5" name="TextBox 4"/>
          <p:cNvSpPr txBox="1"/>
          <p:nvPr/>
        </p:nvSpPr>
        <p:spPr>
          <a:xfrm>
            <a:off x="786384" y="1920240"/>
            <a:ext cx="10515600" cy="914400"/>
          </a:xfrm>
          <a:prstGeom prst="rect">
            <a:avLst/>
          </a:prstGeom>
          <a:noFill/>
        </p:spPr>
        <p:txBody>
          <a:bodyPr wrap="square" lIns="0" rIns="0" tIns="0" bIns="0">
            <a:spAutoFit/>
          </a:bodyPr>
          <a:lstStyle/>
          <a:p>
            <a:pPr>
              <a:lnSpc>
                <a:spcPct val="142000"/>
              </a:lnSpc>
              <a:spcAft>
                <a:spcPts val="0"/>
              </a:spcAft>
            </a:pPr>
            <a:r>
              <a:rPr sz="1100" b="0">
                <a:solidFill>
                  <a:srgbClr val="33555F"/>
                </a:solidFill>
                <a:latin typeface="Plus Jakarta Sans"/>
              </a:rPr>
              <a:t>Illustrative launch phase figures, not a forecast. The structure is the regulatory one. The HTML briefing carries this as a live model.</a:t>
            </a:r>
          </a:p>
        </p:txBody>
      </p:sp>
      <p:graphicFrame>
        <p:nvGraphicFramePr>
          <p:cNvPr id="6" name="Table 5"/>
          <p:cNvGraphicFramePr>
            <a:graphicFrameLocks noGrp="1"/>
          </p:cNvGraphicFramePr>
          <p:nvPr/>
        </p:nvGraphicFramePr>
        <p:xfrm>
          <a:off x="786384" y="2395728"/>
          <a:ext cx="5989319" cy="3982212"/>
        </p:xfrm>
        <a:graphic>
          <a:graphicData uri="http://schemas.openxmlformats.org/drawingml/2006/table">
            <a:tbl>
              <a:tblPr bandRow="0" firstRow="0">
                <a:tableStyleId>{5C22544A-7EE6-4342-B048-85BDC9FD1C3A}</a:tableStyleId>
              </a:tblPr>
              <a:tblGrid>
                <a:gridCol w="3977639"/>
                <a:gridCol w="2011680"/>
              </a:tblGrid>
              <a:tr h="306324">
                <a:tc>
                  <a:txBody>
                    <a:bodyPr/>
                    <a:lstStyle/>
                    <a:p>
                      <a:pPr>
                        <a:lnSpc>
                          <a:spcPct val="120000"/>
                        </a:lnSpc>
                        <a:spcAft>
                          <a:spcPts val="0"/>
                        </a:spcAft>
                      </a:pPr>
                      <a:r>
                        <a:rPr sz="750" b="0" cap="all" spc="140">
                          <a:solidFill>
                            <a:srgbClr val="8AA6AE"/>
                          </a:solidFill>
                          <a:latin typeface="IBM Plex Mono"/>
                        </a:rPr>
                        <a:t>Surplus earnings for the month</a:t>
                      </a:r>
                    </a:p>
                  </a:txBody>
                  <a:tcPr marL="54864" marR="54864" marT="36576" marB="36576" anchor="b">
                    <a:solidFill>
                      <a:srgbClr val="FBFDFE"/>
                    </a:solidFill>
                  </a:tcPr>
                </a:tc>
                <a:tc>
                  <a:txBody>
                    <a:bodyPr/>
                    <a:lstStyle/>
                    <a:p>
                      <a:pPr>
                        <a:lnSpc>
                          <a:spcPct val="120000"/>
                        </a:lnSpc>
                        <a:spcAft>
                          <a:spcPts val="0"/>
                        </a:spcAft>
                      </a:pPr>
                      <a:r>
                        <a:rPr sz="750" b="0" cap="all" spc="140">
                          <a:solidFill>
                            <a:srgbClr val="8AA6AE"/>
                          </a:solidFill>
                          <a:latin typeface="IBM Plex Mono"/>
                        </a:rPr>
                        <a:t>Amount, BDT</a:t>
                      </a:r>
                    </a:p>
                  </a:txBody>
                  <a:tcPr marL="54864" marR="54864" marT="36576" marB="36576" anchor="b">
                    <a:solidFill>
                      <a:srgbClr val="FBFDFE"/>
                    </a:solidFill>
                  </a:tcPr>
                </a:tc>
              </a:tr>
              <a:tr h="306324">
                <a:tc>
                  <a:txBody>
                    <a:bodyPr/>
                    <a:lstStyle/>
                    <a:p>
                      <a:pPr>
                        <a:lnSpc>
                          <a:spcPct val="130000"/>
                        </a:lnSpc>
                        <a:spcAft>
                          <a:spcPts val="0"/>
                        </a:spcAft>
                      </a:pPr>
                      <a:r>
                        <a:rPr sz="900" b="0">
                          <a:solidFill>
                            <a:srgbClr val="33555F"/>
                          </a:solidFill>
                          <a:latin typeface="Plus Jakarta Sans"/>
                        </a:rPr>
                        <a:t>Passenger sales collection, BSP</a:t>
                      </a:r>
                    </a:p>
                  </a:txBody>
                  <a:tcPr marL="54864" marR="54864" marT="45720" marB="45720" anchor="t">
                    <a:solidFill>
                      <a:srgbClr val="FFFFFF"/>
                    </a:solidFill>
                  </a:tcPr>
                </a:tc>
                <a:tc>
                  <a:txBody>
                    <a:bodyPr/>
                    <a:lstStyle/>
                    <a:p>
                      <a:pPr>
                        <a:lnSpc>
                          <a:spcPct val="130000"/>
                        </a:lnSpc>
                        <a:spcAft>
                          <a:spcPts val="0"/>
                        </a:spcAft>
                      </a:pPr>
                      <a:r>
                        <a:rPr sz="900" b="0">
                          <a:solidFill>
                            <a:srgbClr val="33555F"/>
                          </a:solidFill>
                          <a:latin typeface="IBM Plex Mono"/>
                        </a:rPr>
                        <a:t>62,000,000</a:t>
                      </a:r>
                    </a:p>
                  </a:txBody>
                  <a:tcPr marL="54864" marR="54864" marT="45720" marB="45720" anchor="t">
                    <a:solidFill>
                      <a:srgbClr val="FFFFFF"/>
                    </a:solidFill>
                  </a:tcPr>
                </a:tc>
              </a:tr>
              <a:tr h="306324">
                <a:tc>
                  <a:txBody>
                    <a:bodyPr/>
                    <a:lstStyle/>
                    <a:p>
                      <a:pPr>
                        <a:lnSpc>
                          <a:spcPct val="130000"/>
                        </a:lnSpc>
                        <a:spcAft>
                          <a:spcPts val="0"/>
                        </a:spcAft>
                      </a:pPr>
                      <a:r>
                        <a:rPr sz="900" b="0">
                          <a:solidFill>
                            <a:srgbClr val="33555F"/>
                          </a:solidFill>
                          <a:latin typeface="Plus Jakarta Sans"/>
                        </a:rPr>
                        <a:t>Add cargo sales collection, CASS</a:t>
                      </a:r>
                    </a:p>
                  </a:txBody>
                  <a:tcPr marL="54864" marR="54864" marT="45720" marB="45720" anchor="t">
                    <a:solidFill>
                      <a:srgbClr val="FBFDFE"/>
                    </a:solidFill>
                  </a:tcPr>
                </a:tc>
                <a:tc>
                  <a:txBody>
                    <a:bodyPr/>
                    <a:lstStyle/>
                    <a:p>
                      <a:pPr>
                        <a:lnSpc>
                          <a:spcPct val="130000"/>
                        </a:lnSpc>
                        <a:spcAft>
                          <a:spcPts val="0"/>
                        </a:spcAft>
                      </a:pPr>
                      <a:r>
                        <a:rPr sz="900" b="0">
                          <a:solidFill>
                            <a:srgbClr val="33555F"/>
                          </a:solidFill>
                          <a:latin typeface="IBM Plex Mono"/>
                        </a:rPr>
                        <a:t>18,000,000</a:t>
                      </a:r>
                    </a:p>
                  </a:txBody>
                  <a:tcPr marL="54864" marR="54864" marT="45720" marB="45720" anchor="t">
                    <a:solidFill>
                      <a:srgbClr val="FBFDFE"/>
                    </a:solidFill>
                  </a:tcPr>
                </a:tc>
              </a:tr>
              <a:tr h="306324">
                <a:tc>
                  <a:txBody>
                    <a:bodyPr/>
                    <a:lstStyle/>
                    <a:p>
                      <a:pPr>
                        <a:lnSpc>
                          <a:spcPct val="130000"/>
                        </a:lnSpc>
                        <a:spcAft>
                          <a:spcPts val="0"/>
                        </a:spcAft>
                      </a:pPr>
                      <a:r>
                        <a:rPr sz="900" b="0">
                          <a:solidFill>
                            <a:srgbClr val="33555F"/>
                          </a:solidFill>
                          <a:latin typeface="Plus Jakarta Sans"/>
                        </a:rPr>
                        <a:t>Add airline over the counter sales</a:t>
                      </a:r>
                    </a:p>
                  </a:txBody>
                  <a:tcPr marL="54864" marR="54864" marT="45720" marB="45720" anchor="t">
                    <a:solidFill>
                      <a:srgbClr val="FFFFFF"/>
                    </a:solidFill>
                  </a:tcPr>
                </a:tc>
                <a:tc>
                  <a:txBody>
                    <a:bodyPr/>
                    <a:lstStyle/>
                    <a:p>
                      <a:pPr>
                        <a:lnSpc>
                          <a:spcPct val="130000"/>
                        </a:lnSpc>
                        <a:spcAft>
                          <a:spcPts val="0"/>
                        </a:spcAft>
                      </a:pPr>
                      <a:r>
                        <a:rPr sz="900" b="0">
                          <a:solidFill>
                            <a:srgbClr val="33555F"/>
                          </a:solidFill>
                          <a:latin typeface="IBM Plex Mono"/>
                        </a:rPr>
                        <a:t>4,500,000</a:t>
                      </a:r>
                    </a:p>
                  </a:txBody>
                  <a:tcPr marL="54864" marR="54864" marT="45720" marB="45720" anchor="t">
                    <a:solidFill>
                      <a:srgbClr val="FFFFFF"/>
                    </a:solidFill>
                  </a:tcPr>
                </a:tc>
              </a:tr>
              <a:tr h="306324">
                <a:tc>
                  <a:txBody>
                    <a:bodyPr/>
                    <a:lstStyle/>
                    <a:p>
                      <a:pPr>
                        <a:lnSpc>
                          <a:spcPct val="130000"/>
                        </a:lnSpc>
                        <a:spcAft>
                          <a:spcPts val="0"/>
                        </a:spcAft>
                      </a:pPr>
                      <a:r>
                        <a:rPr sz="900" b="0">
                          <a:solidFill>
                            <a:srgbClr val="33555F"/>
                          </a:solidFill>
                          <a:latin typeface="Plus Jakarta Sans"/>
                        </a:rPr>
                        <a:t>Add miscellaneous receipts</a:t>
                      </a:r>
                    </a:p>
                  </a:txBody>
                  <a:tcPr marL="54864" marR="54864" marT="45720" marB="45720" anchor="t">
                    <a:solidFill>
                      <a:srgbClr val="FBFDFE"/>
                    </a:solidFill>
                  </a:tcPr>
                </a:tc>
                <a:tc>
                  <a:txBody>
                    <a:bodyPr/>
                    <a:lstStyle/>
                    <a:p>
                      <a:pPr>
                        <a:lnSpc>
                          <a:spcPct val="130000"/>
                        </a:lnSpc>
                        <a:spcAft>
                          <a:spcPts val="0"/>
                        </a:spcAft>
                      </a:pPr>
                      <a:r>
                        <a:rPr sz="900" b="0">
                          <a:solidFill>
                            <a:srgbClr val="33555F"/>
                          </a:solidFill>
                          <a:latin typeface="IBM Plex Mono"/>
                        </a:rPr>
                        <a:t>1,200,000</a:t>
                      </a:r>
                    </a:p>
                  </a:txBody>
                  <a:tcPr marL="54864" marR="54864" marT="45720" marB="45720" anchor="t">
                    <a:solidFill>
                      <a:srgbClr val="FBFDFE"/>
                    </a:solidFill>
                  </a:tcPr>
                </a:tc>
              </a:tr>
              <a:tr h="306324">
                <a:tc>
                  <a:txBody>
                    <a:bodyPr/>
                    <a:lstStyle/>
                    <a:p>
                      <a:pPr>
                        <a:lnSpc>
                          <a:spcPct val="130000"/>
                        </a:lnSpc>
                        <a:spcAft>
                          <a:spcPts val="0"/>
                        </a:spcAft>
                      </a:pPr>
                      <a:r>
                        <a:rPr sz="900" b="0">
                          <a:solidFill>
                            <a:srgbClr val="33555F"/>
                          </a:solidFill>
                          <a:latin typeface="Plus Jakarta Sans"/>
                        </a:rPr>
                        <a:t>A.  Total collection for the month</a:t>
                      </a:r>
                    </a:p>
                  </a:txBody>
                  <a:tcPr marL="54864" marR="54864" marT="45720" marB="45720" anchor="t">
                    <a:solidFill>
                      <a:srgbClr val="FFFFFF"/>
                    </a:solidFill>
                  </a:tcPr>
                </a:tc>
                <a:tc>
                  <a:txBody>
                    <a:bodyPr/>
                    <a:lstStyle/>
                    <a:p>
                      <a:pPr>
                        <a:lnSpc>
                          <a:spcPct val="130000"/>
                        </a:lnSpc>
                        <a:spcAft>
                          <a:spcPts val="0"/>
                        </a:spcAft>
                      </a:pPr>
                      <a:r>
                        <a:rPr sz="900" b="0">
                          <a:solidFill>
                            <a:srgbClr val="33555F"/>
                          </a:solidFill>
                          <a:latin typeface="IBM Plex Mono"/>
                        </a:rPr>
                        <a:t>85,700,000</a:t>
                      </a:r>
                    </a:p>
                  </a:txBody>
                  <a:tcPr marL="54864" marR="54864" marT="45720" marB="45720" anchor="t">
                    <a:solidFill>
                      <a:srgbClr val="FFFFFF"/>
                    </a:solidFill>
                  </a:tcPr>
                </a:tc>
              </a:tr>
              <a:tr h="306324">
                <a:tc>
                  <a:txBody>
                    <a:bodyPr/>
                    <a:lstStyle/>
                    <a:p>
                      <a:pPr>
                        <a:lnSpc>
                          <a:spcPct val="130000"/>
                        </a:lnSpc>
                        <a:spcAft>
                          <a:spcPts val="0"/>
                        </a:spcAft>
                      </a:pPr>
                      <a:r>
                        <a:rPr sz="900" b="0">
                          <a:solidFill>
                            <a:srgbClr val="33555F"/>
                          </a:solidFill>
                          <a:latin typeface="Plus Jakarta Sans"/>
                        </a:rPr>
                        <a:t>Less disbursements</a:t>
                      </a:r>
                    </a:p>
                  </a:txBody>
                  <a:tcPr marL="54864" marR="54864" marT="45720" marB="45720" anchor="t">
                    <a:solidFill>
                      <a:srgbClr val="FBFDFE"/>
                    </a:solidFill>
                  </a:tcPr>
                </a:tc>
                <a:tc>
                  <a:txBody>
                    <a:bodyPr/>
                    <a:lstStyle/>
                    <a:p>
                      <a:pPr>
                        <a:lnSpc>
                          <a:spcPct val="130000"/>
                        </a:lnSpc>
                        <a:spcAft>
                          <a:spcPts val="0"/>
                        </a:spcAft>
                      </a:pPr>
                      <a:r>
                        <a:rPr sz="900" b="0">
                          <a:solidFill>
                            <a:srgbClr val="33555F"/>
                          </a:solidFill>
                          <a:latin typeface="IBM Plex Mono"/>
                        </a:rPr>
                        <a:t>41,000,000</a:t>
                      </a:r>
                    </a:p>
                  </a:txBody>
                  <a:tcPr marL="54864" marR="54864" marT="45720" marB="45720" anchor="t">
                    <a:solidFill>
                      <a:srgbClr val="FBFDFE"/>
                    </a:solidFill>
                  </a:tcPr>
                </a:tc>
              </a:tr>
              <a:tr h="306324">
                <a:tc>
                  <a:txBody>
                    <a:bodyPr/>
                    <a:lstStyle/>
                    <a:p>
                      <a:pPr>
                        <a:lnSpc>
                          <a:spcPct val="130000"/>
                        </a:lnSpc>
                        <a:spcAft>
                          <a:spcPts val="0"/>
                        </a:spcAft>
                      </a:pPr>
                      <a:r>
                        <a:rPr sz="900" b="0">
                          <a:solidFill>
                            <a:srgbClr val="33555F"/>
                          </a:solidFill>
                          <a:latin typeface="Plus Jakarta Sans"/>
                        </a:rPr>
                        <a:t>Less other adjustments</a:t>
                      </a:r>
                    </a:p>
                  </a:txBody>
                  <a:tcPr marL="54864" marR="54864" marT="45720" marB="45720" anchor="t">
                    <a:solidFill>
                      <a:srgbClr val="FFFFFF"/>
                    </a:solidFill>
                  </a:tcPr>
                </a:tc>
                <a:tc>
                  <a:txBody>
                    <a:bodyPr/>
                    <a:lstStyle/>
                    <a:p>
                      <a:pPr>
                        <a:lnSpc>
                          <a:spcPct val="130000"/>
                        </a:lnSpc>
                        <a:spcAft>
                          <a:spcPts val="0"/>
                        </a:spcAft>
                      </a:pPr>
                      <a:r>
                        <a:rPr sz="900" b="0">
                          <a:solidFill>
                            <a:srgbClr val="33555F"/>
                          </a:solidFill>
                          <a:latin typeface="IBM Plex Mono"/>
                        </a:rPr>
                        <a:t>2,300,000</a:t>
                      </a:r>
                    </a:p>
                  </a:txBody>
                  <a:tcPr marL="54864" marR="54864" marT="45720" marB="45720" anchor="t">
                    <a:solidFill>
                      <a:srgbClr val="FFFFFF"/>
                    </a:solidFill>
                  </a:tcPr>
                </a:tc>
              </a:tr>
              <a:tr h="306324">
                <a:tc>
                  <a:txBody>
                    <a:bodyPr/>
                    <a:lstStyle/>
                    <a:p>
                      <a:pPr>
                        <a:lnSpc>
                          <a:spcPct val="130000"/>
                        </a:lnSpc>
                        <a:spcAft>
                          <a:spcPts val="0"/>
                        </a:spcAft>
                      </a:pPr>
                      <a:r>
                        <a:rPr sz="900" b="0">
                          <a:solidFill>
                            <a:srgbClr val="33555F"/>
                          </a:solidFill>
                          <a:latin typeface="Plus Jakarta Sans"/>
                        </a:rPr>
                        <a:t>B.  Total disbursement for the month</a:t>
                      </a:r>
                    </a:p>
                  </a:txBody>
                  <a:tcPr marL="54864" marR="54864" marT="45720" marB="45720" anchor="t">
                    <a:solidFill>
                      <a:srgbClr val="FBFDFE"/>
                    </a:solidFill>
                  </a:tcPr>
                </a:tc>
                <a:tc>
                  <a:txBody>
                    <a:bodyPr/>
                    <a:lstStyle/>
                    <a:p>
                      <a:pPr>
                        <a:lnSpc>
                          <a:spcPct val="130000"/>
                        </a:lnSpc>
                        <a:spcAft>
                          <a:spcPts val="0"/>
                        </a:spcAft>
                      </a:pPr>
                      <a:r>
                        <a:rPr sz="900" b="0">
                          <a:solidFill>
                            <a:srgbClr val="33555F"/>
                          </a:solidFill>
                          <a:latin typeface="IBM Plex Mono"/>
                        </a:rPr>
                        <a:t>43,300,000</a:t>
                      </a:r>
                    </a:p>
                  </a:txBody>
                  <a:tcPr marL="54864" marR="54864" marT="45720" marB="45720" anchor="t">
                    <a:solidFill>
                      <a:srgbClr val="FBFDFE"/>
                    </a:solidFill>
                  </a:tcPr>
                </a:tc>
              </a:tr>
              <a:tr h="306324">
                <a:tc>
                  <a:txBody>
                    <a:bodyPr/>
                    <a:lstStyle/>
                    <a:p>
                      <a:pPr>
                        <a:lnSpc>
                          <a:spcPct val="130000"/>
                        </a:lnSpc>
                        <a:spcAft>
                          <a:spcPts val="0"/>
                        </a:spcAft>
                      </a:pPr>
                      <a:r>
                        <a:rPr sz="900" b="0">
                          <a:solidFill>
                            <a:srgbClr val="33555F"/>
                          </a:solidFill>
                          <a:latin typeface="Plus Jakarta Sans"/>
                        </a:rPr>
                        <a:t>Provision for refund, current month</a:t>
                      </a:r>
                    </a:p>
                  </a:txBody>
                  <a:tcPr marL="54864" marR="54864" marT="45720" marB="45720" anchor="t">
                    <a:solidFill>
                      <a:srgbClr val="FFFFFF"/>
                    </a:solidFill>
                  </a:tcPr>
                </a:tc>
                <a:tc>
                  <a:txBody>
                    <a:bodyPr/>
                    <a:lstStyle/>
                    <a:p>
                      <a:pPr>
                        <a:lnSpc>
                          <a:spcPct val="130000"/>
                        </a:lnSpc>
                        <a:spcAft>
                          <a:spcPts val="0"/>
                        </a:spcAft>
                      </a:pPr>
                      <a:r>
                        <a:rPr sz="900" b="0">
                          <a:solidFill>
                            <a:srgbClr val="33555F"/>
                          </a:solidFill>
                          <a:latin typeface="IBM Plex Mono"/>
                        </a:rPr>
                        <a:t>6,650,000</a:t>
                      </a:r>
                    </a:p>
                  </a:txBody>
                  <a:tcPr marL="54864" marR="54864" marT="45720" marB="45720" anchor="t">
                    <a:solidFill>
                      <a:srgbClr val="FFFFFF"/>
                    </a:solidFill>
                  </a:tcPr>
                </a:tc>
              </a:tr>
              <a:tr h="306324">
                <a:tc>
                  <a:txBody>
                    <a:bodyPr/>
                    <a:lstStyle/>
                    <a:p>
                      <a:pPr>
                        <a:lnSpc>
                          <a:spcPct val="130000"/>
                        </a:lnSpc>
                        <a:spcAft>
                          <a:spcPts val="0"/>
                        </a:spcAft>
                      </a:pPr>
                      <a:r>
                        <a:rPr sz="900" b="0">
                          <a:solidFill>
                            <a:srgbClr val="33555F"/>
                          </a:solidFill>
                          <a:latin typeface="Plus Jakarta Sans"/>
                        </a:rPr>
                        <a:t>Less unused provision, prior period</a:t>
                      </a:r>
                    </a:p>
                  </a:txBody>
                  <a:tcPr marL="54864" marR="54864" marT="45720" marB="45720" anchor="t">
                    <a:solidFill>
                      <a:srgbClr val="FBFDFE"/>
                    </a:solidFill>
                  </a:tcPr>
                </a:tc>
                <a:tc>
                  <a:txBody>
                    <a:bodyPr/>
                    <a:lstStyle/>
                    <a:p>
                      <a:pPr>
                        <a:lnSpc>
                          <a:spcPct val="130000"/>
                        </a:lnSpc>
                        <a:spcAft>
                          <a:spcPts val="0"/>
                        </a:spcAft>
                      </a:pPr>
                      <a:r>
                        <a:rPr sz="900" b="0">
                          <a:solidFill>
                            <a:srgbClr val="33555F"/>
                          </a:solidFill>
                          <a:latin typeface="IBM Plex Mono"/>
                        </a:rPr>
                        <a:t>5,900,000</a:t>
                      </a:r>
                    </a:p>
                  </a:txBody>
                  <a:tcPr marL="54864" marR="54864" marT="45720" marB="45720" anchor="t">
                    <a:solidFill>
                      <a:srgbClr val="FBFDFE"/>
                    </a:solidFill>
                  </a:tcPr>
                </a:tc>
              </a:tr>
              <a:tr h="306324">
                <a:tc>
                  <a:txBody>
                    <a:bodyPr/>
                    <a:lstStyle/>
                    <a:p>
                      <a:pPr>
                        <a:lnSpc>
                          <a:spcPct val="130000"/>
                        </a:lnSpc>
                        <a:spcAft>
                          <a:spcPts val="0"/>
                        </a:spcAft>
                      </a:pPr>
                      <a:r>
                        <a:rPr sz="900" b="0">
                          <a:solidFill>
                            <a:srgbClr val="33555F"/>
                          </a:solidFill>
                          <a:latin typeface="Plus Jakarta Sans"/>
                        </a:rPr>
                        <a:t>C.  Net provision</a:t>
                      </a:r>
                    </a:p>
                  </a:txBody>
                  <a:tcPr marL="54864" marR="54864" marT="45720" marB="45720" anchor="t">
                    <a:solidFill>
                      <a:srgbClr val="FFFFFF"/>
                    </a:solidFill>
                  </a:tcPr>
                </a:tc>
                <a:tc>
                  <a:txBody>
                    <a:bodyPr/>
                    <a:lstStyle/>
                    <a:p>
                      <a:pPr>
                        <a:lnSpc>
                          <a:spcPct val="130000"/>
                        </a:lnSpc>
                        <a:spcAft>
                          <a:spcPts val="0"/>
                        </a:spcAft>
                      </a:pPr>
                      <a:r>
                        <a:rPr sz="900" b="0">
                          <a:solidFill>
                            <a:srgbClr val="33555F"/>
                          </a:solidFill>
                          <a:latin typeface="IBM Plex Mono"/>
                        </a:rPr>
                        <a:t>750,000</a:t>
                      </a:r>
                    </a:p>
                  </a:txBody>
                  <a:tcPr marL="54864" marR="54864" marT="45720" marB="45720" anchor="t">
                    <a:solidFill>
                      <a:srgbClr val="FFFFFF"/>
                    </a:solidFill>
                  </a:tcPr>
                </a:tc>
              </a:tr>
              <a:tr h="306324">
                <a:tc>
                  <a:txBody>
                    <a:bodyPr/>
                    <a:lstStyle/>
                    <a:p>
                      <a:pPr>
                        <a:lnSpc>
                          <a:spcPct val="130000"/>
                        </a:lnSpc>
                        <a:spcAft>
                          <a:spcPts val="0"/>
                        </a:spcAft>
                      </a:pPr>
                      <a:r>
                        <a:rPr sz="900" b="0">
                          <a:solidFill>
                            <a:srgbClr val="0A5F65"/>
                          </a:solidFill>
                          <a:latin typeface="Plus Jakarta Sans"/>
                        </a:rPr>
                        <a:t>Net surplus earnings,  A less B less C</a:t>
                      </a:r>
                    </a:p>
                  </a:txBody>
                  <a:tcPr marL="54864" marR="54864" marT="45720" marB="45720" anchor="t">
                    <a:solidFill>
                      <a:srgbClr val="DCF2F3"/>
                    </a:solidFill>
                  </a:tcPr>
                </a:tc>
                <a:tc>
                  <a:txBody>
                    <a:bodyPr/>
                    <a:lstStyle/>
                    <a:p>
                      <a:pPr>
                        <a:lnSpc>
                          <a:spcPct val="130000"/>
                        </a:lnSpc>
                        <a:spcAft>
                          <a:spcPts val="0"/>
                        </a:spcAft>
                      </a:pPr>
                      <a:r>
                        <a:rPr sz="900" b="0">
                          <a:solidFill>
                            <a:srgbClr val="0A5F65"/>
                          </a:solidFill>
                          <a:latin typeface="IBM Plex Mono"/>
                        </a:rPr>
                        <a:t>41,650,000</a:t>
                      </a:r>
                    </a:p>
                  </a:txBody>
                  <a:tcPr marL="54864" marR="54864" marT="45720" marB="45720" anchor="t">
                    <a:solidFill>
                      <a:srgbClr val="DCF2F3"/>
                    </a:solidFill>
                  </a:tcPr>
                </a:tc>
              </a:tr>
            </a:tbl>
          </a:graphicData>
        </a:graphic>
      </p:graphicFrame>
      <p:sp>
        <p:nvSpPr>
          <p:cNvPr id="7" name="Rounded Rectangle 6"/>
          <p:cNvSpPr/>
          <p:nvPr/>
        </p:nvSpPr>
        <p:spPr>
          <a:xfrm>
            <a:off x="7059168" y="2395728"/>
            <a:ext cx="4343400" cy="1481328"/>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78624" y="2578608"/>
            <a:ext cx="3904487" cy="1115568"/>
          </a:xfrm>
          <a:prstGeom prst="rect">
            <a:avLst/>
          </a:prstGeom>
          <a:noFill/>
        </p:spPr>
        <p:txBody>
          <a:bodyPr wrap="square" lIns="0" rIns="0" tIns="0" bIns="0">
            <a:spAutoFit/>
          </a:bodyPr>
          <a:lstStyle/>
          <a:p>
            <a:pPr>
              <a:lnSpc>
                <a:spcPct val="135000"/>
              </a:lnSpc>
              <a:spcAft>
                <a:spcPts val="500"/>
              </a:spcAft>
            </a:pPr>
            <a:r>
              <a:rPr sz="800" b="0" cap="all" spc="180">
                <a:solidFill>
                  <a:srgbClr val="0C7A80"/>
                </a:solidFill>
                <a:latin typeface="IBM Plex Mono"/>
              </a:rPr>
              <a:t>The remittable figure</a:t>
            </a:r>
          </a:p>
          <a:p>
            <a:pPr>
              <a:lnSpc>
                <a:spcPct val="116000"/>
              </a:lnSpc>
              <a:spcAft>
                <a:spcPts val="500"/>
              </a:spcAft>
            </a:pPr>
            <a:r>
              <a:rPr sz="1700" b="1">
                <a:solidFill>
                  <a:srgbClr val="0E2830"/>
                </a:solidFill>
                <a:latin typeface="Outfit"/>
              </a:rPr>
              <a:t>BDT 41,650,000</a:t>
            </a:r>
          </a:p>
          <a:p>
            <a:pPr>
              <a:lnSpc>
                <a:spcPct val="140000"/>
              </a:lnSpc>
              <a:spcAft>
                <a:spcPts val="0"/>
              </a:spcAft>
            </a:pPr>
            <a:r>
              <a:rPr sz="900" b="0">
                <a:solidFill>
                  <a:srgbClr val="33555F"/>
                </a:solidFill>
                <a:latin typeface="Plus Jakarta Sans"/>
              </a:rPr>
              <a:t>Approximately USD 340,000 at a modelled conversion rate of 122.50. The AD bank applies its own same day rate.</a:t>
            </a:r>
          </a:p>
        </p:txBody>
      </p:sp>
      <p:sp>
        <p:nvSpPr>
          <p:cNvPr id="9" name="Rounded Rectangle 8"/>
          <p:cNvSpPr/>
          <p:nvPr/>
        </p:nvSpPr>
        <p:spPr>
          <a:xfrm>
            <a:off x="7059168" y="4005072"/>
            <a:ext cx="4343400" cy="1298448"/>
          </a:xfrm>
          <a:prstGeom prst="roundRect">
            <a:avLst>
              <a:gd name="adj" fmla="val 5500"/>
            </a:avLst>
          </a:prstGeom>
          <a:gradFill rotWithShape="1">
            <a:gsLst>
              <a:gs pos="0">
                <a:srgbClr val="FCE2F0"/>
              </a:gs>
              <a:gs pos="62000">
                <a:srgbClr val="FFFFFF"/>
              </a:gs>
            </a:gsLst>
            <a:lin scaled="0" ang="2700000"/>
          </a:gradFill>
          <a:ln w="12700">
            <a:solidFill>
              <a:srgbClr val="F49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78624" y="4187952"/>
            <a:ext cx="3904487" cy="932688"/>
          </a:xfrm>
          <a:prstGeom prst="rect">
            <a:avLst/>
          </a:prstGeom>
          <a:noFill/>
        </p:spPr>
        <p:txBody>
          <a:bodyPr wrap="square" lIns="0" rIns="0" tIns="0" bIns="0">
            <a:spAutoFit/>
          </a:bodyPr>
          <a:lstStyle/>
          <a:p>
            <a:pPr>
              <a:lnSpc>
                <a:spcPct val="135000"/>
              </a:lnSpc>
              <a:spcAft>
                <a:spcPts val="500"/>
              </a:spcAft>
            </a:pPr>
            <a:r>
              <a:rPr sz="800" b="0" cap="all" spc="180">
                <a:solidFill>
                  <a:srgbClr val="C10073"/>
                </a:solidFill>
                <a:latin typeface="IBM Plex Mono"/>
              </a:rPr>
              <a:t>Provision base</a:t>
            </a:r>
          </a:p>
          <a:p>
            <a:pPr>
              <a:lnSpc>
                <a:spcPct val="116000"/>
              </a:lnSpc>
              <a:spcAft>
                <a:spcPts val="500"/>
              </a:spcAft>
            </a:pPr>
            <a:r>
              <a:rPr sz="1050" b="1">
                <a:solidFill>
                  <a:srgbClr val="0E2830"/>
                </a:solidFill>
                <a:latin typeface="Outfit"/>
              </a:rPr>
              <a:t>BSP passenger sales plus counter sales</a:t>
            </a:r>
          </a:p>
          <a:p>
            <a:pPr>
              <a:lnSpc>
                <a:spcPct val="140000"/>
              </a:lnSpc>
              <a:spcAft>
                <a:spcPts val="0"/>
              </a:spcAft>
            </a:pPr>
            <a:r>
              <a:rPr sz="850" b="0">
                <a:solidFill>
                  <a:srgbClr val="33555F"/>
                </a:solidFill>
                <a:latin typeface="Plus Jakarta Sans"/>
              </a:rPr>
              <a:t>Treating miscellaneous receipts as passenger revenue widens the base and lowers the remittable figure. Agree the base with the AD bank once, then hold it constant.</a:t>
            </a:r>
          </a:p>
        </p:txBody>
      </p:sp>
      <p:sp>
        <p:nvSpPr>
          <p:cNvPr id="11" name="Rounded Rectangle 10"/>
          <p:cNvSpPr/>
          <p:nvPr/>
        </p:nvSpPr>
        <p:spPr>
          <a:xfrm>
            <a:off x="7059168" y="5431536"/>
            <a:ext cx="4343400" cy="1097280"/>
          </a:xfrm>
          <a:prstGeom prst="roundRect">
            <a:avLst>
              <a:gd name="adj" fmla="val 5500"/>
            </a:avLst>
          </a:prstGeom>
          <a:gradFill rotWithShape="1">
            <a:gsLst>
              <a:gs pos="0">
                <a:srgbClr val="FBF1D6"/>
              </a:gs>
              <a:gs pos="62000">
                <a:srgbClr val="FFFFFF"/>
              </a:gs>
            </a:gsLst>
            <a:lin scaled="0" ang="2700000"/>
          </a:gradFill>
          <a:ln w="12700">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78624" y="5614416"/>
            <a:ext cx="3904487" cy="731519"/>
          </a:xfrm>
          <a:prstGeom prst="rect">
            <a:avLst/>
          </a:prstGeom>
          <a:noFill/>
        </p:spPr>
        <p:txBody>
          <a:bodyPr wrap="square" lIns="0" rIns="0" tIns="0" bIns="0">
            <a:spAutoFit/>
          </a:bodyPr>
          <a:lstStyle/>
          <a:p>
            <a:pPr>
              <a:lnSpc>
                <a:spcPct val="135000"/>
              </a:lnSpc>
              <a:spcAft>
                <a:spcPts val="500"/>
              </a:spcAft>
            </a:pPr>
            <a:r>
              <a:rPr sz="800" b="0" cap="all" spc="180">
                <a:solidFill>
                  <a:srgbClr val="8A6608"/>
                </a:solidFill>
                <a:latin typeface="IBM Plex Mono"/>
              </a:rPr>
              <a:t>Regulatory minimum</a:t>
            </a:r>
          </a:p>
          <a:p>
            <a:pPr>
              <a:lnSpc>
                <a:spcPct val="116000"/>
              </a:lnSpc>
              <a:spcAft>
                <a:spcPts val="500"/>
              </a:spcAft>
            </a:pPr>
            <a:r>
              <a:rPr sz="1050" b="1">
                <a:solidFill>
                  <a:srgbClr val="0E2830"/>
                </a:solidFill>
                <a:latin typeface="Outfit"/>
              </a:rPr>
              <a:t>Ten percent, and it may be held deeper</a:t>
            </a:r>
          </a:p>
          <a:p>
            <a:pPr>
              <a:lnSpc>
                <a:spcPct val="140000"/>
              </a:lnSpc>
              <a:spcAft>
                <a:spcPts val="0"/>
              </a:spcAft>
            </a:pPr>
            <a:r>
              <a:rPr sz="850" b="0">
                <a:solidFill>
                  <a:srgbClr val="33555F"/>
                </a:solidFill>
                <a:latin typeface="Plus Jakarta Sans"/>
              </a:rPr>
              <a:t>The provision floor is ten percent of passenger revenue. A carrier may hold a deeper buffer.</a:t>
            </a:r>
          </a:p>
        </p:txBody>
      </p:sp>
      <p:sp>
        <p:nvSpPr>
          <p:cNvPr id="13" name="TextBox 12"/>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566928"/>
            <a:ext cx="10618927" cy="274320"/>
          </a:xfrm>
          <a:prstGeom prst="rect">
            <a:avLst/>
          </a:prstGeom>
          <a:noFill/>
        </p:spPr>
        <p:txBody>
          <a:bodyPr wrap="square" lIns="0" rIns="0" tIns="0" bIns="0">
            <a:spAutoFit/>
          </a:bodyPr>
          <a:lstStyle/>
          <a:p>
            <a:pPr>
              <a:lnSpc>
                <a:spcPct val="135000"/>
              </a:lnSpc>
              <a:spcAft>
                <a:spcPts val="0"/>
              </a:spcAft>
            </a:pPr>
            <a:r>
              <a:rPr sz="1000" b="0" cap="all" spc="240">
                <a:solidFill>
                  <a:srgbClr val="C10073"/>
                </a:solidFill>
                <a:latin typeface="IBM Plex Mono"/>
              </a:rPr>
              <a:t>05  .  SPA Circular No. 02, 21 November 2021</a:t>
            </a:r>
          </a:p>
        </p:txBody>
      </p:sp>
      <p:sp>
        <p:nvSpPr>
          <p:cNvPr id="4" name="TextBox 3"/>
          <p:cNvSpPr txBox="1"/>
          <p:nvPr/>
        </p:nvSpPr>
        <p:spPr>
          <a:xfrm>
            <a:off x="786384" y="932688"/>
            <a:ext cx="10618927" cy="1371600"/>
          </a:xfrm>
          <a:prstGeom prst="rect">
            <a:avLst/>
          </a:prstGeom>
          <a:noFill/>
        </p:spPr>
        <p:txBody>
          <a:bodyPr wrap="square" lIns="0" rIns="0" tIns="0" bIns="0">
            <a:spAutoFit/>
          </a:bodyPr>
          <a:lstStyle/>
          <a:p>
            <a:pPr>
              <a:lnSpc>
                <a:spcPct val="108000"/>
              </a:lnSpc>
              <a:spcAft>
                <a:spcPts val="0"/>
              </a:spcAft>
            </a:pPr>
            <a:r>
              <a:rPr sz="2900" b="1">
                <a:solidFill>
                  <a:srgbClr val="0E2830"/>
                </a:solidFill>
                <a:latin typeface="Outfit"/>
              </a:rPr>
              <a:t>Separate accounts are the law, and the reason the file is provable.</a:t>
            </a:r>
          </a:p>
        </p:txBody>
      </p:sp>
      <p:sp>
        <p:nvSpPr>
          <p:cNvPr id="5" name="Rounded Rectangle 4"/>
          <p:cNvSpPr/>
          <p:nvPr/>
        </p:nvSpPr>
        <p:spPr>
          <a:xfrm>
            <a:off x="786384" y="2029968"/>
            <a:ext cx="5257800" cy="1965960"/>
          </a:xfrm>
          <a:prstGeom prst="roundRect">
            <a:avLst>
              <a:gd name="adj" fmla="val 5500"/>
            </a:avLst>
          </a:prstGeom>
          <a:gradFill rotWithShape="1">
            <a:gsLst>
              <a:gs pos="0">
                <a:srgbClr val="FCE2F0"/>
              </a:gs>
              <a:gs pos="62000">
                <a:srgbClr val="FFFFFF"/>
              </a:gs>
            </a:gsLst>
            <a:lin scaled="0" ang="2700000"/>
          </a:gradFill>
          <a:ln w="12700">
            <a:solidFill>
              <a:srgbClr val="F49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212848"/>
            <a:ext cx="4818888" cy="1600200"/>
          </a:xfrm>
          <a:prstGeom prst="rect">
            <a:avLst/>
          </a:prstGeom>
          <a:noFill/>
        </p:spPr>
        <p:txBody>
          <a:bodyPr wrap="square" lIns="0" rIns="0" tIns="0" bIns="0">
            <a:spAutoFit/>
          </a:bodyPr>
          <a:lstStyle/>
          <a:p>
            <a:pPr>
              <a:lnSpc>
                <a:spcPct val="135000"/>
              </a:lnSpc>
              <a:spcAft>
                <a:spcPts val="500"/>
              </a:spcAft>
            </a:pPr>
            <a:r>
              <a:rPr sz="800" b="0" cap="all" spc="180">
                <a:solidFill>
                  <a:srgbClr val="C10073"/>
                </a:solidFill>
                <a:latin typeface="IBM Plex Mono"/>
              </a:rPr>
              <a:t>What the circular decided</a:t>
            </a:r>
          </a:p>
          <a:p>
            <a:pPr>
              <a:lnSpc>
                <a:spcPct val="116000"/>
              </a:lnSpc>
              <a:spcAft>
                <a:spcPts val="500"/>
              </a:spcAft>
            </a:pPr>
            <a:r>
              <a:rPr sz="1150" b="1">
                <a:solidFill>
                  <a:srgbClr val="0E2830"/>
                </a:solidFill>
                <a:latin typeface="Outfit"/>
              </a:rPr>
              <a:t>No restriction on acting for more than one carrier</a:t>
            </a:r>
          </a:p>
          <a:p>
            <a:pPr>
              <a:lnSpc>
                <a:spcPct val="140000"/>
              </a:lnSpc>
              <a:spcAft>
                <a:spcPts val="0"/>
              </a:spcAft>
            </a:pPr>
            <a:r>
              <a:rPr sz="900" b="0">
                <a:solidFill>
                  <a:srgbClr val="33555F"/>
                </a:solidFill>
                <a:latin typeface="Plus Jakarta Sans"/>
              </a:rPr>
              <a:t>To bring discipline into remittances of surplus earnings out of respective collections, resident general sales agents must maintain separate bank accounts for each airline, to deposit collections from the respective operations.</a:t>
            </a:r>
            <a:br/>
            <a:br/>
            <a:r>
              <a:rPr sz="900" b="0">
                <a:solidFill>
                  <a:srgbClr val="33555F"/>
                </a:solidFill>
                <a:latin typeface="Plus Jakarta Sans"/>
              </a:rPr>
              <a:t>ADs were directed to move multi carrier agents into that structure within three months of issuance, so it is long settled practice.</a:t>
            </a:r>
          </a:p>
        </p:txBody>
      </p:sp>
      <p:sp>
        <p:nvSpPr>
          <p:cNvPr id="7" name="Oval 6"/>
          <p:cNvSpPr/>
          <p:nvPr/>
        </p:nvSpPr>
        <p:spPr>
          <a:xfrm>
            <a:off x="786384" y="4256532"/>
            <a:ext cx="50292" cy="50292"/>
          </a:xfrm>
          <a:prstGeom prst="ellipse">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4187952"/>
            <a:ext cx="5102352" cy="822960"/>
          </a:xfrm>
          <a:prstGeom prst="rect">
            <a:avLst/>
          </a:prstGeom>
          <a:noFill/>
        </p:spPr>
        <p:txBody>
          <a:bodyPr wrap="square" lIns="0" rIns="0" tIns="0" bIns="0">
            <a:spAutoFit/>
          </a:bodyPr>
          <a:lstStyle/>
          <a:p>
            <a:pPr>
              <a:lnSpc>
                <a:spcPct val="140000"/>
              </a:lnSpc>
              <a:spcAft>
                <a:spcPts val="0"/>
              </a:spcAft>
            </a:pPr>
            <a:r>
              <a:rPr sz="950" b="0">
                <a:solidFill>
                  <a:srgbClr val="33555F"/>
                </a:solidFill>
                <a:latin typeface="Plus Jakarta Sans"/>
              </a:rPr>
              <a:t>Vietnam Airlines collections never sit in a pooled agency account.</a:t>
            </a:r>
          </a:p>
        </p:txBody>
      </p:sp>
      <p:sp>
        <p:nvSpPr>
          <p:cNvPr id="9" name="Oval 8"/>
          <p:cNvSpPr/>
          <p:nvPr/>
        </p:nvSpPr>
        <p:spPr>
          <a:xfrm>
            <a:off x="786384" y="4527042"/>
            <a:ext cx="50292" cy="50292"/>
          </a:xfrm>
          <a:prstGeom prst="ellipse">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4458462"/>
            <a:ext cx="5102352" cy="822960"/>
          </a:xfrm>
          <a:prstGeom prst="rect">
            <a:avLst/>
          </a:prstGeom>
          <a:noFill/>
        </p:spPr>
        <p:txBody>
          <a:bodyPr wrap="square" lIns="0" rIns="0" tIns="0" bIns="0">
            <a:spAutoFit/>
          </a:bodyPr>
          <a:lstStyle/>
          <a:p>
            <a:pPr>
              <a:lnSpc>
                <a:spcPct val="140000"/>
              </a:lnSpc>
              <a:spcAft>
                <a:spcPts val="0"/>
              </a:spcAft>
            </a:pPr>
            <a:r>
              <a:rPr sz="950" b="0">
                <a:solidFill>
                  <a:srgbClr val="33555F"/>
                </a:solidFill>
                <a:latin typeface="Plus Jakarta Sans"/>
              </a:rPr>
              <a:t>The bank statement is, by itself, the evidence for condition (i) of the surplus earnings test.</a:t>
            </a:r>
          </a:p>
        </p:txBody>
      </p:sp>
      <p:sp>
        <p:nvSpPr>
          <p:cNvPr id="11" name="Oval 10"/>
          <p:cNvSpPr/>
          <p:nvPr/>
        </p:nvSpPr>
        <p:spPr>
          <a:xfrm>
            <a:off x="786384" y="4966462"/>
            <a:ext cx="50292" cy="50292"/>
          </a:xfrm>
          <a:prstGeom prst="ellipse">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4897882"/>
            <a:ext cx="5102352" cy="822960"/>
          </a:xfrm>
          <a:prstGeom prst="rect">
            <a:avLst/>
          </a:prstGeom>
          <a:noFill/>
        </p:spPr>
        <p:txBody>
          <a:bodyPr wrap="square" lIns="0" rIns="0" tIns="0" bIns="0">
            <a:spAutoFit/>
          </a:bodyPr>
          <a:lstStyle/>
          <a:p>
            <a:pPr>
              <a:lnSpc>
                <a:spcPct val="140000"/>
              </a:lnSpc>
              <a:spcAft>
                <a:spcPts val="0"/>
              </a:spcAft>
            </a:pPr>
            <a:r>
              <a:rPr sz="950" b="0">
                <a:solidFill>
                  <a:srgbClr val="33555F"/>
                </a:solidFill>
                <a:latin typeface="Plus Jakarta Sans"/>
              </a:rPr>
              <a:t>Disbursements are made from the same account, so the statement reconciles both sides.</a:t>
            </a:r>
          </a:p>
        </p:txBody>
      </p:sp>
      <p:sp>
        <p:nvSpPr>
          <p:cNvPr id="13" name="Oval 12"/>
          <p:cNvSpPr/>
          <p:nvPr/>
        </p:nvSpPr>
        <p:spPr>
          <a:xfrm>
            <a:off x="786384" y="5405882"/>
            <a:ext cx="50292" cy="50292"/>
          </a:xfrm>
          <a:prstGeom prst="ellipse">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5337301"/>
            <a:ext cx="5102352" cy="822960"/>
          </a:xfrm>
          <a:prstGeom prst="rect">
            <a:avLst/>
          </a:prstGeom>
          <a:noFill/>
        </p:spPr>
        <p:txBody>
          <a:bodyPr wrap="square" lIns="0" rIns="0" tIns="0" bIns="0">
            <a:spAutoFit/>
          </a:bodyPr>
          <a:lstStyle/>
          <a:p>
            <a:pPr>
              <a:lnSpc>
                <a:spcPct val="140000"/>
              </a:lnSpc>
              <a:spcAft>
                <a:spcPts val="0"/>
              </a:spcAft>
            </a:pPr>
            <a:r>
              <a:rPr sz="950" b="0">
                <a:solidFill>
                  <a:srgbClr val="33555F"/>
                </a:solidFill>
                <a:latin typeface="Plus Jakarta Sans"/>
              </a:rPr>
              <a:t>An inspection team can trace a single month end to end without a reconciliation schedule.</a:t>
            </a:r>
          </a:p>
        </p:txBody>
      </p:sp>
      <p:sp>
        <p:nvSpPr>
          <p:cNvPr id="15" name="Rounded Rectangle 14"/>
          <p:cNvSpPr/>
          <p:nvPr/>
        </p:nvSpPr>
        <p:spPr>
          <a:xfrm>
            <a:off x="6446520" y="2029968"/>
            <a:ext cx="4937760" cy="1965960"/>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65976" y="2212848"/>
            <a:ext cx="4498848" cy="1600200"/>
          </a:xfrm>
          <a:prstGeom prst="rect">
            <a:avLst/>
          </a:prstGeom>
          <a:noFill/>
        </p:spPr>
        <p:txBody>
          <a:bodyPr wrap="square" lIns="0" rIns="0" tIns="0" bIns="0">
            <a:spAutoFit/>
          </a:bodyPr>
          <a:lstStyle/>
          <a:p>
            <a:pPr>
              <a:lnSpc>
                <a:spcPct val="135000"/>
              </a:lnSpc>
              <a:spcAft>
                <a:spcPts val="500"/>
              </a:spcAft>
            </a:pPr>
            <a:r>
              <a:rPr sz="800" b="0" cap="all" spc="180">
                <a:solidFill>
                  <a:srgbClr val="0C7A80"/>
                </a:solidFill>
                <a:latin typeface="IBM Plex Mono"/>
              </a:rPr>
              <a:t>The AD bank's role</a:t>
            </a:r>
          </a:p>
          <a:p>
            <a:pPr>
              <a:lnSpc>
                <a:spcPct val="116000"/>
              </a:lnSpc>
              <a:spcAft>
                <a:spcPts val="500"/>
              </a:spcAft>
            </a:pPr>
            <a:r>
              <a:rPr sz="1150" b="1">
                <a:solidFill>
                  <a:srgbClr val="0E2830"/>
                </a:solidFill>
                <a:latin typeface="Outfit"/>
              </a:rPr>
              <a:t>A dedicated account and a segregated record</a:t>
            </a:r>
          </a:p>
          <a:p>
            <a:pPr>
              <a:lnSpc>
                <a:spcPct val="140000"/>
              </a:lnSpc>
              <a:spcAft>
                <a:spcPts val="0"/>
              </a:spcAft>
            </a:pPr>
            <a:r>
              <a:rPr sz="900" b="0">
                <a:solidFill>
                  <a:srgbClr val="33555F"/>
                </a:solidFill>
                <a:latin typeface="Plus Jakarta Sans"/>
              </a:rPr>
              <a:t>The Authorized Dealer bank maintains a dedicated account and transaction record for each airline, ensuring proper segregation, monitoring, disbursement, reconciliation and remittance of airline related funds.</a:t>
            </a:r>
            <a:br/>
            <a:br/>
            <a:r>
              <a:rPr sz="900" b="0">
                <a:solidFill>
                  <a:srgbClr val="33555F"/>
                </a:solidFill>
                <a:latin typeface="Plus Jakarta Sans"/>
              </a:rPr>
              <a:t>The bank then carries out the procedure on the airline's behalf and submits the remittance documents to Bangladesh Bank. It is the airline's filing agent, and the quality of the file it receives determines how fast it moves.</a:t>
            </a:r>
          </a:p>
        </p:txBody>
      </p:sp>
      <p:sp>
        <p:nvSpPr>
          <p:cNvPr id="17" name="Rounded Rectangle 16"/>
          <p:cNvSpPr/>
          <p:nvPr/>
        </p:nvSpPr>
        <p:spPr>
          <a:xfrm>
            <a:off x="6446520" y="4187952"/>
            <a:ext cx="4937760" cy="1298448"/>
          </a:xfrm>
          <a:prstGeom prst="roundRect">
            <a:avLst>
              <a:gd name="adj" fmla="val 5500"/>
            </a:avLst>
          </a:prstGeom>
          <a:gradFill rotWithShape="1">
            <a:gsLst>
              <a:gs pos="0">
                <a:srgbClr val="FBF1D6"/>
              </a:gs>
              <a:gs pos="62000">
                <a:srgbClr val="FFFFFF"/>
              </a:gs>
            </a:gsLst>
            <a:lin scaled="0" ang="2700000"/>
          </a:gradFill>
          <a:ln w="12700">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65976" y="4370832"/>
            <a:ext cx="4498848" cy="932688"/>
          </a:xfrm>
          <a:prstGeom prst="rect">
            <a:avLst/>
          </a:prstGeom>
          <a:noFill/>
        </p:spPr>
        <p:txBody>
          <a:bodyPr wrap="square" lIns="0" rIns="0" tIns="0" bIns="0">
            <a:spAutoFit/>
          </a:bodyPr>
          <a:lstStyle/>
          <a:p>
            <a:pPr>
              <a:lnSpc>
                <a:spcPct val="135000"/>
              </a:lnSpc>
              <a:spcAft>
                <a:spcPts val="500"/>
              </a:spcAft>
            </a:pPr>
            <a:r>
              <a:rPr sz="800" b="0" cap="all" spc="180">
                <a:solidFill>
                  <a:srgbClr val="8A6608"/>
                </a:solidFill>
                <a:latin typeface="IBM Plex Mono"/>
              </a:rPr>
              <a:t>Practical consequence</a:t>
            </a:r>
          </a:p>
          <a:p>
            <a:pPr>
              <a:lnSpc>
                <a:spcPct val="116000"/>
              </a:lnSpc>
              <a:spcAft>
                <a:spcPts val="500"/>
              </a:spcAft>
            </a:pPr>
            <a:r>
              <a:rPr sz="1150" b="1">
                <a:solidFill>
                  <a:srgbClr val="0E2830"/>
                </a:solidFill>
                <a:latin typeface="Outfit"/>
              </a:rPr>
              <a:t>Keep one AD relationship</a:t>
            </a:r>
          </a:p>
          <a:p>
            <a:pPr>
              <a:lnSpc>
                <a:spcPct val="140000"/>
              </a:lnSpc>
              <a:spcAft>
                <a:spcPts val="0"/>
              </a:spcAft>
            </a:pPr>
            <a:r>
              <a:rPr sz="900" b="0">
                <a:solidFill>
                  <a:srgbClr val="33555F"/>
                </a:solidFill>
                <a:latin typeface="Plus Jakarta Sans"/>
              </a:rPr>
              <a:t>Holding the foreign currency account and every remittance with a single AD bank keeps one continuous transaction history for monitoring. Splitting across banks doubles the explaining and halves the speed.</a:t>
            </a:r>
          </a:p>
        </p:txBody>
      </p:sp>
      <p:sp>
        <p:nvSpPr>
          <p:cNvPr id="19" name="TextBox 18"/>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566928"/>
            <a:ext cx="10618927" cy="274320"/>
          </a:xfrm>
          <a:prstGeom prst="rect">
            <a:avLst/>
          </a:prstGeom>
          <a:noFill/>
        </p:spPr>
        <p:txBody>
          <a:bodyPr wrap="square" lIns="0" rIns="0" tIns="0" bIns="0">
            <a:spAutoFit/>
          </a:bodyPr>
          <a:lstStyle/>
          <a:p>
            <a:pPr>
              <a:lnSpc>
                <a:spcPct val="135000"/>
              </a:lnSpc>
              <a:spcAft>
                <a:spcPts val="0"/>
              </a:spcAft>
            </a:pPr>
            <a:r>
              <a:rPr sz="1000" b="0" cap="all" spc="240">
                <a:solidFill>
                  <a:srgbClr val="0C7A80"/>
                </a:solidFill>
                <a:latin typeface="IBM Plex Mono"/>
              </a:rPr>
              <a:t>06  .  The two special cases</a:t>
            </a:r>
          </a:p>
        </p:txBody>
      </p:sp>
      <p:sp>
        <p:nvSpPr>
          <p:cNvPr id="4" name="TextBox 3"/>
          <p:cNvSpPr txBox="1"/>
          <p:nvPr/>
        </p:nvSpPr>
        <p:spPr>
          <a:xfrm>
            <a:off x="786384" y="932688"/>
            <a:ext cx="10618927" cy="1371600"/>
          </a:xfrm>
          <a:prstGeom prst="rect">
            <a:avLst/>
          </a:prstGeom>
          <a:noFill/>
        </p:spPr>
        <p:txBody>
          <a:bodyPr wrap="square" lIns="0" rIns="0" tIns="0" bIns="0">
            <a:spAutoFit/>
          </a:bodyPr>
          <a:lstStyle/>
          <a:p>
            <a:pPr>
              <a:lnSpc>
                <a:spcPct val="108000"/>
              </a:lnSpc>
              <a:spcAft>
                <a:spcPts val="0"/>
              </a:spcAft>
            </a:pPr>
            <a:r>
              <a:rPr sz="2700" b="1">
                <a:solidFill>
                  <a:srgbClr val="0E2830"/>
                </a:solidFill>
                <a:latin typeface="Outfit"/>
              </a:rPr>
              <a:t>Fuel settles in foreign exchange. Cargo freight now needs a system generated form.</a:t>
            </a:r>
          </a:p>
        </p:txBody>
      </p:sp>
      <p:sp>
        <p:nvSpPr>
          <p:cNvPr id="5" name="Rounded Rectangle 4"/>
          <p:cNvSpPr/>
          <p:nvPr/>
        </p:nvSpPr>
        <p:spPr>
          <a:xfrm>
            <a:off x="786384" y="2029968"/>
            <a:ext cx="5257800" cy="2487168"/>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212848"/>
            <a:ext cx="4818888" cy="2121408"/>
          </a:xfrm>
          <a:prstGeom prst="rect">
            <a:avLst/>
          </a:prstGeom>
          <a:noFill/>
        </p:spPr>
        <p:txBody>
          <a:bodyPr wrap="square" lIns="0" rIns="0" tIns="0" bIns="0">
            <a:spAutoFit/>
          </a:bodyPr>
          <a:lstStyle/>
          <a:p>
            <a:pPr>
              <a:lnSpc>
                <a:spcPct val="135000"/>
              </a:lnSpc>
              <a:spcAft>
                <a:spcPts val="500"/>
              </a:spcAft>
            </a:pPr>
            <a:r>
              <a:rPr sz="800" b="0" cap="all" spc="180">
                <a:solidFill>
                  <a:srgbClr val="0C7A80"/>
                </a:solidFill>
                <a:latin typeface="IBM Plex Mono"/>
              </a:rPr>
              <a:t>SPA Circular No. 01  .  15 November 2021</a:t>
            </a:r>
          </a:p>
          <a:p>
            <a:pPr>
              <a:lnSpc>
                <a:spcPct val="116000"/>
              </a:lnSpc>
              <a:spcAft>
                <a:spcPts val="500"/>
              </a:spcAft>
            </a:pPr>
            <a:r>
              <a:rPr sz="1150" b="1">
                <a:solidFill>
                  <a:srgbClr val="0E2830"/>
                </a:solidFill>
                <a:latin typeface="Outfit"/>
              </a:rPr>
              <a:t>Purchase of fuel and oil in foreign exchange</a:t>
            </a:r>
          </a:p>
          <a:p>
            <a:pPr>
              <a:lnSpc>
                <a:spcPct val="140000"/>
              </a:lnSpc>
              <a:spcAft>
                <a:spcPts val="0"/>
              </a:spcAft>
            </a:pPr>
            <a:r>
              <a:rPr sz="880" b="0">
                <a:solidFill>
                  <a:srgbClr val="33555F"/>
                </a:solidFill>
                <a:latin typeface="Plus Jakarta Sans"/>
              </a:rPr>
              <a:t>Airlines may pay local expenses from local earnings under GFET. To facilitate fuel purchase, ADs designated for outward remittance may issue drafts in foreign exchange favouring state owned fuel and oil selling companies.</a:t>
            </a:r>
            <a:br/>
            <a:br/>
            <a:r>
              <a:rPr sz="880" b="0">
                <a:solidFill>
                  <a:srgbClr val="33555F"/>
                </a:solidFill>
                <a:latin typeface="Plus Jakarta Sans"/>
              </a:rPr>
              <a:t>The equivalent taka must be shown in the disbursement statement with documentary evidence.  Payments are reported in the online TM Form monitoring system.  The receiving company may encash, or retain the amount in a margin or approved foreign currency account.</a:t>
            </a:r>
          </a:p>
        </p:txBody>
      </p:sp>
      <p:sp>
        <p:nvSpPr>
          <p:cNvPr id="7" name="Rounded Rectangle 6"/>
          <p:cNvSpPr/>
          <p:nvPr/>
        </p:nvSpPr>
        <p:spPr>
          <a:xfrm>
            <a:off x="6446520" y="2029968"/>
            <a:ext cx="4937760" cy="2487168"/>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65976" y="2212848"/>
            <a:ext cx="4498848" cy="2121408"/>
          </a:xfrm>
          <a:prstGeom prst="rect">
            <a:avLst/>
          </a:prstGeom>
          <a:noFill/>
        </p:spPr>
        <p:txBody>
          <a:bodyPr wrap="square" lIns="0" rIns="0" tIns="0" bIns="0">
            <a:spAutoFit/>
          </a:bodyPr>
          <a:lstStyle/>
          <a:p>
            <a:pPr>
              <a:lnSpc>
                <a:spcPct val="135000"/>
              </a:lnSpc>
              <a:spcAft>
                <a:spcPts val="500"/>
              </a:spcAft>
            </a:pPr>
            <a:r>
              <a:rPr sz="800" b="0" cap="all" spc="180">
                <a:solidFill>
                  <a:srgbClr val="0C7A80"/>
                </a:solidFill>
                <a:latin typeface="IBM Plex Mono"/>
              </a:rPr>
              <a:t>SPA Circular No. 03  .  9 August 2023</a:t>
            </a:r>
          </a:p>
          <a:p>
            <a:pPr>
              <a:lnSpc>
                <a:spcPct val="116000"/>
              </a:lnSpc>
              <a:spcAft>
                <a:spcPts val="500"/>
              </a:spcAft>
            </a:pPr>
            <a:r>
              <a:rPr sz="1150" b="1">
                <a:solidFill>
                  <a:srgbClr val="0E2830"/>
                </a:solidFill>
                <a:latin typeface="Outfit"/>
              </a:rPr>
              <a:t>Form FF, generated online rather than by hand</a:t>
            </a:r>
          </a:p>
          <a:p>
            <a:pPr>
              <a:lnSpc>
                <a:spcPct val="140000"/>
              </a:lnSpc>
              <a:spcAft>
                <a:spcPts val="0"/>
              </a:spcAft>
            </a:pPr>
            <a:r>
              <a:rPr sz="880" b="0">
                <a:solidFill>
                  <a:srgbClr val="33555F"/>
                </a:solidFill>
                <a:latin typeface="Plus Jakarta Sans"/>
              </a:rPr>
              <a:t>ADs no longer issue freight certificates manually. They generate them in Bangladesh Bank's own systems.</a:t>
            </a:r>
            <a:br/>
            <a:br/>
            <a:r>
              <a:rPr sz="880" b="0">
                <a:solidFill>
                  <a:srgbClr val="33555F"/>
                </a:solidFill>
                <a:latin typeface="Plus Jakarta Sans"/>
              </a:rPr>
              <a:t>Form FF Export Prepaid is generated in the Online Export Monitoring System, in favour of the exporter.  Form FF Import Collect is generated in the Online Import Monitoring System, in favour of the importer.  The exporter or importer provides the form to the airline as support for freight received in local currency, and the airline submits it to the designated AD when remitting.</a:t>
            </a:r>
          </a:p>
        </p:txBody>
      </p:sp>
      <p:sp>
        <p:nvSpPr>
          <p:cNvPr id="9" name="Rounded Rectangle 8"/>
          <p:cNvSpPr/>
          <p:nvPr/>
        </p:nvSpPr>
        <p:spPr>
          <a:xfrm>
            <a:off x="786384" y="4718304"/>
            <a:ext cx="10618927" cy="1207008"/>
          </a:xfrm>
          <a:prstGeom prst="roundRect">
            <a:avLst>
              <a:gd name="adj" fmla="val 5500"/>
            </a:avLst>
          </a:prstGeom>
          <a:gradFill rotWithShape="1">
            <a:gsLst>
              <a:gs pos="0">
                <a:srgbClr val="FBE7E2"/>
              </a:gs>
              <a:gs pos="62000">
                <a:srgbClr val="FFFFFF"/>
              </a:gs>
            </a:gsLst>
            <a:lin scaled="0" ang="2700000"/>
          </a:gradFill>
          <a:ln w="12700">
            <a:solidFill>
              <a:srgbClr val="E3A7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901184"/>
            <a:ext cx="10180015" cy="841248"/>
          </a:xfrm>
          <a:prstGeom prst="rect">
            <a:avLst/>
          </a:prstGeom>
          <a:noFill/>
        </p:spPr>
        <p:txBody>
          <a:bodyPr wrap="square" lIns="0" rIns="0" tIns="0" bIns="0">
            <a:spAutoFit/>
          </a:bodyPr>
          <a:lstStyle/>
          <a:p>
            <a:pPr>
              <a:lnSpc>
                <a:spcPct val="135000"/>
              </a:lnSpc>
              <a:spcAft>
                <a:spcPts val="500"/>
              </a:spcAft>
            </a:pPr>
            <a:r>
              <a:rPr sz="800" b="0" cap="all" spc="180">
                <a:solidFill>
                  <a:srgbClr val="C0442B"/>
                </a:solidFill>
                <a:latin typeface="IBM Plex Mono"/>
              </a:rPr>
              <a:t>Process design consequence</a:t>
            </a:r>
          </a:p>
          <a:p>
            <a:pPr>
              <a:lnSpc>
                <a:spcPct val="116000"/>
              </a:lnSpc>
              <a:spcAft>
                <a:spcPts val="500"/>
              </a:spcAft>
            </a:pPr>
            <a:r>
              <a:rPr sz="1150" b="1">
                <a:solidFill>
                  <a:srgbClr val="0E2830"/>
                </a:solidFill>
                <a:latin typeface="Outfit"/>
              </a:rPr>
              <a:t>Form FF collection belongs in the cargo booking workflow, not the month end close</a:t>
            </a:r>
          </a:p>
          <a:p>
            <a:pPr>
              <a:lnSpc>
                <a:spcPct val="140000"/>
              </a:lnSpc>
              <a:spcAft>
                <a:spcPts val="0"/>
              </a:spcAft>
            </a:pPr>
            <a:r>
              <a:rPr sz="900" b="0">
                <a:solidFill>
                  <a:srgbClr val="33555F"/>
                </a:solidFill>
                <a:latin typeface="Plus Jakarta Sans"/>
              </a:rPr>
              <a:t>By the time a month end file is being assembled, the shipper has moved on. Flyport's cargo desk treats the Form FF as a condition of releasing the airway bill documentation, which is the only point in the chain where the counterparty still has a reason to respond.</a:t>
            </a:r>
          </a:p>
        </p:txBody>
      </p:sp>
      <p:sp>
        <p:nvSpPr>
          <p:cNvPr id="11" name="TextBox 10"/>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566928"/>
            <a:ext cx="10618927" cy="274320"/>
          </a:xfrm>
          <a:prstGeom prst="rect">
            <a:avLst/>
          </a:prstGeom>
          <a:noFill/>
        </p:spPr>
        <p:txBody>
          <a:bodyPr wrap="square" lIns="0" rIns="0" tIns="0" bIns="0">
            <a:spAutoFit/>
          </a:bodyPr>
          <a:lstStyle/>
          <a:p>
            <a:pPr>
              <a:lnSpc>
                <a:spcPct val="135000"/>
              </a:lnSpc>
              <a:spcAft>
                <a:spcPts val="0"/>
              </a:spcAft>
            </a:pPr>
            <a:r>
              <a:rPr sz="1000" b="0" cap="all" spc="240">
                <a:solidFill>
                  <a:srgbClr val="C10073"/>
                </a:solidFill>
                <a:latin typeface="IBM Plex Mono"/>
              </a:rPr>
              <a:t>07  .  The monthly remittance process</a:t>
            </a:r>
          </a:p>
        </p:txBody>
      </p:sp>
      <p:sp>
        <p:nvSpPr>
          <p:cNvPr id="4" name="TextBox 3"/>
          <p:cNvSpPr txBox="1"/>
          <p:nvPr/>
        </p:nvSpPr>
        <p:spPr>
          <a:xfrm>
            <a:off x="786384" y="932688"/>
            <a:ext cx="10618927" cy="1371600"/>
          </a:xfrm>
          <a:prstGeom prst="rect">
            <a:avLst/>
          </a:prstGeom>
          <a:noFill/>
        </p:spPr>
        <p:txBody>
          <a:bodyPr wrap="square" lIns="0" rIns="0" tIns="0" bIns="0">
            <a:spAutoFit/>
          </a:bodyPr>
          <a:lstStyle/>
          <a:p>
            <a:pPr>
              <a:lnSpc>
                <a:spcPct val="108000"/>
              </a:lnSpc>
              <a:spcAft>
                <a:spcPts val="0"/>
              </a:spcAft>
            </a:pPr>
            <a:r>
              <a:rPr sz="2800" b="1">
                <a:solidFill>
                  <a:srgbClr val="0E2830"/>
                </a:solidFill>
                <a:latin typeface="Outfit"/>
              </a:rPr>
              <a:t>Five steps forward, one loop back. The loop is where months are lost.</a:t>
            </a:r>
          </a:p>
        </p:txBody>
      </p:sp>
      <p:sp>
        <p:nvSpPr>
          <p:cNvPr id="5" name="Rounded Rectangle 4"/>
          <p:cNvSpPr/>
          <p:nvPr/>
        </p:nvSpPr>
        <p:spPr>
          <a:xfrm>
            <a:off x="786384" y="2011680"/>
            <a:ext cx="1992111" cy="1389888"/>
          </a:xfrm>
          <a:prstGeom prst="roundRect">
            <a:avLst>
              <a:gd name="adj" fmla="val 5500"/>
            </a:avLst>
          </a:prstGeom>
          <a:solidFill>
            <a:srgbClr val="FFFFFF"/>
          </a:solidFill>
          <a:ln w="12700">
            <a:solidFill>
              <a:srgbClr val="DCE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9264" y="2157984"/>
            <a:ext cx="1626351" cy="1097280"/>
          </a:xfrm>
          <a:prstGeom prst="rect">
            <a:avLst/>
          </a:prstGeom>
          <a:noFill/>
        </p:spPr>
        <p:txBody>
          <a:bodyPr wrap="square" lIns="0" rIns="0" tIns="0" bIns="0">
            <a:spAutoFit/>
          </a:bodyPr>
          <a:lstStyle/>
          <a:p>
            <a:pPr>
              <a:lnSpc>
                <a:spcPct val="135000"/>
              </a:lnSpc>
              <a:spcAft>
                <a:spcPts val="400"/>
              </a:spcAft>
            </a:pPr>
            <a:r>
              <a:rPr sz="850" b="0" spc="180">
                <a:solidFill>
                  <a:srgbClr val="0C7A80"/>
                </a:solidFill>
                <a:latin typeface="IBM Plex Mono"/>
              </a:rPr>
              <a:t>01</a:t>
            </a:r>
          </a:p>
          <a:p>
            <a:pPr>
              <a:lnSpc>
                <a:spcPct val="116000"/>
              </a:lnSpc>
              <a:spcAft>
                <a:spcPts val="400"/>
              </a:spcAft>
            </a:pPr>
            <a:r>
              <a:rPr sz="1000" b="1">
                <a:solidFill>
                  <a:srgbClr val="0E2830"/>
                </a:solidFill>
                <a:latin typeface="Outfit"/>
              </a:rPr>
              <a:t>Files received from the airline</a:t>
            </a:r>
          </a:p>
          <a:p>
            <a:pPr>
              <a:lnSpc>
                <a:spcPct val="135000"/>
              </a:lnSpc>
              <a:spcAft>
                <a:spcPts val="0"/>
              </a:spcAft>
            </a:pPr>
            <a:r>
              <a:rPr sz="800" b="0">
                <a:solidFill>
                  <a:srgbClr val="52737D"/>
                </a:solidFill>
                <a:latin typeface="Plus Jakarta Sans"/>
              </a:rPr>
              <a:t>Passenger, cargo and disbursement files handed to the GSA and on to the AD bank.</a:t>
            </a:r>
          </a:p>
        </p:txBody>
      </p:sp>
      <p:cxnSp>
        <p:nvCxnSpPr>
          <p:cNvPr id="7" name="Connector 6"/>
          <p:cNvCxnSpPr/>
          <p:nvPr/>
        </p:nvCxnSpPr>
        <p:spPr>
          <a:xfrm>
            <a:off x="2778495" y="2706624"/>
            <a:ext cx="164592" cy="0"/>
          </a:xfrm>
          <a:prstGeom prst="line">
            <a:avLst/>
          </a:prstGeom>
          <a:ln w="12700">
            <a:solidFill>
              <a:srgbClr val="C6DDE1"/>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943087" y="2011680"/>
            <a:ext cx="1992111" cy="1389888"/>
          </a:xfrm>
          <a:prstGeom prst="roundRect">
            <a:avLst>
              <a:gd name="adj" fmla="val 5500"/>
            </a:avLst>
          </a:prstGeom>
          <a:solidFill>
            <a:srgbClr val="FFFFFF"/>
          </a:solidFill>
          <a:ln w="12700">
            <a:solidFill>
              <a:srgbClr val="DCE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25967" y="2157984"/>
            <a:ext cx="1626351" cy="1097280"/>
          </a:xfrm>
          <a:prstGeom prst="rect">
            <a:avLst/>
          </a:prstGeom>
          <a:noFill/>
        </p:spPr>
        <p:txBody>
          <a:bodyPr wrap="square" lIns="0" rIns="0" tIns="0" bIns="0">
            <a:spAutoFit/>
          </a:bodyPr>
          <a:lstStyle/>
          <a:p>
            <a:pPr>
              <a:lnSpc>
                <a:spcPct val="135000"/>
              </a:lnSpc>
              <a:spcAft>
                <a:spcPts val="400"/>
              </a:spcAft>
            </a:pPr>
            <a:r>
              <a:rPr sz="850" b="0" spc="180">
                <a:solidFill>
                  <a:srgbClr val="0C7A80"/>
                </a:solidFill>
                <a:latin typeface="IBM Plex Mono"/>
              </a:rPr>
              <a:t>02</a:t>
            </a:r>
          </a:p>
          <a:p>
            <a:pPr>
              <a:lnSpc>
                <a:spcPct val="116000"/>
              </a:lnSpc>
              <a:spcAft>
                <a:spcPts val="400"/>
              </a:spcAft>
            </a:pPr>
            <a:r>
              <a:rPr sz="1000" b="1">
                <a:solidFill>
                  <a:srgbClr val="0E2830"/>
                </a:solidFill>
                <a:latin typeface="Outfit"/>
              </a:rPr>
              <a:t>Bank scrutiny</a:t>
            </a:r>
          </a:p>
          <a:p>
            <a:pPr>
              <a:lnSpc>
                <a:spcPct val="135000"/>
              </a:lnSpc>
              <a:spcAft>
                <a:spcPts val="0"/>
              </a:spcAft>
            </a:pPr>
            <a:r>
              <a:rPr sz="800" b="0">
                <a:solidFill>
                  <a:srgbClr val="52737D"/>
                </a:solidFill>
                <a:latin typeface="Plus Jakarta Sans"/>
              </a:rPr>
              <a:t>The AD bank scrutinises the files and notifies discrepancies, or refers them back.</a:t>
            </a:r>
          </a:p>
        </p:txBody>
      </p:sp>
      <p:cxnSp>
        <p:nvCxnSpPr>
          <p:cNvPr id="10" name="Connector 9"/>
          <p:cNvCxnSpPr/>
          <p:nvPr/>
        </p:nvCxnSpPr>
        <p:spPr>
          <a:xfrm>
            <a:off x="4935199" y="2706624"/>
            <a:ext cx="164592" cy="0"/>
          </a:xfrm>
          <a:prstGeom prst="line">
            <a:avLst/>
          </a:prstGeom>
          <a:ln w="12700">
            <a:solidFill>
              <a:srgbClr val="C6DDE1"/>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99791" y="2011680"/>
            <a:ext cx="1992111" cy="1389888"/>
          </a:xfrm>
          <a:prstGeom prst="roundRect">
            <a:avLst>
              <a:gd name="adj" fmla="val 5500"/>
            </a:avLst>
          </a:prstGeom>
          <a:solidFill>
            <a:srgbClr val="FFFFFF"/>
          </a:solidFill>
          <a:ln w="12700">
            <a:solidFill>
              <a:srgbClr val="DCE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82671" y="2157984"/>
            <a:ext cx="1626351" cy="1097280"/>
          </a:xfrm>
          <a:prstGeom prst="rect">
            <a:avLst/>
          </a:prstGeom>
          <a:noFill/>
        </p:spPr>
        <p:txBody>
          <a:bodyPr wrap="square" lIns="0" rIns="0" tIns="0" bIns="0">
            <a:spAutoFit/>
          </a:bodyPr>
          <a:lstStyle/>
          <a:p>
            <a:pPr>
              <a:lnSpc>
                <a:spcPct val="135000"/>
              </a:lnSpc>
              <a:spcAft>
                <a:spcPts val="400"/>
              </a:spcAft>
            </a:pPr>
            <a:r>
              <a:rPr sz="850" b="0" spc="180">
                <a:solidFill>
                  <a:srgbClr val="0C7A80"/>
                </a:solidFill>
                <a:latin typeface="IBM Plex Mono"/>
              </a:rPr>
              <a:t>03</a:t>
            </a:r>
          </a:p>
          <a:p>
            <a:pPr>
              <a:lnSpc>
                <a:spcPct val="116000"/>
              </a:lnSpc>
              <a:spcAft>
                <a:spcPts val="400"/>
              </a:spcAft>
            </a:pPr>
            <a:r>
              <a:rPr sz="1000" b="1">
                <a:solidFill>
                  <a:srgbClr val="0E2830"/>
                </a:solidFill>
                <a:latin typeface="Outfit"/>
              </a:rPr>
              <a:t>Surplus earnings confirmation</a:t>
            </a:r>
          </a:p>
          <a:p>
            <a:pPr>
              <a:lnSpc>
                <a:spcPct val="135000"/>
              </a:lnSpc>
              <a:spcAft>
                <a:spcPts val="0"/>
              </a:spcAft>
            </a:pPr>
            <a:r>
              <a:rPr sz="800" b="0">
                <a:solidFill>
                  <a:srgbClr val="52737D"/>
                </a:solidFill>
                <a:latin typeface="Plus Jakarta Sans"/>
              </a:rPr>
              <a:t>The computation is agreed and the remittable figure is confirmed.</a:t>
            </a:r>
          </a:p>
        </p:txBody>
      </p:sp>
      <p:cxnSp>
        <p:nvCxnSpPr>
          <p:cNvPr id="13" name="Connector 12"/>
          <p:cNvCxnSpPr/>
          <p:nvPr/>
        </p:nvCxnSpPr>
        <p:spPr>
          <a:xfrm>
            <a:off x="7091903" y="2706624"/>
            <a:ext cx="164592" cy="0"/>
          </a:xfrm>
          <a:prstGeom prst="line">
            <a:avLst/>
          </a:prstGeom>
          <a:ln w="12700">
            <a:solidFill>
              <a:srgbClr val="C6DDE1"/>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256495" y="2011680"/>
            <a:ext cx="1992111" cy="1389888"/>
          </a:xfrm>
          <a:prstGeom prst="roundRect">
            <a:avLst>
              <a:gd name="adj" fmla="val 5500"/>
            </a:avLst>
          </a:prstGeom>
          <a:solidFill>
            <a:srgbClr val="FFFFFF"/>
          </a:solidFill>
          <a:ln w="12700">
            <a:solidFill>
              <a:srgbClr val="DCE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39375" y="2157984"/>
            <a:ext cx="1626351" cy="1097280"/>
          </a:xfrm>
          <a:prstGeom prst="rect">
            <a:avLst/>
          </a:prstGeom>
          <a:noFill/>
        </p:spPr>
        <p:txBody>
          <a:bodyPr wrap="square" lIns="0" rIns="0" tIns="0" bIns="0">
            <a:spAutoFit/>
          </a:bodyPr>
          <a:lstStyle/>
          <a:p>
            <a:pPr>
              <a:lnSpc>
                <a:spcPct val="135000"/>
              </a:lnSpc>
              <a:spcAft>
                <a:spcPts val="400"/>
              </a:spcAft>
            </a:pPr>
            <a:r>
              <a:rPr sz="850" b="0" spc="180">
                <a:solidFill>
                  <a:srgbClr val="0C7A80"/>
                </a:solidFill>
                <a:latin typeface="IBM Plex Mono"/>
              </a:rPr>
              <a:t>04</a:t>
            </a:r>
          </a:p>
          <a:p>
            <a:pPr>
              <a:lnSpc>
                <a:spcPct val="116000"/>
              </a:lnSpc>
              <a:spcAft>
                <a:spcPts val="400"/>
              </a:spcAft>
            </a:pPr>
            <a:r>
              <a:rPr sz="1000" b="1">
                <a:solidFill>
                  <a:srgbClr val="0E2830"/>
                </a:solidFill>
                <a:latin typeface="Outfit"/>
              </a:rPr>
              <a:t>Remittance execution</a:t>
            </a:r>
          </a:p>
          <a:p>
            <a:pPr>
              <a:lnSpc>
                <a:spcPct val="135000"/>
              </a:lnSpc>
              <a:spcAft>
                <a:spcPts val="0"/>
              </a:spcAft>
            </a:pPr>
            <a:r>
              <a:rPr sz="800" b="0">
                <a:solidFill>
                  <a:srgbClr val="52737D"/>
                </a:solidFill>
                <a:latin typeface="Plus Jakarta Sans"/>
              </a:rPr>
              <a:t>The AD bank converts and transfers to Vietnam Airlines head office.</a:t>
            </a:r>
          </a:p>
        </p:txBody>
      </p:sp>
      <p:cxnSp>
        <p:nvCxnSpPr>
          <p:cNvPr id="16" name="Connector 15"/>
          <p:cNvCxnSpPr/>
          <p:nvPr/>
        </p:nvCxnSpPr>
        <p:spPr>
          <a:xfrm>
            <a:off x="9248607" y="2706624"/>
            <a:ext cx="164592" cy="0"/>
          </a:xfrm>
          <a:prstGeom prst="line">
            <a:avLst/>
          </a:prstGeom>
          <a:ln w="12700">
            <a:solidFill>
              <a:srgbClr val="C6DDE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413199" y="2011680"/>
            <a:ext cx="1992111" cy="1389888"/>
          </a:xfrm>
          <a:prstGeom prst="roundRect">
            <a:avLst>
              <a:gd name="adj" fmla="val 5500"/>
            </a:avLst>
          </a:prstGeom>
          <a:solidFill>
            <a:srgbClr val="FFFFFF"/>
          </a:solidFill>
          <a:ln w="12700">
            <a:solidFill>
              <a:srgbClr val="DCE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96079" y="2157984"/>
            <a:ext cx="1626351" cy="1097280"/>
          </a:xfrm>
          <a:prstGeom prst="rect">
            <a:avLst/>
          </a:prstGeom>
          <a:noFill/>
        </p:spPr>
        <p:txBody>
          <a:bodyPr wrap="square" lIns="0" rIns="0" tIns="0" bIns="0">
            <a:spAutoFit/>
          </a:bodyPr>
          <a:lstStyle/>
          <a:p>
            <a:pPr>
              <a:lnSpc>
                <a:spcPct val="135000"/>
              </a:lnSpc>
              <a:spcAft>
                <a:spcPts val="400"/>
              </a:spcAft>
            </a:pPr>
            <a:r>
              <a:rPr sz="850" b="0" spc="180">
                <a:solidFill>
                  <a:srgbClr val="0C7A80"/>
                </a:solidFill>
                <a:latin typeface="IBM Plex Mono"/>
              </a:rPr>
              <a:t>05</a:t>
            </a:r>
          </a:p>
          <a:p>
            <a:pPr>
              <a:lnSpc>
                <a:spcPct val="116000"/>
              </a:lnSpc>
              <a:spcAft>
                <a:spcPts val="400"/>
              </a:spcAft>
            </a:pPr>
            <a:r>
              <a:rPr sz="1000" b="1">
                <a:solidFill>
                  <a:srgbClr val="0E2830"/>
                </a:solidFill>
                <a:latin typeface="Outfit"/>
              </a:rPr>
              <a:t>Post facto approval filing</a:t>
            </a:r>
          </a:p>
          <a:p>
            <a:pPr>
              <a:lnSpc>
                <a:spcPct val="135000"/>
              </a:lnSpc>
              <a:spcAft>
                <a:spcPts val="0"/>
              </a:spcAft>
            </a:pPr>
            <a:r>
              <a:rPr sz="800" b="0">
                <a:solidFill>
                  <a:srgbClr val="52737D"/>
                </a:solidFill>
                <a:latin typeface="Plus Jakarta Sans"/>
              </a:rPr>
              <a:t>Lodged with Bangladesh Bank, after the money has moved.</a:t>
            </a:r>
          </a:p>
        </p:txBody>
      </p:sp>
      <p:sp>
        <p:nvSpPr>
          <p:cNvPr id="19" name="Rounded Rectangle 18"/>
          <p:cNvSpPr/>
          <p:nvPr/>
        </p:nvSpPr>
        <p:spPr>
          <a:xfrm>
            <a:off x="786384" y="3639312"/>
            <a:ext cx="5257800" cy="2084831"/>
          </a:xfrm>
          <a:prstGeom prst="roundRect">
            <a:avLst>
              <a:gd name="adj" fmla="val 5500"/>
            </a:avLst>
          </a:prstGeom>
          <a:gradFill rotWithShape="1">
            <a:gsLst>
              <a:gs pos="0">
                <a:srgbClr val="FBE7E2"/>
              </a:gs>
              <a:gs pos="62000">
                <a:srgbClr val="FFFFFF"/>
              </a:gs>
            </a:gsLst>
            <a:lin scaled="0" ang="2700000"/>
          </a:gradFill>
          <a:ln w="12700">
            <a:solidFill>
              <a:srgbClr val="E3A7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3822191"/>
            <a:ext cx="4818888" cy="1719072"/>
          </a:xfrm>
          <a:prstGeom prst="rect">
            <a:avLst/>
          </a:prstGeom>
          <a:noFill/>
        </p:spPr>
        <p:txBody>
          <a:bodyPr wrap="square" lIns="0" rIns="0" tIns="0" bIns="0">
            <a:spAutoFit/>
          </a:bodyPr>
          <a:lstStyle/>
          <a:p>
            <a:pPr>
              <a:lnSpc>
                <a:spcPct val="135000"/>
              </a:lnSpc>
              <a:spcAft>
                <a:spcPts val="500"/>
              </a:spcAft>
            </a:pPr>
            <a:r>
              <a:rPr sz="800" b="0" cap="all" spc="180">
                <a:solidFill>
                  <a:srgbClr val="C0442B"/>
                </a:solidFill>
                <a:latin typeface="IBM Plex Mono"/>
              </a:rPr>
              <a:t>The loop</a:t>
            </a:r>
          </a:p>
          <a:p>
            <a:pPr>
              <a:lnSpc>
                <a:spcPct val="116000"/>
              </a:lnSpc>
              <a:spcAft>
                <a:spcPts val="500"/>
              </a:spcAft>
            </a:pPr>
            <a:r>
              <a:rPr sz="1150" b="1">
                <a:solidFill>
                  <a:srgbClr val="0E2830"/>
                </a:solidFill>
                <a:latin typeface="Outfit"/>
              </a:rPr>
              <a:t>Discrepancy rectification by the client</a:t>
            </a:r>
          </a:p>
          <a:p>
            <a:pPr>
              <a:lnSpc>
                <a:spcPct val="140000"/>
              </a:lnSpc>
              <a:spcAft>
                <a:spcPts val="0"/>
              </a:spcAft>
            </a:pPr>
            <a:r>
              <a:rPr sz="880" b="0">
                <a:solidFill>
                  <a:srgbClr val="33555F"/>
                </a:solidFill>
                <a:latin typeface="Plus Jakarta Sans"/>
              </a:rPr>
              <a:t>Step two returns to step one every time a file does not reconcile. There is no partial pass. A single unsupported collection line sends the whole month back, and the month behind it starts stacking up. Foreign carrier repatriation backlogs are built almost entirely out of this loop, not out of policy.</a:t>
            </a:r>
            <a:br/>
            <a:br/>
            <a:r>
              <a:rPr sz="880" b="0">
                <a:solidFill>
                  <a:srgbClr val="33555F"/>
                </a:solidFill>
                <a:latin typeface="Plus Jakarta Sans"/>
              </a:rPr>
              <a:t>What Flyport does about it: the file is built to bank specification before it is submitted, and the discrepancy conversation happens inside Flyport rather than between the bank and Hanoi.</a:t>
            </a:r>
          </a:p>
        </p:txBody>
      </p:sp>
      <p:sp>
        <p:nvSpPr>
          <p:cNvPr id="21" name="Rounded Rectangle 20"/>
          <p:cNvSpPr/>
          <p:nvPr/>
        </p:nvSpPr>
        <p:spPr>
          <a:xfrm>
            <a:off x="6446520" y="3639312"/>
            <a:ext cx="4937760" cy="2084831"/>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65976" y="3822191"/>
            <a:ext cx="4498848" cy="1719072"/>
          </a:xfrm>
          <a:prstGeom prst="rect">
            <a:avLst/>
          </a:prstGeom>
          <a:noFill/>
        </p:spPr>
        <p:txBody>
          <a:bodyPr wrap="square" lIns="0" rIns="0" tIns="0" bIns="0">
            <a:spAutoFit/>
          </a:bodyPr>
          <a:lstStyle/>
          <a:p>
            <a:pPr>
              <a:lnSpc>
                <a:spcPct val="135000"/>
              </a:lnSpc>
              <a:spcAft>
                <a:spcPts val="500"/>
              </a:spcAft>
            </a:pPr>
            <a:r>
              <a:rPr sz="800" b="0" cap="all" spc="180">
                <a:solidFill>
                  <a:srgbClr val="0C7A80"/>
                </a:solidFill>
                <a:latin typeface="IBM Plex Mono"/>
              </a:rPr>
              <a:t>The unusual part</a:t>
            </a:r>
          </a:p>
          <a:p>
            <a:pPr>
              <a:lnSpc>
                <a:spcPct val="116000"/>
              </a:lnSpc>
              <a:spcAft>
                <a:spcPts val="500"/>
              </a:spcAft>
            </a:pPr>
            <a:r>
              <a:rPr sz="1150" b="1">
                <a:solidFill>
                  <a:srgbClr val="0E2830"/>
                </a:solidFill>
                <a:latin typeface="Outfit"/>
              </a:rPr>
              <a:t>Approval comes after the money leaves</a:t>
            </a:r>
          </a:p>
          <a:p>
            <a:pPr>
              <a:lnSpc>
                <a:spcPct val="140000"/>
              </a:lnSpc>
              <a:spcAft>
                <a:spcPts val="0"/>
              </a:spcAft>
            </a:pPr>
            <a:r>
              <a:rPr sz="880" b="0">
                <a:solidFill>
                  <a:srgbClr val="33555F"/>
                </a:solidFill>
                <a:latin typeface="Plus Jakarta Sans"/>
              </a:rPr>
              <a:t>Post facto approval is obtained from Bangladesh Bank after the remittance, not before it. Bangladesh Bank allows airlines to repatriate for up to six months of post facto approval, meaning funds can be remitted up to six months from the date of the documents last approved.</a:t>
            </a:r>
            <a:br/>
            <a:br/>
            <a:r>
              <a:rPr sz="880" b="0">
                <a:solidFill>
                  <a:srgbClr val="33555F"/>
                </a:solidFill>
                <a:latin typeface="Plus Jakarta Sans"/>
              </a:rPr>
              <a:t>The end to end flow is manual, with hard copy documentation submitted and verified at several levels. Nothing about it is automated, which is why the discipline sits in the preparation.</a:t>
            </a:r>
          </a:p>
        </p:txBody>
      </p:sp>
      <p:sp>
        <p:nvSpPr>
          <p:cNvPr id="23" name="TextBox 22"/>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566928"/>
            <a:ext cx="10618927" cy="274320"/>
          </a:xfrm>
          <a:prstGeom prst="rect">
            <a:avLst/>
          </a:prstGeom>
          <a:noFill/>
        </p:spPr>
        <p:txBody>
          <a:bodyPr wrap="square" lIns="0" rIns="0" tIns="0" bIns="0">
            <a:spAutoFit/>
          </a:bodyPr>
          <a:lstStyle/>
          <a:p>
            <a:pPr>
              <a:lnSpc>
                <a:spcPct val="135000"/>
              </a:lnSpc>
              <a:spcAft>
                <a:spcPts val="0"/>
              </a:spcAft>
            </a:pPr>
            <a:r>
              <a:rPr sz="1000" b="0" cap="all" spc="240">
                <a:solidFill>
                  <a:srgbClr val="0C7A80"/>
                </a:solidFill>
                <a:latin typeface="IBM Plex Mono"/>
              </a:rPr>
              <a:t>07  .  What is actually in the monthly submission</a:t>
            </a:r>
          </a:p>
        </p:txBody>
      </p:sp>
      <p:sp>
        <p:nvSpPr>
          <p:cNvPr id="4" name="TextBox 3"/>
          <p:cNvSpPr txBox="1"/>
          <p:nvPr/>
        </p:nvSpPr>
        <p:spPr>
          <a:xfrm>
            <a:off x="786384" y="932688"/>
            <a:ext cx="10618927" cy="1371600"/>
          </a:xfrm>
          <a:prstGeom prst="rect">
            <a:avLst/>
          </a:prstGeom>
          <a:noFill/>
        </p:spPr>
        <p:txBody>
          <a:bodyPr wrap="square" lIns="0" rIns="0" tIns="0" bIns="0">
            <a:spAutoFit/>
          </a:bodyPr>
          <a:lstStyle/>
          <a:p>
            <a:pPr>
              <a:lnSpc>
                <a:spcPct val="108000"/>
              </a:lnSpc>
              <a:spcAft>
                <a:spcPts val="0"/>
              </a:spcAft>
            </a:pPr>
            <a:r>
              <a:rPr sz="2800" b="1">
                <a:solidFill>
                  <a:srgbClr val="0E2830"/>
                </a:solidFill>
                <a:latin typeface="Outfit"/>
              </a:rPr>
              <a:t>Three core files, two supplementary. Everything else is evidence for them.</a:t>
            </a:r>
          </a:p>
        </p:txBody>
      </p:sp>
      <p:sp>
        <p:nvSpPr>
          <p:cNvPr id="5" name="Rounded Rectangle 4"/>
          <p:cNvSpPr/>
          <p:nvPr/>
        </p:nvSpPr>
        <p:spPr>
          <a:xfrm>
            <a:off x="786384" y="1975104"/>
            <a:ext cx="3381146" cy="1325880"/>
          </a:xfrm>
          <a:prstGeom prst="roundRect">
            <a:avLst>
              <a:gd name="adj" fmla="val 5500"/>
            </a:avLst>
          </a:prstGeom>
          <a:gradFill rotWithShape="1">
            <a:gsLst>
              <a:gs pos="0">
                <a:srgbClr val="FBF1D6"/>
              </a:gs>
              <a:gs pos="62000">
                <a:srgbClr val="FFFFFF"/>
              </a:gs>
            </a:gsLst>
            <a:lin scaled="0" ang="2700000"/>
          </a:gradFill>
          <a:ln w="12700">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57984"/>
            <a:ext cx="2942234" cy="960119"/>
          </a:xfrm>
          <a:prstGeom prst="rect">
            <a:avLst/>
          </a:prstGeom>
          <a:noFill/>
        </p:spPr>
        <p:txBody>
          <a:bodyPr wrap="square" lIns="0" rIns="0" tIns="0" bIns="0">
            <a:spAutoFit/>
          </a:bodyPr>
          <a:lstStyle/>
          <a:p>
            <a:pPr>
              <a:lnSpc>
                <a:spcPct val="135000"/>
              </a:lnSpc>
              <a:spcAft>
                <a:spcPts val="500"/>
              </a:spcAft>
            </a:pPr>
            <a:r>
              <a:rPr sz="800" b="0" cap="all" spc="180">
                <a:solidFill>
                  <a:srgbClr val="8A6608"/>
                </a:solidFill>
                <a:latin typeface="IBM Plex Mono"/>
              </a:rPr>
              <a:t>Core file 01</a:t>
            </a:r>
          </a:p>
          <a:p>
            <a:pPr>
              <a:lnSpc>
                <a:spcPct val="116000"/>
              </a:lnSpc>
              <a:spcAft>
                <a:spcPts val="500"/>
              </a:spcAft>
            </a:pPr>
            <a:r>
              <a:rPr sz="1050" b="1">
                <a:solidFill>
                  <a:srgbClr val="0E2830"/>
                </a:solidFill>
                <a:latin typeface="Outfit"/>
              </a:rPr>
              <a:t>Passenger collection file</a:t>
            </a:r>
          </a:p>
          <a:p>
            <a:pPr>
              <a:lnSpc>
                <a:spcPct val="140000"/>
              </a:lnSpc>
              <a:spcAft>
                <a:spcPts val="0"/>
              </a:spcAft>
            </a:pPr>
            <a:r>
              <a:rPr sz="850" b="0">
                <a:solidFill>
                  <a:srgbClr val="33555F"/>
                </a:solidFill>
                <a:latin typeface="Plus Jakarta Sans"/>
              </a:rPr>
              <a:t>BSP settled sales, direct and GSA sales, counter sales and excess baggage. The base for both the collection total and the refund provision.</a:t>
            </a:r>
          </a:p>
        </p:txBody>
      </p:sp>
      <p:sp>
        <p:nvSpPr>
          <p:cNvPr id="7" name="Rounded Rectangle 6"/>
          <p:cNvSpPr/>
          <p:nvPr/>
        </p:nvSpPr>
        <p:spPr>
          <a:xfrm>
            <a:off x="4405274" y="1975104"/>
            <a:ext cx="3381146" cy="1325880"/>
          </a:xfrm>
          <a:prstGeom prst="roundRect">
            <a:avLst>
              <a:gd name="adj" fmla="val 5500"/>
            </a:avLst>
          </a:prstGeom>
          <a:gradFill rotWithShape="1">
            <a:gsLst>
              <a:gs pos="0">
                <a:srgbClr val="FBF1D6"/>
              </a:gs>
              <a:gs pos="62000">
                <a:srgbClr val="FFFFFF"/>
              </a:gs>
            </a:gsLst>
            <a:lin scaled="0" ang="2700000"/>
          </a:gradFill>
          <a:ln w="12700">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24730" y="2157984"/>
            <a:ext cx="2942234" cy="960119"/>
          </a:xfrm>
          <a:prstGeom prst="rect">
            <a:avLst/>
          </a:prstGeom>
          <a:noFill/>
        </p:spPr>
        <p:txBody>
          <a:bodyPr wrap="square" lIns="0" rIns="0" tIns="0" bIns="0">
            <a:spAutoFit/>
          </a:bodyPr>
          <a:lstStyle/>
          <a:p>
            <a:pPr>
              <a:lnSpc>
                <a:spcPct val="135000"/>
              </a:lnSpc>
              <a:spcAft>
                <a:spcPts val="500"/>
              </a:spcAft>
            </a:pPr>
            <a:r>
              <a:rPr sz="800" b="0" cap="all" spc="180">
                <a:solidFill>
                  <a:srgbClr val="8A6608"/>
                </a:solidFill>
                <a:latin typeface="IBM Plex Mono"/>
              </a:rPr>
              <a:t>Core file 02</a:t>
            </a:r>
          </a:p>
          <a:p>
            <a:pPr>
              <a:lnSpc>
                <a:spcPct val="116000"/>
              </a:lnSpc>
              <a:spcAft>
                <a:spcPts val="500"/>
              </a:spcAft>
            </a:pPr>
            <a:r>
              <a:rPr sz="1050" b="1">
                <a:solidFill>
                  <a:srgbClr val="0E2830"/>
                </a:solidFill>
                <a:latin typeface="Outfit"/>
              </a:rPr>
              <a:t>Cargo collection file</a:t>
            </a:r>
          </a:p>
          <a:p>
            <a:pPr>
              <a:lnSpc>
                <a:spcPct val="140000"/>
              </a:lnSpc>
              <a:spcAft>
                <a:spcPts val="0"/>
              </a:spcAft>
            </a:pPr>
            <a:r>
              <a:rPr sz="850" b="0">
                <a:solidFill>
                  <a:srgbClr val="33555F"/>
                </a:solidFill>
                <a:latin typeface="Plus Jakarta Sans"/>
              </a:rPr>
              <a:t>CASS settled sales and direct or GSA cargo sales, supported where required by Form FF from the exporter or importer.</a:t>
            </a:r>
          </a:p>
        </p:txBody>
      </p:sp>
      <p:sp>
        <p:nvSpPr>
          <p:cNvPr id="9" name="Rounded Rectangle 8"/>
          <p:cNvSpPr/>
          <p:nvPr/>
        </p:nvSpPr>
        <p:spPr>
          <a:xfrm>
            <a:off x="8024164" y="1975104"/>
            <a:ext cx="3381146" cy="1325880"/>
          </a:xfrm>
          <a:prstGeom prst="roundRect">
            <a:avLst>
              <a:gd name="adj" fmla="val 5500"/>
            </a:avLst>
          </a:prstGeom>
          <a:gradFill rotWithShape="1">
            <a:gsLst>
              <a:gs pos="0">
                <a:srgbClr val="FBF1D6"/>
              </a:gs>
              <a:gs pos="62000">
                <a:srgbClr val="FFFFFF"/>
              </a:gs>
            </a:gsLst>
            <a:lin scaled="0" ang="2700000"/>
          </a:gradFill>
          <a:ln w="12700">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43620" y="2157984"/>
            <a:ext cx="2942234" cy="960119"/>
          </a:xfrm>
          <a:prstGeom prst="rect">
            <a:avLst/>
          </a:prstGeom>
          <a:noFill/>
        </p:spPr>
        <p:txBody>
          <a:bodyPr wrap="square" lIns="0" rIns="0" tIns="0" bIns="0">
            <a:spAutoFit/>
          </a:bodyPr>
          <a:lstStyle/>
          <a:p>
            <a:pPr>
              <a:lnSpc>
                <a:spcPct val="135000"/>
              </a:lnSpc>
              <a:spcAft>
                <a:spcPts val="500"/>
              </a:spcAft>
            </a:pPr>
            <a:r>
              <a:rPr sz="800" b="0" cap="all" spc="180">
                <a:solidFill>
                  <a:srgbClr val="8A6608"/>
                </a:solidFill>
                <a:latin typeface="IBM Plex Mono"/>
              </a:rPr>
              <a:t>Core file 03</a:t>
            </a:r>
          </a:p>
          <a:p>
            <a:pPr>
              <a:lnSpc>
                <a:spcPct val="116000"/>
              </a:lnSpc>
              <a:spcAft>
                <a:spcPts val="500"/>
              </a:spcAft>
            </a:pPr>
            <a:r>
              <a:rPr sz="1050" b="1">
                <a:solidFill>
                  <a:srgbClr val="0E2830"/>
                </a:solidFill>
                <a:latin typeface="Outfit"/>
              </a:rPr>
              <a:t>Disbursement file</a:t>
            </a:r>
          </a:p>
          <a:p>
            <a:pPr>
              <a:lnSpc>
                <a:spcPct val="140000"/>
              </a:lnSpc>
              <a:spcAft>
                <a:spcPts val="0"/>
              </a:spcAft>
            </a:pPr>
            <a:r>
              <a:rPr sz="850" b="0">
                <a:solidFill>
                  <a:srgbClr val="33555F"/>
                </a:solidFill>
                <a:latin typeface="Plus Jakarta Sans"/>
              </a:rPr>
              <a:t>Every local payment made from the account, including fuel, ground handling, catering, station costs, taxes and fees.</a:t>
            </a:r>
          </a:p>
        </p:txBody>
      </p:sp>
      <p:sp>
        <p:nvSpPr>
          <p:cNvPr id="11" name="Rounded Rectangle 10"/>
          <p:cNvSpPr/>
          <p:nvPr/>
        </p:nvSpPr>
        <p:spPr>
          <a:xfrm>
            <a:off x="786384" y="3502152"/>
            <a:ext cx="3381146" cy="1325880"/>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685032"/>
            <a:ext cx="2942234" cy="960119"/>
          </a:xfrm>
          <a:prstGeom prst="rect">
            <a:avLst/>
          </a:prstGeom>
          <a:noFill/>
        </p:spPr>
        <p:txBody>
          <a:bodyPr wrap="square" lIns="0" rIns="0" tIns="0" bIns="0">
            <a:spAutoFit/>
          </a:bodyPr>
          <a:lstStyle/>
          <a:p>
            <a:pPr>
              <a:lnSpc>
                <a:spcPct val="135000"/>
              </a:lnSpc>
              <a:spcAft>
                <a:spcPts val="500"/>
              </a:spcAft>
            </a:pPr>
            <a:r>
              <a:rPr sz="800" b="0" cap="all" spc="180">
                <a:solidFill>
                  <a:srgbClr val="0C7A80"/>
                </a:solidFill>
                <a:latin typeface="IBM Plex Mono"/>
              </a:rPr>
              <a:t>Supplementary</a:t>
            </a:r>
          </a:p>
          <a:p>
            <a:pPr>
              <a:lnSpc>
                <a:spcPct val="116000"/>
              </a:lnSpc>
              <a:spcAft>
                <a:spcPts val="500"/>
              </a:spcAft>
            </a:pPr>
            <a:r>
              <a:rPr sz="1050" b="1">
                <a:solidFill>
                  <a:srgbClr val="0E2830"/>
                </a:solidFill>
                <a:latin typeface="Outfit"/>
              </a:rPr>
              <a:t>Miscellaneous file</a:t>
            </a:r>
          </a:p>
          <a:p>
            <a:pPr>
              <a:lnSpc>
                <a:spcPct val="140000"/>
              </a:lnSpc>
              <a:spcAft>
                <a:spcPts val="0"/>
              </a:spcAft>
            </a:pPr>
            <a:r>
              <a:rPr sz="850" b="0">
                <a:solidFill>
                  <a:srgbClr val="33555F"/>
                </a:solidFill>
                <a:latin typeface="Plus Jakarta Sans"/>
              </a:rPr>
              <a:t>Excess baggage, postal earnings, extra charges and other receipts that belong in the collection total but not in the BSP report.</a:t>
            </a:r>
          </a:p>
        </p:txBody>
      </p:sp>
      <p:sp>
        <p:nvSpPr>
          <p:cNvPr id="13" name="Rounded Rectangle 12"/>
          <p:cNvSpPr/>
          <p:nvPr/>
        </p:nvSpPr>
        <p:spPr>
          <a:xfrm>
            <a:off x="4405274" y="3502152"/>
            <a:ext cx="3381146" cy="1325880"/>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24730" y="3685032"/>
            <a:ext cx="2942234" cy="960119"/>
          </a:xfrm>
          <a:prstGeom prst="rect">
            <a:avLst/>
          </a:prstGeom>
          <a:noFill/>
        </p:spPr>
        <p:txBody>
          <a:bodyPr wrap="square" lIns="0" rIns="0" tIns="0" bIns="0">
            <a:spAutoFit/>
          </a:bodyPr>
          <a:lstStyle/>
          <a:p>
            <a:pPr>
              <a:lnSpc>
                <a:spcPct val="135000"/>
              </a:lnSpc>
              <a:spcAft>
                <a:spcPts val="500"/>
              </a:spcAft>
            </a:pPr>
            <a:r>
              <a:rPr sz="800" b="0" cap="all" spc="180">
                <a:solidFill>
                  <a:srgbClr val="0C7A80"/>
                </a:solidFill>
                <a:latin typeface="IBM Plex Mono"/>
              </a:rPr>
              <a:t>Supplementary</a:t>
            </a:r>
          </a:p>
          <a:p>
            <a:pPr>
              <a:lnSpc>
                <a:spcPct val="116000"/>
              </a:lnSpc>
              <a:spcAft>
                <a:spcPts val="500"/>
              </a:spcAft>
            </a:pPr>
            <a:r>
              <a:rPr sz="1050" b="1">
                <a:solidFill>
                  <a:srgbClr val="0E2830"/>
                </a:solidFill>
                <a:latin typeface="Outfit"/>
              </a:rPr>
              <a:t>Refund statement file</a:t>
            </a:r>
          </a:p>
          <a:p>
            <a:pPr>
              <a:lnSpc>
                <a:spcPct val="140000"/>
              </a:lnSpc>
              <a:spcAft>
                <a:spcPts val="0"/>
              </a:spcAft>
            </a:pPr>
            <a:r>
              <a:rPr sz="850" b="0">
                <a:solidFill>
                  <a:srgbClr val="33555F"/>
                </a:solidFill>
                <a:latin typeface="Plus Jakarta Sans"/>
              </a:rPr>
              <a:t>Refunds actually made in the period, which drive the add back of unused provision from the prior period.</a:t>
            </a:r>
          </a:p>
        </p:txBody>
      </p:sp>
      <p:sp>
        <p:nvSpPr>
          <p:cNvPr id="15" name="Rounded Rectangle 14"/>
          <p:cNvSpPr/>
          <p:nvPr/>
        </p:nvSpPr>
        <p:spPr>
          <a:xfrm>
            <a:off x="8024164" y="3502152"/>
            <a:ext cx="3381146" cy="1325880"/>
          </a:xfrm>
          <a:prstGeom prst="roundRect">
            <a:avLst>
              <a:gd name="adj" fmla="val 5500"/>
            </a:avLst>
          </a:prstGeom>
          <a:gradFill rotWithShape="1">
            <a:gsLst>
              <a:gs pos="0">
                <a:srgbClr val="FCE2F0"/>
              </a:gs>
              <a:gs pos="62000">
                <a:srgbClr val="FFFFFF"/>
              </a:gs>
            </a:gsLst>
            <a:lin scaled="0" ang="2700000"/>
          </a:gradFill>
          <a:ln w="12700">
            <a:solidFill>
              <a:srgbClr val="F49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3620" y="3685032"/>
            <a:ext cx="2942234" cy="960119"/>
          </a:xfrm>
          <a:prstGeom prst="rect">
            <a:avLst/>
          </a:prstGeom>
          <a:noFill/>
        </p:spPr>
        <p:txBody>
          <a:bodyPr wrap="square" lIns="0" rIns="0" tIns="0" bIns="0">
            <a:spAutoFit/>
          </a:bodyPr>
          <a:lstStyle/>
          <a:p>
            <a:pPr>
              <a:lnSpc>
                <a:spcPct val="135000"/>
              </a:lnSpc>
              <a:spcAft>
                <a:spcPts val="500"/>
              </a:spcAft>
            </a:pPr>
            <a:r>
              <a:rPr sz="800" b="0" cap="all" spc="180">
                <a:solidFill>
                  <a:srgbClr val="C10073"/>
                </a:solidFill>
                <a:latin typeface="IBM Plex Mono"/>
              </a:rPr>
              <a:t>The binding evidence</a:t>
            </a:r>
          </a:p>
          <a:p>
            <a:pPr>
              <a:lnSpc>
                <a:spcPct val="116000"/>
              </a:lnSpc>
              <a:spcAft>
                <a:spcPts val="500"/>
              </a:spcAft>
            </a:pPr>
            <a:r>
              <a:rPr sz="1050" b="1">
                <a:solidFill>
                  <a:srgbClr val="0E2830"/>
                </a:solidFill>
                <a:latin typeface="Outfit"/>
              </a:rPr>
              <a:t>Bank statement</a:t>
            </a:r>
          </a:p>
          <a:p>
            <a:pPr>
              <a:lnSpc>
                <a:spcPct val="140000"/>
              </a:lnSpc>
              <a:spcAft>
                <a:spcPts val="0"/>
              </a:spcAft>
            </a:pPr>
            <a:r>
              <a:rPr sz="850" b="0">
                <a:solidFill>
                  <a:srgbClr val="33555F"/>
                </a:solidFill>
                <a:latin typeface="Plus Jakarta Sans"/>
              </a:rPr>
              <a:t>The one document that cannot be substituted. Every collection and every disbursement in the three core files must appear on it.</a:t>
            </a:r>
          </a:p>
        </p:txBody>
      </p:sp>
      <p:graphicFrame>
        <p:nvGraphicFramePr>
          <p:cNvPr id="17" name="Table 16"/>
          <p:cNvGraphicFramePr>
            <a:graphicFrameLocks noGrp="1"/>
          </p:cNvGraphicFramePr>
          <p:nvPr/>
        </p:nvGraphicFramePr>
        <p:xfrm>
          <a:off x="786384" y="4956048"/>
          <a:ext cx="10616184" cy="1344168"/>
        </p:xfrm>
        <a:graphic>
          <a:graphicData uri="http://schemas.openxmlformats.org/drawingml/2006/table">
            <a:tbl>
              <a:tblPr bandRow="0" firstRow="0">
                <a:tableStyleId>{5C22544A-7EE6-4342-B048-85BDC9FD1C3A}</a:tableStyleId>
              </a:tblPr>
              <a:tblGrid>
                <a:gridCol w="2743200"/>
                <a:gridCol w="2743200"/>
                <a:gridCol w="5129784"/>
              </a:tblGrid>
              <a:tr h="224028">
                <a:tc>
                  <a:txBody>
                    <a:bodyPr/>
                    <a:lstStyle/>
                    <a:p>
                      <a:pPr>
                        <a:lnSpc>
                          <a:spcPct val="120000"/>
                        </a:lnSpc>
                        <a:spcAft>
                          <a:spcPts val="0"/>
                        </a:spcAft>
                      </a:pPr>
                      <a:r>
                        <a:rPr sz="750" b="0" cap="all" spc="140">
                          <a:solidFill>
                            <a:srgbClr val="8AA6AE"/>
                          </a:solidFill>
                          <a:latin typeface="IBM Plex Mono"/>
                        </a:rPr>
                        <a:t>Calculation line</a:t>
                      </a:r>
                    </a:p>
                  </a:txBody>
                  <a:tcPr marL="54864" marR="54864" marT="36576" marB="36576" anchor="b">
                    <a:solidFill>
                      <a:srgbClr val="FBFDFE"/>
                    </a:solidFill>
                  </a:tcPr>
                </a:tc>
                <a:tc>
                  <a:txBody>
                    <a:bodyPr/>
                    <a:lstStyle/>
                    <a:p>
                      <a:pPr>
                        <a:lnSpc>
                          <a:spcPct val="120000"/>
                        </a:lnSpc>
                        <a:spcAft>
                          <a:spcPts val="0"/>
                        </a:spcAft>
                      </a:pPr>
                      <a:r>
                        <a:rPr sz="750" b="0" cap="all" spc="140">
                          <a:solidFill>
                            <a:srgbClr val="8AA6AE"/>
                          </a:solidFill>
                          <a:latin typeface="IBM Plex Mono"/>
                        </a:rPr>
                        <a:t>Source file</a:t>
                      </a:r>
                    </a:p>
                  </a:txBody>
                  <a:tcPr marL="54864" marR="54864" marT="36576" marB="36576" anchor="b">
                    <a:solidFill>
                      <a:srgbClr val="FBFDFE"/>
                    </a:solidFill>
                  </a:tcPr>
                </a:tc>
                <a:tc>
                  <a:txBody>
                    <a:bodyPr/>
                    <a:lstStyle/>
                    <a:p>
                      <a:pPr>
                        <a:lnSpc>
                          <a:spcPct val="120000"/>
                        </a:lnSpc>
                        <a:spcAft>
                          <a:spcPts val="0"/>
                        </a:spcAft>
                      </a:pPr>
                      <a:r>
                        <a:rPr sz="750" b="0" cap="all" spc="140">
                          <a:solidFill>
                            <a:srgbClr val="8AA6AE"/>
                          </a:solidFill>
                          <a:latin typeface="IBM Plex Mono"/>
                        </a:rPr>
                        <a:t>Evidence the bank checks it against</a:t>
                      </a:r>
                    </a:p>
                  </a:txBody>
                  <a:tcPr marL="54864" marR="54864" marT="36576" marB="36576" anchor="b">
                    <a:solidFill>
                      <a:srgbClr val="FBFDFE"/>
                    </a:solidFill>
                  </a:tcPr>
                </a:tc>
              </a:tr>
              <a:tr h="224028">
                <a:tc>
                  <a:txBody>
                    <a:bodyPr/>
                    <a:lstStyle/>
                    <a:p>
                      <a:pPr>
                        <a:lnSpc>
                          <a:spcPct val="130000"/>
                        </a:lnSpc>
                        <a:spcAft>
                          <a:spcPts val="0"/>
                        </a:spcAft>
                      </a:pPr>
                      <a:r>
                        <a:rPr sz="850" b="0">
                          <a:solidFill>
                            <a:srgbClr val="33555F"/>
                          </a:solidFill>
                          <a:latin typeface="Plus Jakarta Sans"/>
                        </a:rPr>
                        <a:t>Passenger sales collection</a:t>
                      </a:r>
                    </a:p>
                  </a:txBody>
                  <a:tcPr marL="54864" marR="54864" marT="45720" marB="45720" anchor="t">
                    <a:solidFill>
                      <a:srgbClr val="FFFFFF"/>
                    </a:solidFill>
                  </a:tcPr>
                </a:tc>
                <a:tc>
                  <a:txBody>
                    <a:bodyPr/>
                    <a:lstStyle/>
                    <a:p>
                      <a:pPr>
                        <a:lnSpc>
                          <a:spcPct val="130000"/>
                        </a:lnSpc>
                        <a:spcAft>
                          <a:spcPts val="0"/>
                        </a:spcAft>
                      </a:pPr>
                      <a:r>
                        <a:rPr sz="850" b="0">
                          <a:solidFill>
                            <a:srgbClr val="33555F"/>
                          </a:solidFill>
                          <a:latin typeface="Plus Jakarta Sans"/>
                        </a:rPr>
                        <a:t>Passenger collection file</a:t>
                      </a:r>
                    </a:p>
                  </a:txBody>
                  <a:tcPr marL="54864" marR="54864" marT="45720" marB="45720" anchor="t">
                    <a:solidFill>
                      <a:srgbClr val="FFFFFF"/>
                    </a:solidFill>
                  </a:tcPr>
                </a:tc>
                <a:tc>
                  <a:txBody>
                    <a:bodyPr/>
                    <a:lstStyle/>
                    <a:p>
                      <a:pPr>
                        <a:lnSpc>
                          <a:spcPct val="130000"/>
                        </a:lnSpc>
                        <a:spcAft>
                          <a:spcPts val="0"/>
                        </a:spcAft>
                      </a:pPr>
                      <a:r>
                        <a:rPr sz="850" b="0">
                          <a:solidFill>
                            <a:srgbClr val="33555F"/>
                          </a:solidFill>
                          <a:latin typeface="Plus Jakarta Sans"/>
                        </a:rPr>
                        <a:t>BSP airline billing summary and BSP statement summary</a:t>
                      </a:r>
                    </a:p>
                  </a:txBody>
                  <a:tcPr marL="54864" marR="54864" marT="45720" marB="45720" anchor="t">
                    <a:solidFill>
                      <a:srgbClr val="FFFFFF"/>
                    </a:solidFill>
                  </a:tcPr>
                </a:tc>
              </a:tr>
              <a:tr h="224028">
                <a:tc>
                  <a:txBody>
                    <a:bodyPr/>
                    <a:lstStyle/>
                    <a:p>
                      <a:pPr>
                        <a:lnSpc>
                          <a:spcPct val="130000"/>
                        </a:lnSpc>
                        <a:spcAft>
                          <a:spcPts val="0"/>
                        </a:spcAft>
                      </a:pPr>
                      <a:r>
                        <a:rPr sz="850" b="0">
                          <a:solidFill>
                            <a:srgbClr val="33555F"/>
                          </a:solidFill>
                          <a:latin typeface="Plus Jakarta Sans"/>
                        </a:rPr>
                        <a:t>Cargo sales collection</a:t>
                      </a:r>
                    </a:p>
                  </a:txBody>
                  <a:tcPr marL="54864" marR="54864" marT="45720" marB="45720" anchor="t">
                    <a:solidFill>
                      <a:srgbClr val="FBFDFE"/>
                    </a:solidFill>
                  </a:tcPr>
                </a:tc>
                <a:tc>
                  <a:txBody>
                    <a:bodyPr/>
                    <a:lstStyle/>
                    <a:p>
                      <a:pPr>
                        <a:lnSpc>
                          <a:spcPct val="130000"/>
                        </a:lnSpc>
                        <a:spcAft>
                          <a:spcPts val="0"/>
                        </a:spcAft>
                      </a:pPr>
                      <a:r>
                        <a:rPr sz="850" b="0">
                          <a:solidFill>
                            <a:srgbClr val="33555F"/>
                          </a:solidFill>
                          <a:latin typeface="Plus Jakarta Sans"/>
                        </a:rPr>
                        <a:t>Cargo collection file</a:t>
                      </a:r>
                    </a:p>
                  </a:txBody>
                  <a:tcPr marL="54864" marR="54864" marT="45720" marB="45720" anchor="t">
                    <a:solidFill>
                      <a:srgbClr val="FBFDFE"/>
                    </a:solidFill>
                  </a:tcPr>
                </a:tc>
                <a:tc>
                  <a:txBody>
                    <a:bodyPr/>
                    <a:lstStyle/>
                    <a:p>
                      <a:pPr>
                        <a:lnSpc>
                          <a:spcPct val="130000"/>
                        </a:lnSpc>
                        <a:spcAft>
                          <a:spcPts val="0"/>
                        </a:spcAft>
                      </a:pPr>
                      <a:r>
                        <a:rPr sz="850" b="0">
                          <a:solidFill>
                            <a:srgbClr val="33555F"/>
                          </a:solidFill>
                          <a:latin typeface="Plus Jakarta Sans"/>
                        </a:rPr>
                        <a:t>CASS report and Form FF where freight was collected in taka</a:t>
                      </a:r>
                    </a:p>
                  </a:txBody>
                  <a:tcPr marL="54864" marR="54864" marT="45720" marB="45720" anchor="t">
                    <a:solidFill>
                      <a:srgbClr val="FBFDFE"/>
                    </a:solidFill>
                  </a:tcPr>
                </a:tc>
              </a:tr>
              <a:tr h="224028">
                <a:tc>
                  <a:txBody>
                    <a:bodyPr/>
                    <a:lstStyle/>
                    <a:p>
                      <a:pPr>
                        <a:lnSpc>
                          <a:spcPct val="130000"/>
                        </a:lnSpc>
                        <a:spcAft>
                          <a:spcPts val="0"/>
                        </a:spcAft>
                      </a:pPr>
                      <a:r>
                        <a:rPr sz="850" b="0">
                          <a:solidFill>
                            <a:srgbClr val="33555F"/>
                          </a:solidFill>
                          <a:latin typeface="Plus Jakarta Sans"/>
                        </a:rPr>
                        <a:t>Counter and miscellaneous</a:t>
                      </a:r>
                    </a:p>
                  </a:txBody>
                  <a:tcPr marL="54864" marR="54864" marT="45720" marB="45720" anchor="t">
                    <a:solidFill>
                      <a:srgbClr val="FFFFFF"/>
                    </a:solidFill>
                  </a:tcPr>
                </a:tc>
                <a:tc>
                  <a:txBody>
                    <a:bodyPr/>
                    <a:lstStyle/>
                    <a:p>
                      <a:pPr>
                        <a:lnSpc>
                          <a:spcPct val="130000"/>
                        </a:lnSpc>
                        <a:spcAft>
                          <a:spcPts val="0"/>
                        </a:spcAft>
                      </a:pPr>
                      <a:r>
                        <a:rPr sz="850" b="0">
                          <a:solidFill>
                            <a:srgbClr val="33555F"/>
                          </a:solidFill>
                          <a:latin typeface="Plus Jakarta Sans"/>
                        </a:rPr>
                        <a:t>Miscellaneous file</a:t>
                      </a:r>
                    </a:p>
                  </a:txBody>
                  <a:tcPr marL="54864" marR="54864" marT="45720" marB="45720" anchor="t">
                    <a:solidFill>
                      <a:srgbClr val="FFFFFF"/>
                    </a:solidFill>
                  </a:tcPr>
                </a:tc>
                <a:tc>
                  <a:txBody>
                    <a:bodyPr/>
                    <a:lstStyle/>
                    <a:p>
                      <a:pPr>
                        <a:lnSpc>
                          <a:spcPct val="130000"/>
                        </a:lnSpc>
                        <a:spcAft>
                          <a:spcPts val="0"/>
                        </a:spcAft>
                      </a:pPr>
                      <a:r>
                        <a:rPr sz="850" b="0">
                          <a:solidFill>
                            <a:srgbClr val="33555F"/>
                          </a:solidFill>
                          <a:latin typeface="Plus Jakarta Sans"/>
                        </a:rPr>
                        <a:t>System generated counter sales and excess baggage reports</a:t>
                      </a:r>
                    </a:p>
                  </a:txBody>
                  <a:tcPr marL="54864" marR="54864" marT="45720" marB="45720" anchor="t">
                    <a:solidFill>
                      <a:srgbClr val="FFFFFF"/>
                    </a:solidFill>
                  </a:tcPr>
                </a:tc>
              </a:tr>
              <a:tr h="224028">
                <a:tc>
                  <a:txBody>
                    <a:bodyPr/>
                    <a:lstStyle/>
                    <a:p>
                      <a:pPr>
                        <a:lnSpc>
                          <a:spcPct val="130000"/>
                        </a:lnSpc>
                        <a:spcAft>
                          <a:spcPts val="0"/>
                        </a:spcAft>
                      </a:pPr>
                      <a:r>
                        <a:rPr sz="850" b="0">
                          <a:solidFill>
                            <a:srgbClr val="33555F"/>
                          </a:solidFill>
                          <a:latin typeface="Plus Jakarta Sans"/>
                        </a:rPr>
                        <a:t>Disbursements</a:t>
                      </a:r>
                    </a:p>
                  </a:txBody>
                  <a:tcPr marL="54864" marR="54864" marT="45720" marB="45720" anchor="t">
                    <a:solidFill>
                      <a:srgbClr val="FBFDFE"/>
                    </a:solidFill>
                  </a:tcPr>
                </a:tc>
                <a:tc>
                  <a:txBody>
                    <a:bodyPr/>
                    <a:lstStyle/>
                    <a:p>
                      <a:pPr>
                        <a:lnSpc>
                          <a:spcPct val="130000"/>
                        </a:lnSpc>
                        <a:spcAft>
                          <a:spcPts val="0"/>
                        </a:spcAft>
                      </a:pPr>
                      <a:r>
                        <a:rPr sz="850" b="0">
                          <a:solidFill>
                            <a:srgbClr val="33555F"/>
                          </a:solidFill>
                          <a:latin typeface="Plus Jakarta Sans"/>
                        </a:rPr>
                        <a:t>Disbursement file</a:t>
                      </a:r>
                    </a:p>
                  </a:txBody>
                  <a:tcPr marL="54864" marR="54864" marT="45720" marB="45720" anchor="t">
                    <a:solidFill>
                      <a:srgbClr val="FBFDFE"/>
                    </a:solidFill>
                  </a:tcPr>
                </a:tc>
                <a:tc>
                  <a:txBody>
                    <a:bodyPr/>
                    <a:lstStyle/>
                    <a:p>
                      <a:pPr>
                        <a:lnSpc>
                          <a:spcPct val="130000"/>
                        </a:lnSpc>
                        <a:spcAft>
                          <a:spcPts val="0"/>
                        </a:spcAft>
                      </a:pPr>
                      <a:r>
                        <a:rPr sz="850" b="0">
                          <a:solidFill>
                            <a:srgbClr val="33555F"/>
                          </a:solidFill>
                          <a:latin typeface="Plus Jakarta Sans"/>
                        </a:rPr>
                        <a:t>Bank statement, plus challans for VAT and tax actually paid</a:t>
                      </a:r>
                    </a:p>
                  </a:txBody>
                  <a:tcPr marL="54864" marR="54864" marT="45720" marB="45720" anchor="t">
                    <a:solidFill>
                      <a:srgbClr val="FBFDFE"/>
                    </a:solidFill>
                  </a:tcPr>
                </a:tc>
              </a:tr>
              <a:tr h="224028">
                <a:tc>
                  <a:txBody>
                    <a:bodyPr/>
                    <a:lstStyle/>
                    <a:p>
                      <a:pPr>
                        <a:lnSpc>
                          <a:spcPct val="130000"/>
                        </a:lnSpc>
                        <a:spcAft>
                          <a:spcPts val="0"/>
                        </a:spcAft>
                      </a:pPr>
                      <a:r>
                        <a:rPr sz="850" b="0">
                          <a:solidFill>
                            <a:srgbClr val="0A5F65"/>
                          </a:solidFill>
                          <a:latin typeface="Plus Jakarta Sans"/>
                        </a:rPr>
                        <a:t>Every line above</a:t>
                      </a:r>
                    </a:p>
                  </a:txBody>
                  <a:tcPr marL="54864" marR="54864" marT="45720" marB="45720" anchor="t">
                    <a:solidFill>
                      <a:srgbClr val="DCF2F3"/>
                    </a:solidFill>
                  </a:tcPr>
                </a:tc>
                <a:tc>
                  <a:txBody>
                    <a:bodyPr/>
                    <a:lstStyle/>
                    <a:p>
                      <a:pPr>
                        <a:lnSpc>
                          <a:spcPct val="130000"/>
                        </a:lnSpc>
                        <a:spcAft>
                          <a:spcPts val="0"/>
                        </a:spcAft>
                      </a:pPr>
                      <a:r>
                        <a:rPr sz="850" b="0">
                          <a:solidFill>
                            <a:srgbClr val="0A5F65"/>
                          </a:solidFill>
                          <a:latin typeface="Plus Jakarta Sans"/>
                        </a:rPr>
                        <a:t>All files</a:t>
                      </a:r>
                    </a:p>
                  </a:txBody>
                  <a:tcPr marL="54864" marR="54864" marT="45720" marB="45720" anchor="t">
                    <a:solidFill>
                      <a:srgbClr val="DCF2F3"/>
                    </a:solidFill>
                  </a:tcPr>
                </a:tc>
                <a:tc>
                  <a:txBody>
                    <a:bodyPr/>
                    <a:lstStyle/>
                    <a:p>
                      <a:pPr>
                        <a:lnSpc>
                          <a:spcPct val="130000"/>
                        </a:lnSpc>
                        <a:spcAft>
                          <a:spcPts val="0"/>
                        </a:spcAft>
                      </a:pPr>
                      <a:r>
                        <a:rPr sz="850" b="0">
                          <a:solidFill>
                            <a:srgbClr val="0A5F65"/>
                          </a:solidFill>
                          <a:latin typeface="Plus Jakarta Sans"/>
                        </a:rPr>
                        <a:t>The dedicated account bank statement</a:t>
                      </a:r>
                    </a:p>
                  </a:txBody>
                  <a:tcPr marL="54864" marR="54864" marT="45720" marB="45720" anchor="t">
                    <a:solidFill>
                      <a:srgbClr val="DCF2F3"/>
                    </a:solidFill>
                  </a:tcPr>
                </a:tc>
              </a:tr>
            </a:tbl>
          </a:graphicData>
        </a:graphic>
      </p:graphicFrame>
      <p:sp>
        <p:nvSpPr>
          <p:cNvPr id="18" name="TextBox 17"/>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566928"/>
            <a:ext cx="10618927" cy="274320"/>
          </a:xfrm>
          <a:prstGeom prst="rect">
            <a:avLst/>
          </a:prstGeom>
          <a:noFill/>
        </p:spPr>
        <p:txBody>
          <a:bodyPr wrap="square" lIns="0" rIns="0" tIns="0" bIns="0">
            <a:spAutoFit/>
          </a:bodyPr>
          <a:lstStyle/>
          <a:p>
            <a:pPr>
              <a:lnSpc>
                <a:spcPct val="135000"/>
              </a:lnSpc>
              <a:spcAft>
                <a:spcPts val="0"/>
              </a:spcAft>
            </a:pPr>
            <a:r>
              <a:rPr sz="1000" b="0" cap="all" spc="240">
                <a:solidFill>
                  <a:srgbClr val="0C7A80"/>
                </a:solidFill>
                <a:latin typeface="IBM Plex Mono"/>
              </a:rPr>
              <a:t>08  .  Documents required annually</a:t>
            </a:r>
          </a:p>
        </p:txBody>
      </p:sp>
      <p:sp>
        <p:nvSpPr>
          <p:cNvPr id="4" name="TextBox 3"/>
          <p:cNvSpPr txBox="1"/>
          <p:nvPr/>
        </p:nvSpPr>
        <p:spPr>
          <a:xfrm>
            <a:off x="786384" y="932688"/>
            <a:ext cx="10618927" cy="1371600"/>
          </a:xfrm>
          <a:prstGeom prst="rect">
            <a:avLst/>
          </a:prstGeom>
          <a:noFill/>
        </p:spPr>
        <p:txBody>
          <a:bodyPr wrap="square" lIns="0" rIns="0" tIns="0" bIns="0">
            <a:spAutoFit/>
          </a:bodyPr>
          <a:lstStyle/>
          <a:p>
            <a:pPr>
              <a:lnSpc>
                <a:spcPct val="108000"/>
              </a:lnSpc>
              <a:spcAft>
                <a:spcPts val="0"/>
              </a:spcAft>
            </a:pPr>
            <a:r>
              <a:rPr sz="2900" b="1">
                <a:solidFill>
                  <a:srgbClr val="0E2830"/>
                </a:solidFill>
                <a:latin typeface="Outfit"/>
              </a:rPr>
              <a:t>Eight documents that have to be valid on the day the bank looks.</a:t>
            </a:r>
          </a:p>
        </p:txBody>
      </p:sp>
      <p:sp>
        <p:nvSpPr>
          <p:cNvPr id="5" name="TextBox 4"/>
          <p:cNvSpPr txBox="1"/>
          <p:nvPr/>
        </p:nvSpPr>
        <p:spPr>
          <a:xfrm>
            <a:off x="786384" y="1920240"/>
            <a:ext cx="10515600" cy="914400"/>
          </a:xfrm>
          <a:prstGeom prst="rect">
            <a:avLst/>
          </a:prstGeom>
          <a:noFill/>
        </p:spPr>
        <p:txBody>
          <a:bodyPr wrap="square" lIns="0" rIns="0" tIns="0" bIns="0">
            <a:spAutoFit/>
          </a:bodyPr>
          <a:lstStyle/>
          <a:p>
            <a:pPr>
              <a:lnSpc>
                <a:spcPct val="142000"/>
              </a:lnSpc>
              <a:spcAft>
                <a:spcPts val="0"/>
              </a:spcAft>
            </a:pPr>
            <a:r>
              <a:rPr sz="1100" b="0">
                <a:solidFill>
                  <a:srgbClr val="33555F"/>
                </a:solidFill>
                <a:latin typeface="Plus Jakarta Sans"/>
              </a:rPr>
              <a:t>None of these are hard to obtain. All of them are easy to let expire. Each one, expired, stops a remittance that is otherwise perfectly computed.</a:t>
            </a:r>
          </a:p>
        </p:txBody>
      </p:sp>
      <p:sp>
        <p:nvSpPr>
          <p:cNvPr id="6" name="Oval 5"/>
          <p:cNvSpPr/>
          <p:nvPr/>
        </p:nvSpPr>
        <p:spPr>
          <a:xfrm>
            <a:off x="786384" y="2519172"/>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2450592"/>
            <a:ext cx="4965192" cy="822960"/>
          </a:xfrm>
          <a:prstGeom prst="rect">
            <a:avLst/>
          </a:prstGeom>
          <a:noFill/>
        </p:spPr>
        <p:txBody>
          <a:bodyPr wrap="square" lIns="0" rIns="0" tIns="0" bIns="0">
            <a:spAutoFit/>
          </a:bodyPr>
          <a:lstStyle/>
          <a:p>
            <a:pPr>
              <a:lnSpc>
                <a:spcPct val="140000"/>
              </a:lnSpc>
              <a:spcAft>
                <a:spcPts val="0"/>
              </a:spcAft>
            </a:pPr>
            <a:r>
              <a:rPr sz="1000" b="0">
                <a:solidFill>
                  <a:srgbClr val="33555F"/>
                </a:solidFill>
                <a:latin typeface="Plus Jakarta Sans"/>
              </a:rPr>
              <a:t>Valid BIDA branch office permission, with the subsequent waiver approval in place.</a:t>
            </a:r>
          </a:p>
        </p:txBody>
      </p:sp>
      <p:sp>
        <p:nvSpPr>
          <p:cNvPr id="8" name="Oval 7"/>
          <p:cNvSpPr/>
          <p:nvPr/>
        </p:nvSpPr>
        <p:spPr>
          <a:xfrm>
            <a:off x="786384" y="3001772"/>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2933192"/>
            <a:ext cx="4965192" cy="822960"/>
          </a:xfrm>
          <a:prstGeom prst="rect">
            <a:avLst/>
          </a:prstGeom>
          <a:noFill/>
        </p:spPr>
        <p:txBody>
          <a:bodyPr wrap="square" lIns="0" rIns="0" tIns="0" bIns="0">
            <a:spAutoFit/>
          </a:bodyPr>
          <a:lstStyle/>
          <a:p>
            <a:pPr>
              <a:lnSpc>
                <a:spcPct val="140000"/>
              </a:lnSpc>
              <a:spcAft>
                <a:spcPts val="0"/>
              </a:spcAft>
            </a:pPr>
            <a:r>
              <a:rPr sz="1000" b="0">
                <a:solidFill>
                  <a:srgbClr val="33555F"/>
                </a:solidFill>
                <a:latin typeface="Plus Jakarta Sans"/>
              </a:rPr>
              <a:t>Valid General Sales Agent agreement between Vietnam Airlines and Flyport.</a:t>
            </a:r>
          </a:p>
        </p:txBody>
      </p:sp>
      <p:sp>
        <p:nvSpPr>
          <p:cNvPr id="10" name="Oval 9"/>
          <p:cNvSpPr/>
          <p:nvPr/>
        </p:nvSpPr>
        <p:spPr>
          <a:xfrm>
            <a:off x="786384" y="3306572"/>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3237992"/>
            <a:ext cx="4965192" cy="822960"/>
          </a:xfrm>
          <a:prstGeom prst="rect">
            <a:avLst/>
          </a:prstGeom>
          <a:noFill/>
        </p:spPr>
        <p:txBody>
          <a:bodyPr wrap="square" lIns="0" rIns="0" tIns="0" bIns="0">
            <a:spAutoFit/>
          </a:bodyPr>
          <a:lstStyle/>
          <a:p>
            <a:pPr>
              <a:lnSpc>
                <a:spcPct val="140000"/>
              </a:lnSpc>
              <a:spcAft>
                <a:spcPts val="0"/>
              </a:spcAft>
            </a:pPr>
            <a:r>
              <a:rPr sz="1000" b="0">
                <a:solidFill>
                  <a:srgbClr val="33555F"/>
                </a:solidFill>
                <a:latin typeface="Plus Jakarta Sans"/>
              </a:rPr>
              <a:t>City office and airport office lease agreements, plus the airport cargo village lease.</a:t>
            </a:r>
          </a:p>
        </p:txBody>
      </p:sp>
      <p:sp>
        <p:nvSpPr>
          <p:cNvPr id="12" name="Oval 11"/>
          <p:cNvSpPr/>
          <p:nvPr/>
        </p:nvSpPr>
        <p:spPr>
          <a:xfrm>
            <a:off x="786384" y="3789172"/>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1832" y="3720592"/>
            <a:ext cx="4965192" cy="822960"/>
          </a:xfrm>
          <a:prstGeom prst="rect">
            <a:avLst/>
          </a:prstGeom>
          <a:noFill/>
        </p:spPr>
        <p:txBody>
          <a:bodyPr wrap="square" lIns="0" rIns="0" tIns="0" bIns="0">
            <a:spAutoFit/>
          </a:bodyPr>
          <a:lstStyle/>
          <a:p>
            <a:pPr>
              <a:lnSpc>
                <a:spcPct val="140000"/>
              </a:lnSpc>
              <a:spcAft>
                <a:spcPts val="0"/>
              </a:spcAft>
            </a:pPr>
            <a:r>
              <a:rPr sz="1000" b="0">
                <a:solidFill>
                  <a:srgbClr val="33555F"/>
                </a:solidFill>
                <a:latin typeface="Plus Jakarta Sans"/>
              </a:rPr>
              <a:t>Agreements with CAAB and Biman Bangladesh for fuel uplift, catering and ground handling.</a:t>
            </a:r>
          </a:p>
        </p:txBody>
      </p:sp>
      <p:sp>
        <p:nvSpPr>
          <p:cNvPr id="14" name="Oval 13"/>
          <p:cNvSpPr/>
          <p:nvPr/>
        </p:nvSpPr>
        <p:spPr>
          <a:xfrm>
            <a:off x="6446520" y="2519172"/>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01968" y="2450592"/>
            <a:ext cx="4782312" cy="822960"/>
          </a:xfrm>
          <a:prstGeom prst="rect">
            <a:avLst/>
          </a:prstGeom>
          <a:noFill/>
        </p:spPr>
        <p:txBody>
          <a:bodyPr wrap="square" lIns="0" rIns="0" tIns="0" bIns="0">
            <a:spAutoFit/>
          </a:bodyPr>
          <a:lstStyle/>
          <a:p>
            <a:pPr>
              <a:lnSpc>
                <a:spcPct val="140000"/>
              </a:lnSpc>
              <a:spcAft>
                <a:spcPts val="0"/>
              </a:spcAft>
            </a:pPr>
            <a:r>
              <a:rPr sz="1000" b="0">
                <a:solidFill>
                  <a:srgbClr val="33555F"/>
                </a:solidFill>
                <a:latin typeface="Plus Jakarta Sans"/>
              </a:rPr>
              <a:t>No Objection Certificate from CAAB favouring the General Sales Agent.</a:t>
            </a:r>
          </a:p>
        </p:txBody>
      </p:sp>
      <p:sp>
        <p:nvSpPr>
          <p:cNvPr id="16" name="Oval 15"/>
          <p:cNvSpPr/>
          <p:nvPr/>
        </p:nvSpPr>
        <p:spPr>
          <a:xfrm>
            <a:off x="6446520" y="2823972"/>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01968" y="2755392"/>
            <a:ext cx="4782312" cy="822960"/>
          </a:xfrm>
          <a:prstGeom prst="rect">
            <a:avLst/>
          </a:prstGeom>
          <a:noFill/>
        </p:spPr>
        <p:txBody>
          <a:bodyPr wrap="square" lIns="0" rIns="0" tIns="0" bIns="0">
            <a:spAutoFit/>
          </a:bodyPr>
          <a:lstStyle/>
          <a:p>
            <a:pPr>
              <a:lnSpc>
                <a:spcPct val="140000"/>
              </a:lnSpc>
              <a:spcAft>
                <a:spcPts val="0"/>
              </a:spcAft>
            </a:pPr>
            <a:r>
              <a:rPr sz="1000" b="0">
                <a:solidFill>
                  <a:srgbClr val="33555F"/>
                </a:solidFill>
                <a:latin typeface="Plus Jakarta Sans"/>
              </a:rPr>
              <a:t>Valid tax exemption certificate from the National Board of Revenue.</a:t>
            </a:r>
          </a:p>
        </p:txBody>
      </p:sp>
      <p:sp>
        <p:nvSpPr>
          <p:cNvPr id="18" name="Oval 17"/>
          <p:cNvSpPr/>
          <p:nvPr/>
        </p:nvSpPr>
        <p:spPr>
          <a:xfrm>
            <a:off x="6446520" y="3128772"/>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01968" y="3060192"/>
            <a:ext cx="4782312" cy="822960"/>
          </a:xfrm>
          <a:prstGeom prst="rect">
            <a:avLst/>
          </a:prstGeom>
          <a:noFill/>
        </p:spPr>
        <p:txBody>
          <a:bodyPr wrap="square" lIns="0" rIns="0" tIns="0" bIns="0">
            <a:spAutoFit/>
          </a:bodyPr>
          <a:lstStyle/>
          <a:p>
            <a:pPr>
              <a:lnSpc>
                <a:spcPct val="140000"/>
              </a:lnSpc>
              <a:spcAft>
                <a:spcPts val="0"/>
              </a:spcAft>
            </a:pPr>
            <a:r>
              <a:rPr sz="1000" b="0">
                <a:solidFill>
                  <a:srgbClr val="33555F"/>
                </a:solidFill>
                <a:latin typeface="Plus Jakarta Sans"/>
              </a:rPr>
              <a:t>Valid work permit for each expatriate employee.</a:t>
            </a:r>
          </a:p>
        </p:txBody>
      </p:sp>
      <p:sp>
        <p:nvSpPr>
          <p:cNvPr id="20" name="Oval 19"/>
          <p:cNvSpPr/>
          <p:nvPr/>
        </p:nvSpPr>
        <p:spPr>
          <a:xfrm>
            <a:off x="6446520" y="3433572"/>
            <a:ext cx="50292" cy="50292"/>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01968" y="3364992"/>
            <a:ext cx="4782312" cy="822960"/>
          </a:xfrm>
          <a:prstGeom prst="rect">
            <a:avLst/>
          </a:prstGeom>
          <a:noFill/>
        </p:spPr>
        <p:txBody>
          <a:bodyPr wrap="square" lIns="0" rIns="0" tIns="0" bIns="0">
            <a:spAutoFit/>
          </a:bodyPr>
          <a:lstStyle/>
          <a:p>
            <a:pPr>
              <a:lnSpc>
                <a:spcPct val="140000"/>
              </a:lnSpc>
              <a:spcAft>
                <a:spcPts val="0"/>
              </a:spcAft>
            </a:pPr>
            <a:r>
              <a:rPr sz="1000" b="0">
                <a:solidFill>
                  <a:srgbClr val="33555F"/>
                </a:solidFill>
                <a:latin typeface="Plus Jakarta Sans"/>
              </a:rPr>
              <a:t>Updated VAT registration, trade licence and tax certificate.</a:t>
            </a:r>
          </a:p>
        </p:txBody>
      </p:sp>
      <p:sp>
        <p:nvSpPr>
          <p:cNvPr id="22" name="Rounded Rectangle 21"/>
          <p:cNvSpPr/>
          <p:nvPr/>
        </p:nvSpPr>
        <p:spPr>
          <a:xfrm>
            <a:off x="786384" y="4443984"/>
            <a:ext cx="5120640" cy="1417320"/>
          </a:xfrm>
          <a:prstGeom prst="roundRect">
            <a:avLst>
              <a:gd name="adj" fmla="val 5500"/>
            </a:avLst>
          </a:prstGeom>
          <a:gradFill rotWithShape="1">
            <a:gsLst>
              <a:gs pos="0">
                <a:srgbClr val="FCE2F0"/>
              </a:gs>
              <a:gs pos="62000">
                <a:srgbClr val="FFFFFF"/>
              </a:gs>
            </a:gsLst>
            <a:lin scaled="0" ang="2700000"/>
          </a:gradFill>
          <a:ln w="12700">
            <a:solidFill>
              <a:srgbClr val="F49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4626864"/>
            <a:ext cx="4681727" cy="1051560"/>
          </a:xfrm>
          <a:prstGeom prst="rect">
            <a:avLst/>
          </a:prstGeom>
          <a:noFill/>
        </p:spPr>
        <p:txBody>
          <a:bodyPr wrap="square" lIns="0" rIns="0" tIns="0" bIns="0">
            <a:spAutoFit/>
          </a:bodyPr>
          <a:lstStyle/>
          <a:p>
            <a:pPr>
              <a:lnSpc>
                <a:spcPct val="135000"/>
              </a:lnSpc>
              <a:spcAft>
                <a:spcPts val="500"/>
              </a:spcAft>
            </a:pPr>
            <a:r>
              <a:rPr sz="800" b="0" cap="all" spc="180">
                <a:solidFill>
                  <a:srgbClr val="C10073"/>
                </a:solidFill>
                <a:latin typeface="IBM Plex Mono"/>
              </a:rPr>
              <a:t>How Flyport holds this</a:t>
            </a:r>
          </a:p>
          <a:p>
            <a:pPr>
              <a:lnSpc>
                <a:spcPct val="116000"/>
              </a:lnSpc>
              <a:spcAft>
                <a:spcPts val="500"/>
              </a:spcAft>
            </a:pPr>
            <a:r>
              <a:rPr sz="1100" b="1">
                <a:solidFill>
                  <a:srgbClr val="0E2830"/>
                </a:solidFill>
                <a:latin typeface="Outfit"/>
              </a:rPr>
              <a:t>One expiry register, reviewed monthly, not annually</a:t>
            </a:r>
          </a:p>
          <a:p>
            <a:pPr>
              <a:lnSpc>
                <a:spcPct val="140000"/>
              </a:lnSpc>
              <a:spcAft>
                <a:spcPts val="0"/>
              </a:spcAft>
            </a:pPr>
            <a:r>
              <a:rPr sz="880" b="0">
                <a:solidFill>
                  <a:srgbClr val="33555F"/>
                </a:solidFill>
                <a:latin typeface="Plus Jakarta Sans"/>
              </a:rPr>
              <a:t>Each of the eight carries an expiry date and a renewal lead time, reviewed in the same monthly cycle as the remittance file, so a renewal starts ninety days out rather than on a rejection notice.</a:t>
            </a:r>
          </a:p>
        </p:txBody>
      </p:sp>
      <p:sp>
        <p:nvSpPr>
          <p:cNvPr id="24" name="Rounded Rectangle 23"/>
          <p:cNvSpPr/>
          <p:nvPr/>
        </p:nvSpPr>
        <p:spPr>
          <a:xfrm>
            <a:off x="6446520" y="4443984"/>
            <a:ext cx="4937760" cy="1417320"/>
          </a:xfrm>
          <a:prstGeom prst="roundRect">
            <a:avLst>
              <a:gd name="adj" fmla="val 5500"/>
            </a:avLst>
          </a:prstGeom>
          <a:gradFill rotWithShape="1">
            <a:gsLst>
              <a:gs pos="0">
                <a:srgbClr val="FBE7E2"/>
              </a:gs>
              <a:gs pos="62000">
                <a:srgbClr val="FFFFFF"/>
              </a:gs>
            </a:gsLst>
            <a:lin scaled="0" ang="2700000"/>
          </a:gradFill>
          <a:ln w="12700">
            <a:solidFill>
              <a:srgbClr val="E3A7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65976" y="4626864"/>
            <a:ext cx="4498848" cy="1051560"/>
          </a:xfrm>
          <a:prstGeom prst="rect">
            <a:avLst/>
          </a:prstGeom>
          <a:noFill/>
        </p:spPr>
        <p:txBody>
          <a:bodyPr wrap="square" lIns="0" rIns="0" tIns="0" bIns="0">
            <a:spAutoFit/>
          </a:bodyPr>
          <a:lstStyle/>
          <a:p>
            <a:pPr>
              <a:lnSpc>
                <a:spcPct val="135000"/>
              </a:lnSpc>
              <a:spcAft>
                <a:spcPts val="500"/>
              </a:spcAft>
            </a:pPr>
            <a:r>
              <a:rPr sz="800" b="0" cap="all" spc="180">
                <a:solidFill>
                  <a:srgbClr val="C0442B"/>
                </a:solidFill>
                <a:latin typeface="IBM Plex Mono"/>
              </a:rPr>
              <a:t>The compounding risk</a:t>
            </a:r>
          </a:p>
          <a:p>
            <a:pPr>
              <a:lnSpc>
                <a:spcPct val="116000"/>
              </a:lnSpc>
              <a:spcAft>
                <a:spcPts val="500"/>
              </a:spcAft>
            </a:pPr>
            <a:r>
              <a:rPr sz="1100" b="1">
                <a:solidFill>
                  <a:srgbClr val="0E2830"/>
                </a:solidFill>
                <a:latin typeface="Outfit"/>
              </a:rPr>
              <a:t>An expiry found late costs more than one month</a:t>
            </a:r>
          </a:p>
          <a:p>
            <a:pPr>
              <a:lnSpc>
                <a:spcPct val="140000"/>
              </a:lnSpc>
              <a:spcAft>
                <a:spcPts val="0"/>
              </a:spcAft>
            </a:pPr>
            <a:r>
              <a:rPr sz="880" b="0">
                <a:solidFill>
                  <a:srgbClr val="33555F"/>
                </a:solidFill>
                <a:latin typeface="Plus Jakarta Sans"/>
              </a:rPr>
              <a:t>Because approval is post facto and the window runs from the date of documents last approved, a lapse interrupts the chain the six month window is measured against, and the next file inherits the problem.</a:t>
            </a:r>
          </a:p>
        </p:txBody>
      </p:sp>
      <p:sp>
        <p:nvSpPr>
          <p:cNvPr id="26" name="TextBox 25"/>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566928"/>
            <a:ext cx="10618927" cy="274320"/>
          </a:xfrm>
          <a:prstGeom prst="rect">
            <a:avLst/>
          </a:prstGeom>
          <a:noFill/>
        </p:spPr>
        <p:txBody>
          <a:bodyPr wrap="square" lIns="0" rIns="0" tIns="0" bIns="0">
            <a:spAutoFit/>
          </a:bodyPr>
          <a:lstStyle/>
          <a:p>
            <a:pPr>
              <a:lnSpc>
                <a:spcPct val="135000"/>
              </a:lnSpc>
              <a:spcAft>
                <a:spcPts val="0"/>
              </a:spcAft>
            </a:pPr>
            <a:r>
              <a:rPr sz="1000" b="0" cap="all" spc="240">
                <a:solidFill>
                  <a:srgbClr val="0C7A80"/>
                </a:solidFill>
                <a:latin typeface="IBM Plex Mono"/>
              </a:rPr>
              <a:t>08  .  Documents required every month</a:t>
            </a:r>
          </a:p>
        </p:txBody>
      </p:sp>
      <p:sp>
        <p:nvSpPr>
          <p:cNvPr id="4" name="TextBox 3"/>
          <p:cNvSpPr txBox="1"/>
          <p:nvPr/>
        </p:nvSpPr>
        <p:spPr>
          <a:xfrm>
            <a:off x="786384" y="932688"/>
            <a:ext cx="10618927" cy="1371600"/>
          </a:xfrm>
          <a:prstGeom prst="rect">
            <a:avLst/>
          </a:prstGeom>
          <a:noFill/>
        </p:spPr>
        <p:txBody>
          <a:bodyPr wrap="square" lIns="0" rIns="0" tIns="0" bIns="0">
            <a:spAutoFit/>
          </a:bodyPr>
          <a:lstStyle/>
          <a:p>
            <a:pPr>
              <a:lnSpc>
                <a:spcPct val="108000"/>
              </a:lnSpc>
              <a:spcAft>
                <a:spcPts val="0"/>
              </a:spcAft>
            </a:pPr>
            <a:r>
              <a:rPr sz="2900" b="1">
                <a:solidFill>
                  <a:srgbClr val="0E2830"/>
                </a:solidFill>
                <a:latin typeface="Outfit"/>
              </a:rPr>
              <a:t>Eleven items, every month, for as long as the route operates.</a:t>
            </a:r>
          </a:p>
        </p:txBody>
      </p:sp>
      <p:sp>
        <p:nvSpPr>
          <p:cNvPr id="5" name="Rounded Rectangle 4"/>
          <p:cNvSpPr/>
          <p:nvPr/>
        </p:nvSpPr>
        <p:spPr>
          <a:xfrm>
            <a:off x="786384" y="1975104"/>
            <a:ext cx="3381146" cy="1691640"/>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57984"/>
            <a:ext cx="2942234" cy="1325880"/>
          </a:xfrm>
          <a:prstGeom prst="rect">
            <a:avLst/>
          </a:prstGeom>
          <a:noFill/>
        </p:spPr>
        <p:txBody>
          <a:bodyPr wrap="square" lIns="0" rIns="0" tIns="0" bIns="0">
            <a:spAutoFit/>
          </a:bodyPr>
          <a:lstStyle/>
          <a:p>
            <a:pPr>
              <a:lnSpc>
                <a:spcPct val="135000"/>
              </a:lnSpc>
              <a:spcAft>
                <a:spcPts val="500"/>
              </a:spcAft>
            </a:pPr>
            <a:r>
              <a:rPr sz="800" b="0" cap="all" spc="180">
                <a:solidFill>
                  <a:srgbClr val="0C7A80"/>
                </a:solidFill>
                <a:latin typeface="IBM Plex Mono"/>
              </a:rPr>
              <a:t>Prescribed forms</a:t>
            </a:r>
          </a:p>
          <a:p>
            <a:pPr>
              <a:lnSpc>
                <a:spcPct val="116000"/>
              </a:lnSpc>
              <a:spcAft>
                <a:spcPts val="500"/>
              </a:spcAft>
            </a:pPr>
          </a:p>
          <a:p>
            <a:pPr>
              <a:lnSpc>
                <a:spcPct val="140000"/>
              </a:lnSpc>
              <a:spcAft>
                <a:spcPts val="0"/>
              </a:spcAft>
            </a:pPr>
            <a:r>
              <a:rPr sz="900" b="0">
                <a:solidFill>
                  <a:srgbClr val="33555F"/>
                </a:solidFill>
                <a:latin typeface="Plus Jakarta Sans"/>
              </a:rPr>
              <a:t>Annexure A, the statement of revenue, collection and expenditure.  Appendices 5/42, 5/43, 5/46 and 5/47.  Annexure FA (I).  Annexure 1.  Letter of undertaking.</a:t>
            </a:r>
          </a:p>
        </p:txBody>
      </p:sp>
      <p:sp>
        <p:nvSpPr>
          <p:cNvPr id="7" name="Rounded Rectangle 6"/>
          <p:cNvSpPr/>
          <p:nvPr/>
        </p:nvSpPr>
        <p:spPr>
          <a:xfrm>
            <a:off x="4405274" y="1975104"/>
            <a:ext cx="3381146" cy="1691640"/>
          </a:xfrm>
          <a:prstGeom prst="roundRect">
            <a:avLst>
              <a:gd name="adj" fmla="val 5500"/>
            </a:avLst>
          </a:prstGeom>
          <a:gradFill rotWithShape="1">
            <a:gsLst>
              <a:gs pos="0">
                <a:srgbClr val="FBF1D6"/>
              </a:gs>
              <a:gs pos="62000">
                <a:srgbClr val="FFFFFF"/>
              </a:gs>
            </a:gsLst>
            <a:lin scaled="0" ang="2700000"/>
          </a:gradFill>
          <a:ln w="12700">
            <a:solidFill>
              <a:srgbClr val="D8A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24730" y="2157984"/>
            <a:ext cx="2942234" cy="1325880"/>
          </a:xfrm>
          <a:prstGeom prst="rect">
            <a:avLst/>
          </a:prstGeom>
          <a:noFill/>
        </p:spPr>
        <p:txBody>
          <a:bodyPr wrap="square" lIns="0" rIns="0" tIns="0" bIns="0">
            <a:spAutoFit/>
          </a:bodyPr>
          <a:lstStyle/>
          <a:p>
            <a:pPr>
              <a:lnSpc>
                <a:spcPct val="135000"/>
              </a:lnSpc>
              <a:spcAft>
                <a:spcPts val="500"/>
              </a:spcAft>
            </a:pPr>
            <a:r>
              <a:rPr sz="800" b="0" cap="all" spc="180">
                <a:solidFill>
                  <a:srgbClr val="8A6608"/>
                </a:solidFill>
                <a:latin typeface="IBM Plex Mono"/>
              </a:rPr>
              <a:t>Financial evidence</a:t>
            </a:r>
          </a:p>
          <a:p>
            <a:pPr>
              <a:lnSpc>
                <a:spcPct val="116000"/>
              </a:lnSpc>
              <a:spcAft>
                <a:spcPts val="500"/>
              </a:spcAft>
            </a:pPr>
          </a:p>
          <a:p>
            <a:pPr>
              <a:lnSpc>
                <a:spcPct val="140000"/>
              </a:lnSpc>
              <a:spcAft>
                <a:spcPts val="0"/>
              </a:spcAft>
            </a:pPr>
            <a:r>
              <a:rPr sz="900" b="0">
                <a:solidFill>
                  <a:srgbClr val="33555F"/>
                </a:solidFill>
                <a:latin typeface="Plus Jakarta Sans"/>
              </a:rPr>
              <a:t>Collection and disbursement summary.  Bank statement for the dedicated account.  Advance income tax and refund statement.  Challans for the relevant VAT and tax.</a:t>
            </a:r>
          </a:p>
        </p:txBody>
      </p:sp>
      <p:sp>
        <p:nvSpPr>
          <p:cNvPr id="9" name="Rounded Rectangle 8"/>
          <p:cNvSpPr/>
          <p:nvPr/>
        </p:nvSpPr>
        <p:spPr>
          <a:xfrm>
            <a:off x="8024164" y="1975104"/>
            <a:ext cx="3381146" cy="1691640"/>
          </a:xfrm>
          <a:prstGeom prst="roundRect">
            <a:avLst>
              <a:gd name="adj" fmla="val 5500"/>
            </a:avLst>
          </a:prstGeom>
          <a:gradFill rotWithShape="1">
            <a:gsLst>
              <a:gs pos="0">
                <a:srgbClr val="FCE2F0"/>
              </a:gs>
              <a:gs pos="62000">
                <a:srgbClr val="FFFFFF"/>
              </a:gs>
            </a:gsLst>
            <a:lin scaled="0" ang="2700000"/>
          </a:gradFill>
          <a:ln w="12700">
            <a:solidFill>
              <a:srgbClr val="F49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43620" y="2157984"/>
            <a:ext cx="2942234" cy="1325880"/>
          </a:xfrm>
          <a:prstGeom prst="rect">
            <a:avLst/>
          </a:prstGeom>
          <a:noFill/>
        </p:spPr>
        <p:txBody>
          <a:bodyPr wrap="square" lIns="0" rIns="0" tIns="0" bIns="0">
            <a:spAutoFit/>
          </a:bodyPr>
          <a:lstStyle/>
          <a:p>
            <a:pPr>
              <a:lnSpc>
                <a:spcPct val="135000"/>
              </a:lnSpc>
              <a:spcAft>
                <a:spcPts val="500"/>
              </a:spcAft>
            </a:pPr>
            <a:r>
              <a:rPr sz="800" b="0" cap="all" spc="180">
                <a:solidFill>
                  <a:srgbClr val="C10073"/>
                </a:solidFill>
                <a:latin typeface="IBM Plex Mono"/>
              </a:rPr>
              <a:t>Industry settlement</a:t>
            </a:r>
          </a:p>
          <a:p>
            <a:pPr>
              <a:lnSpc>
                <a:spcPct val="116000"/>
              </a:lnSpc>
              <a:spcAft>
                <a:spcPts val="500"/>
              </a:spcAft>
            </a:pPr>
          </a:p>
          <a:p>
            <a:pPr>
              <a:lnSpc>
                <a:spcPct val="140000"/>
              </a:lnSpc>
              <a:spcAft>
                <a:spcPts val="0"/>
              </a:spcAft>
            </a:pPr>
            <a:r>
              <a:rPr sz="900" b="0">
                <a:solidFill>
                  <a:srgbClr val="33555F"/>
                </a:solidFill>
                <a:latin typeface="Plus Jakarta Sans"/>
              </a:rPr>
              <a:t>BSP report.  CASS report.  Airline billing summary.  Payment summary for embarkation fee, airport charges and passenger development fee.</a:t>
            </a:r>
          </a:p>
        </p:txBody>
      </p:sp>
      <p:sp>
        <p:nvSpPr>
          <p:cNvPr id="11" name="TextBox 10"/>
          <p:cNvSpPr txBox="1"/>
          <p:nvPr/>
        </p:nvSpPr>
        <p:spPr>
          <a:xfrm>
            <a:off x="786384" y="3858768"/>
            <a:ext cx="10618927" cy="274320"/>
          </a:xfrm>
          <a:prstGeom prst="rect">
            <a:avLst/>
          </a:prstGeom>
          <a:noFill/>
        </p:spPr>
        <p:txBody>
          <a:bodyPr wrap="square" lIns="0" rIns="0" tIns="0" bIns="0">
            <a:spAutoFit/>
          </a:bodyPr>
          <a:lstStyle/>
          <a:p>
            <a:pPr>
              <a:lnSpc>
                <a:spcPct val="135000"/>
              </a:lnSpc>
              <a:spcAft>
                <a:spcPts val="0"/>
              </a:spcAft>
            </a:pPr>
            <a:r>
              <a:rPr sz="800" b="0" cap="all" spc="160">
                <a:solidFill>
                  <a:srgbClr val="8AA6AE"/>
                </a:solidFill>
                <a:latin typeface="IBM Plex Mono"/>
              </a:rPr>
              <a:t>Annexure A, the shape of it</a:t>
            </a:r>
          </a:p>
        </p:txBody>
      </p:sp>
      <p:graphicFrame>
        <p:nvGraphicFramePr>
          <p:cNvPr id="12" name="Table 11"/>
          <p:cNvGraphicFramePr>
            <a:graphicFrameLocks noGrp="1"/>
          </p:cNvGraphicFramePr>
          <p:nvPr/>
        </p:nvGraphicFramePr>
        <p:xfrm>
          <a:off x="786384" y="4114800"/>
          <a:ext cx="10616184" cy="1568195"/>
        </p:xfrm>
        <a:graphic>
          <a:graphicData uri="http://schemas.openxmlformats.org/drawingml/2006/table">
            <a:tbl>
              <a:tblPr bandRow="0" firstRow="0">
                <a:tableStyleId>{5C22544A-7EE6-4342-B048-85BDC9FD1C3A}</a:tableStyleId>
              </a:tblPr>
              <a:tblGrid>
                <a:gridCol w="2194560"/>
                <a:gridCol w="8421624"/>
              </a:tblGrid>
              <a:tr h="224027">
                <a:tc>
                  <a:txBody>
                    <a:bodyPr/>
                    <a:lstStyle/>
                    <a:p>
                      <a:pPr>
                        <a:lnSpc>
                          <a:spcPct val="120000"/>
                        </a:lnSpc>
                        <a:spcAft>
                          <a:spcPts val="0"/>
                        </a:spcAft>
                      </a:pPr>
                      <a:r>
                        <a:rPr sz="750" b="0" cap="all" spc="140">
                          <a:solidFill>
                            <a:srgbClr val="8AA6AE"/>
                          </a:solidFill>
                          <a:latin typeface="IBM Plex Mono"/>
                        </a:rPr>
                        <a:t>Section</a:t>
                      </a:r>
                    </a:p>
                  </a:txBody>
                  <a:tcPr marL="54864" marR="54864" marT="36576" marB="36576" anchor="b">
                    <a:solidFill>
                      <a:srgbClr val="FBFDFE"/>
                    </a:solidFill>
                  </a:tcPr>
                </a:tc>
                <a:tc>
                  <a:txBody>
                    <a:bodyPr/>
                    <a:lstStyle/>
                    <a:p>
                      <a:pPr>
                        <a:lnSpc>
                          <a:spcPct val="120000"/>
                        </a:lnSpc>
                        <a:spcAft>
                          <a:spcPts val="0"/>
                        </a:spcAft>
                      </a:pPr>
                      <a:r>
                        <a:rPr sz="750" b="0" cap="all" spc="140">
                          <a:solidFill>
                            <a:srgbClr val="8AA6AE"/>
                          </a:solidFill>
                          <a:latin typeface="IBM Plex Mono"/>
                        </a:rPr>
                        <a:t>Broken down as</a:t>
                      </a:r>
                    </a:p>
                  </a:txBody>
                  <a:tcPr marL="54864" marR="54864" marT="36576" marB="36576" anchor="b">
                    <a:solidFill>
                      <a:srgbClr val="FBFDFE"/>
                    </a:solidFill>
                  </a:tcPr>
                </a:tc>
              </a:tr>
              <a:tr h="224027">
                <a:tc>
                  <a:txBody>
                    <a:bodyPr/>
                    <a:lstStyle/>
                    <a:p>
                      <a:pPr>
                        <a:lnSpc>
                          <a:spcPct val="130000"/>
                        </a:lnSpc>
                        <a:spcAft>
                          <a:spcPts val="0"/>
                        </a:spcAft>
                      </a:pPr>
                      <a:r>
                        <a:rPr sz="850" b="0">
                          <a:solidFill>
                            <a:srgbClr val="33555F"/>
                          </a:solidFill>
                          <a:latin typeface="Plus Jakarta Sans"/>
                        </a:rPr>
                        <a:t>Cargo sales</a:t>
                      </a:r>
                    </a:p>
                  </a:txBody>
                  <a:tcPr marL="54864" marR="54864" marT="45720" marB="45720" anchor="t">
                    <a:solidFill>
                      <a:srgbClr val="FFFFFF"/>
                    </a:solidFill>
                  </a:tcPr>
                </a:tc>
                <a:tc>
                  <a:txBody>
                    <a:bodyPr/>
                    <a:lstStyle/>
                    <a:p>
                      <a:pPr>
                        <a:lnSpc>
                          <a:spcPct val="130000"/>
                        </a:lnSpc>
                        <a:spcAft>
                          <a:spcPts val="0"/>
                        </a:spcAft>
                      </a:pPr>
                      <a:r>
                        <a:rPr sz="850" b="0">
                          <a:solidFill>
                            <a:srgbClr val="33555F"/>
                          </a:solidFill>
                          <a:latin typeface="Plus Jakarta Sans"/>
                        </a:rPr>
                        <a:t>Sales through CASS, first fortnight and second fortnight, then direct and GSA sales, to a total cargo revenue line</a:t>
                      </a:r>
                    </a:p>
                  </a:txBody>
                  <a:tcPr marL="54864" marR="54864" marT="45720" marB="45720" anchor="t">
                    <a:solidFill>
                      <a:srgbClr val="FFFFFF"/>
                    </a:solidFill>
                  </a:tcPr>
                </a:tc>
              </a:tr>
              <a:tr h="224027">
                <a:tc>
                  <a:txBody>
                    <a:bodyPr/>
                    <a:lstStyle/>
                    <a:p>
                      <a:pPr>
                        <a:lnSpc>
                          <a:spcPct val="130000"/>
                        </a:lnSpc>
                        <a:spcAft>
                          <a:spcPts val="0"/>
                        </a:spcAft>
                      </a:pPr>
                      <a:r>
                        <a:rPr sz="850" b="0">
                          <a:solidFill>
                            <a:srgbClr val="33555F"/>
                          </a:solidFill>
                          <a:latin typeface="Plus Jakarta Sans"/>
                        </a:rPr>
                        <a:t>Passenger sales</a:t>
                      </a:r>
                    </a:p>
                  </a:txBody>
                  <a:tcPr marL="54864" marR="54864" marT="45720" marB="45720" anchor="t">
                    <a:solidFill>
                      <a:srgbClr val="FBFDFE"/>
                    </a:solidFill>
                  </a:tcPr>
                </a:tc>
                <a:tc>
                  <a:txBody>
                    <a:bodyPr/>
                    <a:lstStyle/>
                    <a:p>
                      <a:pPr>
                        <a:lnSpc>
                          <a:spcPct val="130000"/>
                        </a:lnSpc>
                        <a:spcAft>
                          <a:spcPts val="0"/>
                        </a:spcAft>
                      </a:pPr>
                      <a:r>
                        <a:rPr sz="850" b="0">
                          <a:solidFill>
                            <a:srgbClr val="33555F"/>
                          </a:solidFill>
                          <a:latin typeface="Plus Jakarta Sans"/>
                        </a:rPr>
                        <a:t>Sales through BSP, first and second fortnight, then direct and GSA sales by fortnight, to a total passenger revenue line</a:t>
                      </a:r>
                    </a:p>
                  </a:txBody>
                  <a:tcPr marL="54864" marR="54864" marT="45720" marB="45720" anchor="t">
                    <a:solidFill>
                      <a:srgbClr val="FBFDFE"/>
                    </a:solidFill>
                  </a:tcPr>
                </a:tc>
              </a:tr>
              <a:tr h="224027">
                <a:tc>
                  <a:txBody>
                    <a:bodyPr/>
                    <a:lstStyle/>
                    <a:p>
                      <a:pPr>
                        <a:lnSpc>
                          <a:spcPct val="130000"/>
                        </a:lnSpc>
                        <a:spcAft>
                          <a:spcPts val="0"/>
                        </a:spcAft>
                      </a:pPr>
                      <a:r>
                        <a:rPr sz="850" b="0">
                          <a:solidFill>
                            <a:srgbClr val="33555F"/>
                          </a:solidFill>
                          <a:latin typeface="Plus Jakarta Sans"/>
                        </a:rPr>
                        <a:t>Other collection</a:t>
                      </a:r>
                    </a:p>
                  </a:txBody>
                  <a:tcPr marL="54864" marR="54864" marT="45720" marB="45720" anchor="t">
                    <a:solidFill>
                      <a:srgbClr val="FFFFFF"/>
                    </a:solidFill>
                  </a:tcPr>
                </a:tc>
                <a:tc>
                  <a:txBody>
                    <a:bodyPr/>
                    <a:lstStyle/>
                    <a:p>
                      <a:pPr>
                        <a:lnSpc>
                          <a:spcPct val="130000"/>
                        </a:lnSpc>
                        <a:spcAft>
                          <a:spcPts val="0"/>
                        </a:spcAft>
                      </a:pPr>
                      <a:r>
                        <a:rPr sz="850" b="0">
                          <a:solidFill>
                            <a:srgbClr val="33555F"/>
                          </a:solidFill>
                          <a:latin typeface="Plus Jakarta Sans"/>
                        </a:rPr>
                        <a:t>Miscellaneous collections for the month</a:t>
                      </a:r>
                    </a:p>
                  </a:txBody>
                  <a:tcPr marL="54864" marR="54864" marT="45720" marB="45720" anchor="t">
                    <a:solidFill>
                      <a:srgbClr val="FFFFFF"/>
                    </a:solidFill>
                  </a:tcPr>
                </a:tc>
              </a:tr>
              <a:tr h="224027">
                <a:tc>
                  <a:txBody>
                    <a:bodyPr/>
                    <a:lstStyle/>
                    <a:p>
                      <a:pPr>
                        <a:lnSpc>
                          <a:spcPct val="130000"/>
                        </a:lnSpc>
                        <a:spcAft>
                          <a:spcPts val="0"/>
                        </a:spcAft>
                      </a:pPr>
                      <a:r>
                        <a:rPr sz="850" b="0">
                          <a:solidFill>
                            <a:srgbClr val="33555F"/>
                          </a:solidFill>
                          <a:latin typeface="Plus Jakarta Sans"/>
                        </a:rPr>
                        <a:t>Inward remittances</a:t>
                      </a:r>
                    </a:p>
                  </a:txBody>
                  <a:tcPr marL="54864" marR="54864" marT="45720" marB="45720" anchor="t">
                    <a:solidFill>
                      <a:srgbClr val="FBFDFE"/>
                    </a:solidFill>
                  </a:tcPr>
                </a:tc>
                <a:tc>
                  <a:txBody>
                    <a:bodyPr/>
                    <a:lstStyle/>
                    <a:p>
                      <a:pPr>
                        <a:lnSpc>
                          <a:spcPct val="130000"/>
                        </a:lnSpc>
                        <a:spcAft>
                          <a:spcPts val="0"/>
                        </a:spcAft>
                      </a:pPr>
                      <a:r>
                        <a:rPr sz="850" b="0">
                          <a:solidFill>
                            <a:srgbClr val="33555F"/>
                          </a:solidFill>
                          <a:latin typeface="Plus Jakarta Sans"/>
                        </a:rPr>
                        <a:t>Inward remittances received during the month</a:t>
                      </a:r>
                    </a:p>
                  </a:txBody>
                  <a:tcPr marL="54864" marR="54864" marT="45720" marB="45720" anchor="t">
                    <a:solidFill>
                      <a:srgbClr val="FBFDFE"/>
                    </a:solidFill>
                  </a:tcPr>
                </a:tc>
              </a:tr>
              <a:tr h="224027">
                <a:tc>
                  <a:txBody>
                    <a:bodyPr/>
                    <a:lstStyle/>
                    <a:p>
                      <a:pPr>
                        <a:lnSpc>
                          <a:spcPct val="130000"/>
                        </a:lnSpc>
                        <a:spcAft>
                          <a:spcPts val="0"/>
                        </a:spcAft>
                      </a:pPr>
                      <a:r>
                        <a:rPr sz="850" b="0">
                          <a:solidFill>
                            <a:srgbClr val="0A5F65"/>
                          </a:solidFill>
                          <a:latin typeface="Plus Jakarta Sans"/>
                        </a:rPr>
                        <a:t>Total revenue (A)</a:t>
                      </a:r>
                    </a:p>
                  </a:txBody>
                  <a:tcPr marL="54864" marR="54864" marT="45720" marB="45720" anchor="t">
                    <a:solidFill>
                      <a:srgbClr val="DCF2F3"/>
                    </a:solidFill>
                  </a:tcPr>
                </a:tc>
                <a:tc>
                  <a:txBody>
                    <a:bodyPr/>
                    <a:lstStyle/>
                    <a:p>
                      <a:pPr>
                        <a:lnSpc>
                          <a:spcPct val="130000"/>
                        </a:lnSpc>
                        <a:spcAft>
                          <a:spcPts val="0"/>
                        </a:spcAft>
                      </a:pPr>
                      <a:r>
                        <a:rPr sz="850" b="0">
                          <a:solidFill>
                            <a:srgbClr val="0A5F65"/>
                          </a:solidFill>
                          <a:latin typeface="Plus Jakarta Sans"/>
                        </a:rPr>
                        <a:t>Total revenue including inward remittances</a:t>
                      </a:r>
                    </a:p>
                  </a:txBody>
                  <a:tcPr marL="54864" marR="54864" marT="45720" marB="45720" anchor="t">
                    <a:solidFill>
                      <a:srgbClr val="DCF2F3"/>
                    </a:solidFill>
                  </a:tcPr>
                </a:tc>
              </a:tr>
              <a:tr h="224033">
                <a:tc>
                  <a:txBody>
                    <a:bodyPr/>
                    <a:lstStyle/>
                    <a:p>
                      <a:pPr>
                        <a:lnSpc>
                          <a:spcPct val="130000"/>
                        </a:lnSpc>
                        <a:spcAft>
                          <a:spcPts val="0"/>
                        </a:spcAft>
                      </a:pPr>
                      <a:r>
                        <a:rPr sz="850" b="0">
                          <a:solidFill>
                            <a:srgbClr val="33555F"/>
                          </a:solidFill>
                          <a:latin typeface="Plus Jakarta Sans"/>
                        </a:rPr>
                        <a:t>Expenditure</a:t>
                      </a:r>
                    </a:p>
                  </a:txBody>
                  <a:tcPr marL="54864" marR="54864" marT="45720" marB="45720" anchor="t">
                    <a:solidFill>
                      <a:srgbClr val="FBFDFE"/>
                    </a:solidFill>
                  </a:tcPr>
                </a:tc>
                <a:tc>
                  <a:txBody>
                    <a:bodyPr/>
                    <a:lstStyle/>
                    <a:p>
                      <a:pPr>
                        <a:lnSpc>
                          <a:spcPct val="130000"/>
                        </a:lnSpc>
                        <a:spcAft>
                          <a:spcPts val="0"/>
                        </a:spcAft>
                      </a:pPr>
                      <a:r>
                        <a:rPr sz="850" b="0">
                          <a:solidFill>
                            <a:srgbClr val="33555F"/>
                          </a:solidFill>
                          <a:latin typeface="Plus Jakarta Sans"/>
                        </a:rPr>
                        <a:t>Disbursements and other adjustments</a:t>
                      </a:r>
                    </a:p>
                  </a:txBody>
                  <a:tcPr marL="54864" marR="54864" marT="45720" marB="45720" anchor="t">
                    <a:solidFill>
                      <a:srgbClr val="FBFDFE"/>
                    </a:solidFill>
                  </a:tcPr>
                </a:tc>
              </a:tr>
            </a:tbl>
          </a:graphicData>
        </a:graphic>
      </p:graphicFrame>
      <p:sp>
        <p:nvSpPr>
          <p:cNvPr id="13" name="Rectangle 12"/>
          <p:cNvSpPr/>
          <p:nvPr/>
        </p:nvSpPr>
        <p:spPr>
          <a:xfrm>
            <a:off x="786384" y="5742432"/>
            <a:ext cx="10618927" cy="9525"/>
          </a:xfrm>
          <a:prstGeom prst="rect">
            <a:avLst/>
          </a:prstGeom>
          <a:solidFill>
            <a:srgbClr val="DCE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 y="5870448"/>
            <a:ext cx="10618927" cy="640080"/>
          </a:xfrm>
          <a:prstGeom prst="rect">
            <a:avLst/>
          </a:prstGeom>
          <a:noFill/>
        </p:spPr>
        <p:txBody>
          <a:bodyPr wrap="square" lIns="0" rIns="0" tIns="0" bIns="0">
            <a:spAutoFit/>
          </a:bodyPr>
          <a:lstStyle/>
          <a:p>
            <a:pPr>
              <a:lnSpc>
                <a:spcPct val="150000"/>
              </a:lnSpc>
              <a:spcAft>
                <a:spcPts val="0"/>
              </a:spcAft>
            </a:pPr>
            <a:r>
              <a:rPr sz="800" b="0">
                <a:solidFill>
                  <a:srgbClr val="52737D"/>
                </a:solidFill>
                <a:latin typeface="IBM Plex Mono"/>
              </a:rPr>
              <a:t>Note the fortnightly split. BSP and CASS settle fortnightly, so the statement is built the way settlement arrives, not the way a management account is built. Airlines that map a monthly ledger straight onto this form create the discrepancies that send the file back.</a:t>
            </a:r>
          </a:p>
        </p:txBody>
      </p:sp>
      <p:sp>
        <p:nvSpPr>
          <p:cNvPr id="15" name="TextBox 14"/>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566928"/>
            <a:ext cx="10618927" cy="274320"/>
          </a:xfrm>
          <a:prstGeom prst="rect">
            <a:avLst/>
          </a:prstGeom>
          <a:noFill/>
        </p:spPr>
        <p:txBody>
          <a:bodyPr wrap="square" lIns="0" rIns="0" tIns="0" bIns="0">
            <a:spAutoFit/>
          </a:bodyPr>
          <a:lstStyle/>
          <a:p>
            <a:pPr>
              <a:lnSpc>
                <a:spcPct val="135000"/>
              </a:lnSpc>
              <a:spcAft>
                <a:spcPts val="0"/>
              </a:spcAft>
            </a:pPr>
            <a:r>
              <a:rPr sz="1000" b="0" cap="all" spc="240">
                <a:solidFill>
                  <a:srgbClr val="0C7A80"/>
                </a:solidFill>
                <a:latin typeface="IBM Plex Mono"/>
              </a:rPr>
              <a:t>09  .  The operating rhythm</a:t>
            </a:r>
          </a:p>
        </p:txBody>
      </p:sp>
      <p:sp>
        <p:nvSpPr>
          <p:cNvPr id="4" name="TextBox 3"/>
          <p:cNvSpPr txBox="1"/>
          <p:nvPr/>
        </p:nvSpPr>
        <p:spPr>
          <a:xfrm>
            <a:off x="786384" y="932688"/>
            <a:ext cx="10618927" cy="1371600"/>
          </a:xfrm>
          <a:prstGeom prst="rect">
            <a:avLst/>
          </a:prstGeom>
          <a:noFill/>
        </p:spPr>
        <p:txBody>
          <a:bodyPr wrap="square" lIns="0" rIns="0" tIns="0" bIns="0">
            <a:spAutoFit/>
          </a:bodyPr>
          <a:lstStyle/>
          <a:p>
            <a:pPr>
              <a:lnSpc>
                <a:spcPct val="108000"/>
              </a:lnSpc>
              <a:spcAft>
                <a:spcPts val="0"/>
              </a:spcAft>
            </a:pPr>
            <a:r>
              <a:rPr sz="3000" b="1">
                <a:solidFill>
                  <a:srgbClr val="0E2830"/>
                </a:solidFill>
                <a:latin typeface="Outfit"/>
              </a:rPr>
              <a:t>What a compliant month actually looks like.</a:t>
            </a:r>
          </a:p>
        </p:txBody>
      </p:sp>
      <p:sp>
        <p:nvSpPr>
          <p:cNvPr id="5" name="TextBox 4"/>
          <p:cNvSpPr txBox="1"/>
          <p:nvPr/>
        </p:nvSpPr>
        <p:spPr>
          <a:xfrm>
            <a:off x="786384" y="1920240"/>
            <a:ext cx="10515600" cy="914400"/>
          </a:xfrm>
          <a:prstGeom prst="rect">
            <a:avLst/>
          </a:prstGeom>
          <a:noFill/>
        </p:spPr>
        <p:txBody>
          <a:bodyPr wrap="square" lIns="0" rIns="0" tIns="0" bIns="0">
            <a:spAutoFit/>
          </a:bodyPr>
          <a:lstStyle/>
          <a:p>
            <a:pPr>
              <a:lnSpc>
                <a:spcPct val="142000"/>
              </a:lnSpc>
              <a:spcAft>
                <a:spcPts val="0"/>
              </a:spcAft>
            </a:pPr>
            <a:r>
              <a:rPr sz="1100" b="0">
                <a:solidFill>
                  <a:srgbClr val="33555F"/>
                </a:solidFill>
                <a:latin typeface="Plus Jakarta Sans"/>
              </a:rPr>
              <a:t>This is the cycle Flyport runs on behalf of the carrier. It is deliberately front loaded, so a discrepancy is found while there is still time to fix it inside the same month.</a:t>
            </a:r>
          </a:p>
        </p:txBody>
      </p:sp>
      <p:sp>
        <p:nvSpPr>
          <p:cNvPr id="6" name="Rounded Rectangle 5"/>
          <p:cNvSpPr/>
          <p:nvPr/>
        </p:nvSpPr>
        <p:spPr>
          <a:xfrm>
            <a:off x="786384" y="2487168"/>
            <a:ext cx="2503855" cy="2103120"/>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 y="2633472"/>
            <a:ext cx="2138095" cy="274320"/>
          </a:xfrm>
          <a:prstGeom prst="rect">
            <a:avLst/>
          </a:prstGeom>
          <a:noFill/>
        </p:spPr>
        <p:txBody>
          <a:bodyPr wrap="square" lIns="0" rIns="0" tIns="0" bIns="0">
            <a:spAutoFit/>
          </a:bodyPr>
          <a:lstStyle/>
          <a:p>
            <a:pPr>
              <a:lnSpc>
                <a:spcPct val="135000"/>
              </a:lnSpc>
              <a:spcAft>
                <a:spcPts val="0"/>
              </a:spcAft>
            </a:pPr>
            <a:r>
              <a:rPr sz="800" b="0" cap="all" spc="200">
                <a:solidFill>
                  <a:srgbClr val="0C7A80"/>
                </a:solidFill>
                <a:latin typeface="IBM Plex Mono"/>
              </a:rPr>
              <a:t>Week 1</a:t>
            </a:r>
          </a:p>
        </p:txBody>
      </p:sp>
      <p:sp>
        <p:nvSpPr>
          <p:cNvPr id="8" name="Oval 7"/>
          <p:cNvSpPr/>
          <p:nvPr/>
        </p:nvSpPr>
        <p:spPr>
          <a:xfrm>
            <a:off x="969264" y="3012948"/>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24712" y="2944368"/>
            <a:ext cx="2000935" cy="822960"/>
          </a:xfrm>
          <a:prstGeom prst="rect">
            <a:avLst/>
          </a:prstGeom>
          <a:noFill/>
        </p:spPr>
        <p:txBody>
          <a:bodyPr wrap="square" lIns="0" rIns="0" tIns="0" bIns="0">
            <a:spAutoFit/>
          </a:bodyPr>
          <a:lstStyle/>
          <a:p>
            <a:pPr>
              <a:lnSpc>
                <a:spcPct val="132000"/>
              </a:lnSpc>
              <a:spcAft>
                <a:spcPts val="0"/>
              </a:spcAft>
            </a:pPr>
            <a:r>
              <a:rPr sz="819" b="0">
                <a:solidFill>
                  <a:srgbClr val="33555F"/>
                </a:solidFill>
                <a:latin typeface="Plus Jakarta Sans"/>
              </a:rPr>
              <a:t>Prior month bank statement drawn for the dedicated account</a:t>
            </a:r>
          </a:p>
        </p:txBody>
      </p:sp>
      <p:sp>
        <p:nvSpPr>
          <p:cNvPr id="10" name="Oval 9"/>
          <p:cNvSpPr/>
          <p:nvPr/>
        </p:nvSpPr>
        <p:spPr>
          <a:xfrm>
            <a:off x="969264" y="3364077"/>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24712" y="3295497"/>
            <a:ext cx="2000935" cy="822960"/>
          </a:xfrm>
          <a:prstGeom prst="rect">
            <a:avLst/>
          </a:prstGeom>
          <a:noFill/>
        </p:spPr>
        <p:txBody>
          <a:bodyPr wrap="square" lIns="0" rIns="0" tIns="0" bIns="0">
            <a:spAutoFit/>
          </a:bodyPr>
          <a:lstStyle/>
          <a:p>
            <a:pPr>
              <a:lnSpc>
                <a:spcPct val="132000"/>
              </a:lnSpc>
              <a:spcAft>
                <a:spcPts val="0"/>
              </a:spcAft>
            </a:pPr>
            <a:r>
              <a:rPr sz="819" b="0">
                <a:solidFill>
                  <a:srgbClr val="33555F"/>
                </a:solidFill>
                <a:latin typeface="Plus Jakarta Sans"/>
              </a:rPr>
              <a:t>First fortnight BSP and CASS positions reconciled</a:t>
            </a:r>
          </a:p>
        </p:txBody>
      </p:sp>
      <p:sp>
        <p:nvSpPr>
          <p:cNvPr id="12" name="Oval 11"/>
          <p:cNvSpPr/>
          <p:nvPr/>
        </p:nvSpPr>
        <p:spPr>
          <a:xfrm>
            <a:off x="969264" y="3715207"/>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24712" y="3646627"/>
            <a:ext cx="2000935" cy="822960"/>
          </a:xfrm>
          <a:prstGeom prst="rect">
            <a:avLst/>
          </a:prstGeom>
          <a:noFill/>
        </p:spPr>
        <p:txBody>
          <a:bodyPr wrap="square" lIns="0" rIns="0" tIns="0" bIns="0">
            <a:spAutoFit/>
          </a:bodyPr>
          <a:lstStyle/>
          <a:p>
            <a:pPr>
              <a:lnSpc>
                <a:spcPct val="132000"/>
              </a:lnSpc>
              <a:spcAft>
                <a:spcPts val="0"/>
              </a:spcAft>
            </a:pPr>
            <a:r>
              <a:rPr sz="819" b="0">
                <a:solidFill>
                  <a:srgbClr val="33555F"/>
                </a:solidFill>
                <a:latin typeface="Plus Jakarta Sans"/>
              </a:rPr>
              <a:t>Cargo desk closes outstanding Form FF for the prior month</a:t>
            </a:r>
          </a:p>
        </p:txBody>
      </p:sp>
      <p:sp>
        <p:nvSpPr>
          <p:cNvPr id="14" name="Oval 13"/>
          <p:cNvSpPr/>
          <p:nvPr/>
        </p:nvSpPr>
        <p:spPr>
          <a:xfrm>
            <a:off x="969264" y="4066336"/>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24712" y="3997756"/>
            <a:ext cx="2000935" cy="822960"/>
          </a:xfrm>
          <a:prstGeom prst="rect">
            <a:avLst/>
          </a:prstGeom>
          <a:noFill/>
        </p:spPr>
        <p:txBody>
          <a:bodyPr wrap="square" lIns="0" rIns="0" tIns="0" bIns="0">
            <a:spAutoFit/>
          </a:bodyPr>
          <a:lstStyle/>
          <a:p>
            <a:pPr>
              <a:lnSpc>
                <a:spcPct val="132000"/>
              </a:lnSpc>
              <a:spcAft>
                <a:spcPts val="0"/>
              </a:spcAft>
            </a:pPr>
            <a:r>
              <a:rPr sz="819" b="0">
                <a:solidFill>
                  <a:srgbClr val="33555F"/>
                </a:solidFill>
                <a:latin typeface="Plus Jakarta Sans"/>
              </a:rPr>
              <a:t>Disbursement file assembled with challans attached</a:t>
            </a:r>
          </a:p>
        </p:txBody>
      </p:sp>
      <p:sp>
        <p:nvSpPr>
          <p:cNvPr id="16" name="Rounded Rectangle 15"/>
          <p:cNvSpPr/>
          <p:nvPr/>
        </p:nvSpPr>
        <p:spPr>
          <a:xfrm>
            <a:off x="3491407" y="2487168"/>
            <a:ext cx="2503855" cy="2103120"/>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74287" y="2633472"/>
            <a:ext cx="2138095" cy="274320"/>
          </a:xfrm>
          <a:prstGeom prst="rect">
            <a:avLst/>
          </a:prstGeom>
          <a:noFill/>
        </p:spPr>
        <p:txBody>
          <a:bodyPr wrap="square" lIns="0" rIns="0" tIns="0" bIns="0">
            <a:spAutoFit/>
          </a:bodyPr>
          <a:lstStyle/>
          <a:p>
            <a:pPr>
              <a:lnSpc>
                <a:spcPct val="135000"/>
              </a:lnSpc>
              <a:spcAft>
                <a:spcPts val="0"/>
              </a:spcAft>
            </a:pPr>
            <a:r>
              <a:rPr sz="800" b="0" cap="all" spc="200">
                <a:solidFill>
                  <a:srgbClr val="0C7A80"/>
                </a:solidFill>
                <a:latin typeface="IBM Plex Mono"/>
              </a:rPr>
              <a:t>Week 2</a:t>
            </a:r>
          </a:p>
        </p:txBody>
      </p:sp>
      <p:sp>
        <p:nvSpPr>
          <p:cNvPr id="18" name="Oval 17"/>
          <p:cNvSpPr/>
          <p:nvPr/>
        </p:nvSpPr>
        <p:spPr>
          <a:xfrm>
            <a:off x="3674287" y="3012948"/>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29735" y="2944368"/>
            <a:ext cx="2000935" cy="822960"/>
          </a:xfrm>
          <a:prstGeom prst="rect">
            <a:avLst/>
          </a:prstGeom>
          <a:noFill/>
        </p:spPr>
        <p:txBody>
          <a:bodyPr wrap="square" lIns="0" rIns="0" tIns="0" bIns="0">
            <a:spAutoFit/>
          </a:bodyPr>
          <a:lstStyle/>
          <a:p>
            <a:pPr>
              <a:lnSpc>
                <a:spcPct val="132000"/>
              </a:lnSpc>
              <a:spcAft>
                <a:spcPts val="0"/>
              </a:spcAft>
            </a:pPr>
            <a:r>
              <a:rPr sz="819" b="0">
                <a:solidFill>
                  <a:srgbClr val="33555F"/>
                </a:solidFill>
                <a:latin typeface="Plus Jakarta Sans"/>
              </a:rPr>
              <a:t>Second fortnight settlement reconciled and Annexure A built</a:t>
            </a:r>
          </a:p>
        </p:txBody>
      </p:sp>
      <p:sp>
        <p:nvSpPr>
          <p:cNvPr id="20" name="Oval 19"/>
          <p:cNvSpPr/>
          <p:nvPr/>
        </p:nvSpPr>
        <p:spPr>
          <a:xfrm>
            <a:off x="3674287" y="3364077"/>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29735" y="3295497"/>
            <a:ext cx="2000935" cy="822960"/>
          </a:xfrm>
          <a:prstGeom prst="rect">
            <a:avLst/>
          </a:prstGeom>
          <a:noFill/>
        </p:spPr>
        <p:txBody>
          <a:bodyPr wrap="square" lIns="0" rIns="0" tIns="0" bIns="0">
            <a:spAutoFit/>
          </a:bodyPr>
          <a:lstStyle/>
          <a:p>
            <a:pPr>
              <a:lnSpc>
                <a:spcPct val="132000"/>
              </a:lnSpc>
              <a:spcAft>
                <a:spcPts val="0"/>
              </a:spcAft>
            </a:pPr>
            <a:r>
              <a:rPr sz="819" b="0">
                <a:solidFill>
                  <a:srgbClr val="33555F"/>
                </a:solidFill>
                <a:latin typeface="Plus Jakarta Sans"/>
              </a:rPr>
              <a:t>Refund statement prepared, prior period provision computed</a:t>
            </a:r>
          </a:p>
        </p:txBody>
      </p:sp>
      <p:sp>
        <p:nvSpPr>
          <p:cNvPr id="22" name="Oval 21"/>
          <p:cNvSpPr/>
          <p:nvPr/>
        </p:nvSpPr>
        <p:spPr>
          <a:xfrm>
            <a:off x="3674287" y="3715207"/>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29735" y="3646627"/>
            <a:ext cx="2000935" cy="822960"/>
          </a:xfrm>
          <a:prstGeom prst="rect">
            <a:avLst/>
          </a:prstGeom>
          <a:noFill/>
        </p:spPr>
        <p:txBody>
          <a:bodyPr wrap="square" lIns="0" rIns="0" tIns="0" bIns="0">
            <a:spAutoFit/>
          </a:bodyPr>
          <a:lstStyle/>
          <a:p>
            <a:pPr>
              <a:lnSpc>
                <a:spcPct val="132000"/>
              </a:lnSpc>
              <a:spcAft>
                <a:spcPts val="0"/>
              </a:spcAft>
            </a:pPr>
            <a:r>
              <a:rPr sz="819" b="0">
                <a:solidFill>
                  <a:srgbClr val="33555F"/>
                </a:solidFill>
                <a:latin typeface="Plus Jakarta Sans"/>
              </a:rPr>
              <a:t>Surplus earnings computation drafted</a:t>
            </a:r>
          </a:p>
        </p:txBody>
      </p:sp>
      <p:sp>
        <p:nvSpPr>
          <p:cNvPr id="24" name="Oval 23"/>
          <p:cNvSpPr/>
          <p:nvPr/>
        </p:nvSpPr>
        <p:spPr>
          <a:xfrm>
            <a:off x="3674287" y="3928872"/>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29735" y="3860292"/>
            <a:ext cx="2000935" cy="822960"/>
          </a:xfrm>
          <a:prstGeom prst="rect">
            <a:avLst/>
          </a:prstGeom>
          <a:noFill/>
        </p:spPr>
        <p:txBody>
          <a:bodyPr wrap="square" lIns="0" rIns="0" tIns="0" bIns="0">
            <a:spAutoFit/>
          </a:bodyPr>
          <a:lstStyle/>
          <a:p>
            <a:pPr>
              <a:lnSpc>
                <a:spcPct val="132000"/>
              </a:lnSpc>
              <a:spcAft>
                <a:spcPts val="0"/>
              </a:spcAft>
            </a:pPr>
            <a:r>
              <a:rPr sz="819" b="0">
                <a:solidFill>
                  <a:srgbClr val="33555F"/>
                </a:solidFill>
                <a:latin typeface="Plus Jakarta Sans"/>
              </a:rPr>
              <a:t>Annual document expiry register reviewed</a:t>
            </a:r>
          </a:p>
        </p:txBody>
      </p:sp>
      <p:sp>
        <p:nvSpPr>
          <p:cNvPr id="26" name="Rounded Rectangle 25"/>
          <p:cNvSpPr/>
          <p:nvPr/>
        </p:nvSpPr>
        <p:spPr>
          <a:xfrm>
            <a:off x="6196431" y="2487168"/>
            <a:ext cx="2503855" cy="2103120"/>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79311" y="2633472"/>
            <a:ext cx="2138095" cy="274320"/>
          </a:xfrm>
          <a:prstGeom prst="rect">
            <a:avLst/>
          </a:prstGeom>
          <a:noFill/>
        </p:spPr>
        <p:txBody>
          <a:bodyPr wrap="square" lIns="0" rIns="0" tIns="0" bIns="0">
            <a:spAutoFit/>
          </a:bodyPr>
          <a:lstStyle/>
          <a:p>
            <a:pPr>
              <a:lnSpc>
                <a:spcPct val="135000"/>
              </a:lnSpc>
              <a:spcAft>
                <a:spcPts val="0"/>
              </a:spcAft>
            </a:pPr>
            <a:r>
              <a:rPr sz="800" b="0" cap="all" spc="200">
                <a:solidFill>
                  <a:srgbClr val="0C7A80"/>
                </a:solidFill>
                <a:latin typeface="IBM Plex Mono"/>
              </a:rPr>
              <a:t>Week 3</a:t>
            </a:r>
          </a:p>
        </p:txBody>
      </p:sp>
      <p:sp>
        <p:nvSpPr>
          <p:cNvPr id="28" name="Oval 27"/>
          <p:cNvSpPr/>
          <p:nvPr/>
        </p:nvSpPr>
        <p:spPr>
          <a:xfrm>
            <a:off x="6379311" y="3012948"/>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34759" y="2944368"/>
            <a:ext cx="2000935" cy="822960"/>
          </a:xfrm>
          <a:prstGeom prst="rect">
            <a:avLst/>
          </a:prstGeom>
          <a:noFill/>
        </p:spPr>
        <p:txBody>
          <a:bodyPr wrap="square" lIns="0" rIns="0" tIns="0" bIns="0">
            <a:spAutoFit/>
          </a:bodyPr>
          <a:lstStyle/>
          <a:p>
            <a:pPr>
              <a:lnSpc>
                <a:spcPct val="132000"/>
              </a:lnSpc>
              <a:spcAft>
                <a:spcPts val="0"/>
              </a:spcAft>
            </a:pPr>
            <a:r>
              <a:rPr sz="819" b="0">
                <a:solidFill>
                  <a:srgbClr val="33555F"/>
                </a:solidFill>
                <a:latin typeface="Plus Jakarta Sans"/>
              </a:rPr>
              <a:t>Full file submitted to the AD bank</a:t>
            </a:r>
          </a:p>
        </p:txBody>
      </p:sp>
      <p:sp>
        <p:nvSpPr>
          <p:cNvPr id="30" name="Oval 29"/>
          <p:cNvSpPr/>
          <p:nvPr/>
        </p:nvSpPr>
        <p:spPr>
          <a:xfrm>
            <a:off x="6379311" y="3226612"/>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34759" y="3158032"/>
            <a:ext cx="2000935" cy="822960"/>
          </a:xfrm>
          <a:prstGeom prst="rect">
            <a:avLst/>
          </a:prstGeom>
          <a:noFill/>
        </p:spPr>
        <p:txBody>
          <a:bodyPr wrap="square" lIns="0" rIns="0" tIns="0" bIns="0">
            <a:spAutoFit/>
          </a:bodyPr>
          <a:lstStyle/>
          <a:p>
            <a:pPr>
              <a:lnSpc>
                <a:spcPct val="132000"/>
              </a:lnSpc>
              <a:spcAft>
                <a:spcPts val="0"/>
              </a:spcAft>
            </a:pPr>
            <a:r>
              <a:rPr sz="819" b="0">
                <a:solidFill>
                  <a:srgbClr val="33555F"/>
                </a:solidFill>
                <a:latin typeface="Plus Jakarta Sans"/>
              </a:rPr>
              <a:t>Bank scrutiny, discrepancy queries answered by Flyport</a:t>
            </a:r>
          </a:p>
        </p:txBody>
      </p:sp>
      <p:sp>
        <p:nvSpPr>
          <p:cNvPr id="32" name="Oval 31"/>
          <p:cNvSpPr/>
          <p:nvPr/>
        </p:nvSpPr>
        <p:spPr>
          <a:xfrm>
            <a:off x="6379311" y="3577742"/>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34759" y="3509162"/>
            <a:ext cx="2000935" cy="822960"/>
          </a:xfrm>
          <a:prstGeom prst="rect">
            <a:avLst/>
          </a:prstGeom>
          <a:noFill/>
        </p:spPr>
        <p:txBody>
          <a:bodyPr wrap="square" lIns="0" rIns="0" tIns="0" bIns="0">
            <a:spAutoFit/>
          </a:bodyPr>
          <a:lstStyle/>
          <a:p>
            <a:pPr>
              <a:lnSpc>
                <a:spcPct val="132000"/>
              </a:lnSpc>
              <a:spcAft>
                <a:spcPts val="0"/>
              </a:spcAft>
            </a:pPr>
            <a:r>
              <a:rPr sz="819" b="0">
                <a:solidFill>
                  <a:srgbClr val="33555F"/>
                </a:solidFill>
                <a:latin typeface="Plus Jakarta Sans"/>
              </a:rPr>
              <a:t>Surplus earnings figure confirmed with the bank</a:t>
            </a:r>
          </a:p>
        </p:txBody>
      </p:sp>
      <p:sp>
        <p:nvSpPr>
          <p:cNvPr id="34" name="Oval 33"/>
          <p:cNvSpPr/>
          <p:nvPr/>
        </p:nvSpPr>
        <p:spPr>
          <a:xfrm>
            <a:off x="6379311" y="3928872"/>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34759" y="3860292"/>
            <a:ext cx="2000935" cy="822960"/>
          </a:xfrm>
          <a:prstGeom prst="rect">
            <a:avLst/>
          </a:prstGeom>
          <a:noFill/>
        </p:spPr>
        <p:txBody>
          <a:bodyPr wrap="square" lIns="0" rIns="0" tIns="0" bIns="0">
            <a:spAutoFit/>
          </a:bodyPr>
          <a:lstStyle/>
          <a:p>
            <a:pPr>
              <a:lnSpc>
                <a:spcPct val="132000"/>
              </a:lnSpc>
              <a:spcAft>
                <a:spcPts val="0"/>
              </a:spcAft>
            </a:pPr>
            <a:r>
              <a:rPr sz="819" b="0">
                <a:solidFill>
                  <a:srgbClr val="33555F"/>
                </a:solidFill>
                <a:latin typeface="Plus Jakarta Sans"/>
              </a:rPr>
              <a:t>Remittance instruction issued</a:t>
            </a:r>
          </a:p>
        </p:txBody>
      </p:sp>
      <p:sp>
        <p:nvSpPr>
          <p:cNvPr id="36" name="Rounded Rectangle 35"/>
          <p:cNvSpPr/>
          <p:nvPr/>
        </p:nvSpPr>
        <p:spPr>
          <a:xfrm>
            <a:off x="8901455" y="2487168"/>
            <a:ext cx="2503855" cy="2103120"/>
          </a:xfrm>
          <a:prstGeom prst="roundRect">
            <a:avLst>
              <a:gd name="adj" fmla="val 5500"/>
            </a:avLst>
          </a:prstGeom>
          <a:gradFill rotWithShape="1">
            <a:gsLst>
              <a:gs pos="0">
                <a:srgbClr val="DCF2F3"/>
              </a:gs>
              <a:gs pos="62000">
                <a:srgbClr val="FFFFFF"/>
              </a:gs>
            </a:gsLst>
            <a:lin scaled="0" ang="2700000"/>
          </a:gradFill>
          <a:ln w="12700">
            <a:solidFill>
              <a:srgbClr val="7FD6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084335" y="2633472"/>
            <a:ext cx="2138095" cy="274320"/>
          </a:xfrm>
          <a:prstGeom prst="rect">
            <a:avLst/>
          </a:prstGeom>
          <a:noFill/>
        </p:spPr>
        <p:txBody>
          <a:bodyPr wrap="square" lIns="0" rIns="0" tIns="0" bIns="0">
            <a:spAutoFit/>
          </a:bodyPr>
          <a:lstStyle/>
          <a:p>
            <a:pPr>
              <a:lnSpc>
                <a:spcPct val="135000"/>
              </a:lnSpc>
              <a:spcAft>
                <a:spcPts val="0"/>
              </a:spcAft>
            </a:pPr>
            <a:r>
              <a:rPr sz="800" b="0" cap="all" spc="200">
                <a:solidFill>
                  <a:srgbClr val="0C7A80"/>
                </a:solidFill>
                <a:latin typeface="IBM Plex Mono"/>
              </a:rPr>
              <a:t>Week 4</a:t>
            </a:r>
          </a:p>
        </p:txBody>
      </p:sp>
      <p:sp>
        <p:nvSpPr>
          <p:cNvPr id="38" name="Oval 37"/>
          <p:cNvSpPr/>
          <p:nvPr/>
        </p:nvSpPr>
        <p:spPr>
          <a:xfrm>
            <a:off x="9084335" y="3012948"/>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239783" y="2944368"/>
            <a:ext cx="2000935" cy="822960"/>
          </a:xfrm>
          <a:prstGeom prst="rect">
            <a:avLst/>
          </a:prstGeom>
          <a:noFill/>
        </p:spPr>
        <p:txBody>
          <a:bodyPr wrap="square" lIns="0" rIns="0" tIns="0" bIns="0">
            <a:spAutoFit/>
          </a:bodyPr>
          <a:lstStyle/>
          <a:p>
            <a:pPr>
              <a:lnSpc>
                <a:spcPct val="132000"/>
              </a:lnSpc>
              <a:spcAft>
                <a:spcPts val="0"/>
              </a:spcAft>
            </a:pPr>
            <a:r>
              <a:rPr sz="819" b="0">
                <a:solidFill>
                  <a:srgbClr val="33555F"/>
                </a:solidFill>
                <a:latin typeface="Plus Jakarta Sans"/>
              </a:rPr>
              <a:t>Remittance executed to Vietnam Airlines head office</a:t>
            </a:r>
          </a:p>
        </p:txBody>
      </p:sp>
      <p:sp>
        <p:nvSpPr>
          <p:cNvPr id="40" name="Oval 39"/>
          <p:cNvSpPr/>
          <p:nvPr/>
        </p:nvSpPr>
        <p:spPr>
          <a:xfrm>
            <a:off x="9084335" y="3364077"/>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239783" y="3295497"/>
            <a:ext cx="2000935" cy="822960"/>
          </a:xfrm>
          <a:prstGeom prst="rect">
            <a:avLst/>
          </a:prstGeom>
          <a:noFill/>
        </p:spPr>
        <p:txBody>
          <a:bodyPr wrap="square" lIns="0" rIns="0" tIns="0" bIns="0">
            <a:spAutoFit/>
          </a:bodyPr>
          <a:lstStyle/>
          <a:p>
            <a:pPr>
              <a:lnSpc>
                <a:spcPct val="132000"/>
              </a:lnSpc>
              <a:spcAft>
                <a:spcPts val="0"/>
              </a:spcAft>
            </a:pPr>
            <a:r>
              <a:rPr sz="819" b="0">
                <a:solidFill>
                  <a:srgbClr val="33555F"/>
                </a:solidFill>
                <a:latin typeface="Plus Jakarta Sans"/>
              </a:rPr>
              <a:t>Post facto approval file lodged with Bangladesh Bank</a:t>
            </a:r>
          </a:p>
        </p:txBody>
      </p:sp>
      <p:sp>
        <p:nvSpPr>
          <p:cNvPr id="42" name="Oval 41"/>
          <p:cNvSpPr/>
          <p:nvPr/>
        </p:nvSpPr>
        <p:spPr>
          <a:xfrm>
            <a:off x="9084335" y="3715207"/>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239783" y="3646627"/>
            <a:ext cx="2000935" cy="822960"/>
          </a:xfrm>
          <a:prstGeom prst="rect">
            <a:avLst/>
          </a:prstGeom>
          <a:noFill/>
        </p:spPr>
        <p:txBody>
          <a:bodyPr wrap="square" lIns="0" rIns="0" tIns="0" bIns="0">
            <a:spAutoFit/>
          </a:bodyPr>
          <a:lstStyle/>
          <a:p>
            <a:pPr>
              <a:lnSpc>
                <a:spcPct val="132000"/>
              </a:lnSpc>
              <a:spcAft>
                <a:spcPts val="0"/>
              </a:spcAft>
            </a:pPr>
            <a:r>
              <a:rPr sz="819" b="0">
                <a:solidFill>
                  <a:srgbClr val="33555F"/>
                </a:solidFill>
                <a:latin typeface="Plus Jakarta Sans"/>
              </a:rPr>
              <a:t>CAAB traffic, cargo and mail statistics filed</a:t>
            </a:r>
          </a:p>
        </p:txBody>
      </p:sp>
      <p:sp>
        <p:nvSpPr>
          <p:cNvPr id="44" name="Oval 43"/>
          <p:cNvSpPr/>
          <p:nvPr/>
        </p:nvSpPr>
        <p:spPr>
          <a:xfrm>
            <a:off x="9084335" y="4066336"/>
            <a:ext cx="50292" cy="50292"/>
          </a:xfrm>
          <a:prstGeom prst="ellipse">
            <a:avLst/>
          </a:prstGeom>
          <a:solidFill>
            <a:srgbClr val="39C0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239783" y="3997756"/>
            <a:ext cx="2000935" cy="822960"/>
          </a:xfrm>
          <a:prstGeom prst="rect">
            <a:avLst/>
          </a:prstGeom>
          <a:noFill/>
        </p:spPr>
        <p:txBody>
          <a:bodyPr wrap="square" lIns="0" rIns="0" tIns="0" bIns="0">
            <a:spAutoFit/>
          </a:bodyPr>
          <a:lstStyle/>
          <a:p>
            <a:pPr>
              <a:lnSpc>
                <a:spcPct val="132000"/>
              </a:lnSpc>
              <a:spcAft>
                <a:spcPts val="0"/>
              </a:spcAft>
            </a:pPr>
            <a:r>
              <a:rPr sz="819" b="0">
                <a:solidFill>
                  <a:srgbClr val="33555F"/>
                </a:solidFill>
                <a:latin typeface="Plus Jakarta Sans"/>
              </a:rPr>
              <a:t>Retained document custody updated for inspection</a:t>
            </a:r>
          </a:p>
        </p:txBody>
      </p:sp>
      <p:sp>
        <p:nvSpPr>
          <p:cNvPr id="46" name="TextBox 45"/>
          <p:cNvSpPr txBox="1"/>
          <p:nvPr/>
        </p:nvSpPr>
        <p:spPr>
          <a:xfrm>
            <a:off x="786384" y="4901184"/>
            <a:ext cx="2654731" cy="1371600"/>
          </a:xfrm>
          <a:prstGeom prst="rect">
            <a:avLst/>
          </a:prstGeom>
          <a:noFill/>
        </p:spPr>
        <p:txBody>
          <a:bodyPr wrap="square" lIns="0" rIns="0" tIns="0" bIns="0">
            <a:spAutoFit/>
          </a:bodyPr>
          <a:lstStyle/>
          <a:p>
            <a:pPr>
              <a:lnSpc>
                <a:spcPct val="95000"/>
              </a:lnSpc>
              <a:spcAft>
                <a:spcPts val="400"/>
              </a:spcAft>
            </a:pPr>
            <a:r>
              <a:rPr sz="1900" b="1">
                <a:solidFill>
                  <a:srgbClr val="0A5F65"/>
                </a:solidFill>
                <a:latin typeface="Outfit"/>
              </a:rPr>
              <a:t>Monthly</a:t>
            </a:r>
          </a:p>
          <a:p>
            <a:pPr>
              <a:lnSpc>
                <a:spcPct val="135000"/>
              </a:lnSpc>
              <a:spcAft>
                <a:spcPts val="0"/>
              </a:spcAft>
            </a:pPr>
            <a:r>
              <a:rPr sz="800" b="0" cap="all" spc="160">
                <a:solidFill>
                  <a:srgbClr val="52737D"/>
                </a:solidFill>
                <a:latin typeface="IBM Plex Mono"/>
              </a:rPr>
              <a:t>Bangladesh Bank reporting</a:t>
            </a:r>
          </a:p>
        </p:txBody>
      </p:sp>
      <p:sp>
        <p:nvSpPr>
          <p:cNvPr id="47" name="TextBox 46"/>
          <p:cNvSpPr txBox="1"/>
          <p:nvPr/>
        </p:nvSpPr>
        <p:spPr>
          <a:xfrm>
            <a:off x="3441115" y="4901184"/>
            <a:ext cx="2654731" cy="1371600"/>
          </a:xfrm>
          <a:prstGeom prst="rect">
            <a:avLst/>
          </a:prstGeom>
          <a:noFill/>
        </p:spPr>
        <p:txBody>
          <a:bodyPr wrap="square" lIns="0" rIns="0" tIns="0" bIns="0">
            <a:spAutoFit/>
          </a:bodyPr>
          <a:lstStyle/>
          <a:p>
            <a:pPr>
              <a:lnSpc>
                <a:spcPct val="95000"/>
              </a:lnSpc>
              <a:spcAft>
                <a:spcPts val="400"/>
              </a:spcAft>
            </a:pPr>
            <a:r>
              <a:rPr sz="1900" b="1">
                <a:solidFill>
                  <a:srgbClr val="0A5F65"/>
                </a:solidFill>
                <a:latin typeface="Outfit"/>
              </a:rPr>
              <a:t>Monthly</a:t>
            </a:r>
          </a:p>
          <a:p>
            <a:pPr>
              <a:lnSpc>
                <a:spcPct val="135000"/>
              </a:lnSpc>
              <a:spcAft>
                <a:spcPts val="0"/>
              </a:spcAft>
            </a:pPr>
            <a:r>
              <a:rPr sz="800" b="0" cap="all" spc="160">
                <a:solidFill>
                  <a:srgbClr val="52737D"/>
                </a:solidFill>
                <a:latin typeface="IBM Plex Mono"/>
              </a:rPr>
              <a:t>Post facto approval filing</a:t>
            </a:r>
          </a:p>
        </p:txBody>
      </p:sp>
      <p:sp>
        <p:nvSpPr>
          <p:cNvPr id="48" name="TextBox 47"/>
          <p:cNvSpPr txBox="1"/>
          <p:nvPr/>
        </p:nvSpPr>
        <p:spPr>
          <a:xfrm>
            <a:off x="6095847" y="4901184"/>
            <a:ext cx="2654731" cy="1371600"/>
          </a:xfrm>
          <a:prstGeom prst="rect">
            <a:avLst/>
          </a:prstGeom>
          <a:noFill/>
        </p:spPr>
        <p:txBody>
          <a:bodyPr wrap="square" lIns="0" rIns="0" tIns="0" bIns="0">
            <a:spAutoFit/>
          </a:bodyPr>
          <a:lstStyle/>
          <a:p>
            <a:pPr>
              <a:lnSpc>
                <a:spcPct val="95000"/>
              </a:lnSpc>
              <a:spcAft>
                <a:spcPts val="400"/>
              </a:spcAft>
            </a:pPr>
            <a:r>
              <a:rPr sz="1900" b="1">
                <a:solidFill>
                  <a:srgbClr val="0E2830"/>
                </a:solidFill>
                <a:latin typeface="Outfit"/>
              </a:rPr>
              <a:t>Monthly</a:t>
            </a:r>
          </a:p>
          <a:p>
            <a:pPr>
              <a:lnSpc>
                <a:spcPct val="135000"/>
              </a:lnSpc>
              <a:spcAft>
                <a:spcPts val="0"/>
              </a:spcAft>
            </a:pPr>
            <a:r>
              <a:rPr sz="800" b="0" cap="all" spc="160">
                <a:solidFill>
                  <a:srgbClr val="52737D"/>
                </a:solidFill>
                <a:latin typeface="IBM Plex Mono"/>
              </a:rPr>
              <a:t>CAAB statistics return</a:t>
            </a:r>
          </a:p>
        </p:txBody>
      </p:sp>
      <p:sp>
        <p:nvSpPr>
          <p:cNvPr id="49" name="TextBox 48"/>
          <p:cNvSpPr txBox="1"/>
          <p:nvPr/>
        </p:nvSpPr>
        <p:spPr>
          <a:xfrm>
            <a:off x="8750579" y="4901184"/>
            <a:ext cx="2654731" cy="1371600"/>
          </a:xfrm>
          <a:prstGeom prst="rect">
            <a:avLst/>
          </a:prstGeom>
          <a:noFill/>
        </p:spPr>
        <p:txBody>
          <a:bodyPr wrap="square" lIns="0" rIns="0" tIns="0" bIns="0">
            <a:spAutoFit/>
          </a:bodyPr>
          <a:lstStyle/>
          <a:p>
            <a:pPr>
              <a:lnSpc>
                <a:spcPct val="95000"/>
              </a:lnSpc>
              <a:spcAft>
                <a:spcPts val="400"/>
              </a:spcAft>
            </a:pPr>
            <a:r>
              <a:rPr sz="1900" b="1">
                <a:solidFill>
                  <a:srgbClr val="C10073"/>
                </a:solidFill>
                <a:latin typeface="Outfit"/>
              </a:rPr>
              <a:t>Fortnightly</a:t>
            </a:r>
          </a:p>
          <a:p>
            <a:pPr>
              <a:lnSpc>
                <a:spcPct val="135000"/>
              </a:lnSpc>
              <a:spcAft>
                <a:spcPts val="0"/>
              </a:spcAft>
            </a:pPr>
            <a:r>
              <a:rPr sz="800" b="0" cap="all" spc="160">
                <a:solidFill>
                  <a:srgbClr val="52737D"/>
                </a:solidFill>
                <a:latin typeface="IBM Plex Mono"/>
              </a:rPr>
              <a:t>BSP and CASS settlement</a:t>
            </a:r>
          </a:p>
        </p:txBody>
      </p:sp>
      <p:sp>
        <p:nvSpPr>
          <p:cNvPr id="50" name="TextBox 49"/>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566928"/>
            <a:ext cx="10618927" cy="274320"/>
          </a:xfrm>
          <a:prstGeom prst="rect">
            <a:avLst/>
          </a:prstGeom>
          <a:noFill/>
        </p:spPr>
        <p:txBody>
          <a:bodyPr wrap="square" lIns="0" rIns="0" tIns="0" bIns="0">
            <a:spAutoFit/>
          </a:bodyPr>
          <a:lstStyle/>
          <a:p>
            <a:pPr>
              <a:lnSpc>
                <a:spcPct val="135000"/>
              </a:lnSpc>
              <a:spcAft>
                <a:spcPts val="0"/>
              </a:spcAft>
            </a:pPr>
            <a:r>
              <a:rPr sz="1000" b="0" cap="all" spc="240">
                <a:solidFill>
                  <a:srgbClr val="C10073"/>
                </a:solidFill>
                <a:latin typeface="IBM Plex Mono"/>
              </a:rPr>
              <a:t>10  .  Division of labour</a:t>
            </a:r>
          </a:p>
        </p:txBody>
      </p:sp>
      <p:sp>
        <p:nvSpPr>
          <p:cNvPr id="4" name="TextBox 3"/>
          <p:cNvSpPr txBox="1"/>
          <p:nvPr/>
        </p:nvSpPr>
        <p:spPr>
          <a:xfrm>
            <a:off x="786384" y="932688"/>
            <a:ext cx="10618927" cy="1371600"/>
          </a:xfrm>
          <a:prstGeom prst="rect">
            <a:avLst/>
          </a:prstGeom>
          <a:noFill/>
        </p:spPr>
        <p:txBody>
          <a:bodyPr wrap="square" lIns="0" rIns="0" tIns="0" bIns="0">
            <a:spAutoFit/>
          </a:bodyPr>
          <a:lstStyle/>
          <a:p>
            <a:pPr>
              <a:lnSpc>
                <a:spcPct val="108000"/>
              </a:lnSpc>
              <a:spcAft>
                <a:spcPts val="0"/>
              </a:spcAft>
            </a:pPr>
            <a:r>
              <a:rPr sz="2900" b="1">
                <a:solidFill>
                  <a:srgbClr val="0E2830"/>
                </a:solidFill>
                <a:latin typeface="Outfit"/>
              </a:rPr>
              <a:t>What Vietnam Airlines keeps, and what Flyport carries.</a:t>
            </a:r>
          </a:p>
        </p:txBody>
      </p:sp>
      <p:graphicFrame>
        <p:nvGraphicFramePr>
          <p:cNvPr id="5" name="Table 4"/>
          <p:cNvGraphicFramePr>
            <a:graphicFrameLocks noGrp="1"/>
          </p:cNvGraphicFramePr>
          <p:nvPr/>
        </p:nvGraphicFramePr>
        <p:xfrm>
          <a:off x="786384" y="2011680"/>
          <a:ext cx="10616184" cy="3982212"/>
        </p:xfrm>
        <a:graphic>
          <a:graphicData uri="http://schemas.openxmlformats.org/drawingml/2006/table">
            <a:tbl>
              <a:tblPr bandRow="0" firstRow="0">
                <a:tableStyleId>{5C22544A-7EE6-4342-B048-85BDC9FD1C3A}</a:tableStyleId>
              </a:tblPr>
              <a:tblGrid>
                <a:gridCol w="3657600"/>
                <a:gridCol w="2286000"/>
                <a:gridCol w="2651760"/>
                <a:gridCol w="2020824"/>
              </a:tblGrid>
              <a:tr h="306324">
                <a:tc>
                  <a:txBody>
                    <a:bodyPr/>
                    <a:lstStyle/>
                    <a:p>
                      <a:pPr>
                        <a:lnSpc>
                          <a:spcPct val="120000"/>
                        </a:lnSpc>
                        <a:spcAft>
                          <a:spcPts val="0"/>
                        </a:spcAft>
                      </a:pPr>
                      <a:r>
                        <a:rPr sz="750" b="0" cap="all" spc="140">
                          <a:solidFill>
                            <a:srgbClr val="8AA6AE"/>
                          </a:solidFill>
                          <a:latin typeface="IBM Plex Mono"/>
                        </a:rPr>
                        <a:t>Workstream</a:t>
                      </a:r>
                    </a:p>
                  </a:txBody>
                  <a:tcPr marL="54864" marR="54864" marT="36576" marB="36576" anchor="b">
                    <a:solidFill>
                      <a:srgbClr val="FBFDFE"/>
                    </a:solidFill>
                  </a:tcPr>
                </a:tc>
                <a:tc>
                  <a:txBody>
                    <a:bodyPr/>
                    <a:lstStyle/>
                    <a:p>
                      <a:pPr>
                        <a:lnSpc>
                          <a:spcPct val="120000"/>
                        </a:lnSpc>
                        <a:spcAft>
                          <a:spcPts val="0"/>
                        </a:spcAft>
                      </a:pPr>
                      <a:r>
                        <a:rPr sz="750" b="0" cap="all" spc="140">
                          <a:solidFill>
                            <a:srgbClr val="8AA6AE"/>
                          </a:solidFill>
                          <a:latin typeface="IBM Plex Mono"/>
                        </a:rPr>
                        <a:t>Vietnam Airlines</a:t>
                      </a:r>
                    </a:p>
                  </a:txBody>
                  <a:tcPr marL="54864" marR="54864" marT="36576" marB="36576" anchor="b">
                    <a:solidFill>
                      <a:srgbClr val="FBFDFE"/>
                    </a:solidFill>
                  </a:tcPr>
                </a:tc>
                <a:tc>
                  <a:txBody>
                    <a:bodyPr/>
                    <a:lstStyle/>
                    <a:p>
                      <a:pPr>
                        <a:lnSpc>
                          <a:spcPct val="120000"/>
                        </a:lnSpc>
                        <a:spcAft>
                          <a:spcPts val="0"/>
                        </a:spcAft>
                      </a:pPr>
                      <a:r>
                        <a:rPr sz="750" b="0" cap="all" spc="140">
                          <a:solidFill>
                            <a:srgbClr val="8AA6AE"/>
                          </a:solidFill>
                          <a:latin typeface="IBM Plex Mono"/>
                        </a:rPr>
                        <a:t>Flyport</a:t>
                      </a:r>
                    </a:p>
                  </a:txBody>
                  <a:tcPr marL="54864" marR="54864" marT="36576" marB="36576" anchor="b">
                    <a:solidFill>
                      <a:srgbClr val="FBFDFE"/>
                    </a:solidFill>
                  </a:tcPr>
                </a:tc>
                <a:tc>
                  <a:txBody>
                    <a:bodyPr/>
                    <a:lstStyle/>
                    <a:p>
                      <a:pPr>
                        <a:lnSpc>
                          <a:spcPct val="120000"/>
                        </a:lnSpc>
                        <a:spcAft>
                          <a:spcPts val="0"/>
                        </a:spcAft>
                      </a:pPr>
                      <a:r>
                        <a:rPr sz="750" b="0" cap="all" spc="140">
                          <a:solidFill>
                            <a:srgbClr val="8AA6AE"/>
                          </a:solidFill>
                          <a:latin typeface="IBM Plex Mono"/>
                        </a:rPr>
                        <a:t>AD bank</a:t>
                      </a:r>
                    </a:p>
                  </a:txBody>
                  <a:tcPr marL="54864" marR="54864" marT="36576" marB="36576" anchor="b">
                    <a:solidFill>
                      <a:srgbClr val="FBFDFE"/>
                    </a:solidFill>
                  </a:tcPr>
                </a:tc>
              </a:tr>
              <a:tr h="306324">
                <a:tc>
                  <a:txBody>
                    <a:bodyPr/>
                    <a:lstStyle/>
                    <a:p>
                      <a:pPr>
                        <a:lnSpc>
                          <a:spcPct val="130000"/>
                        </a:lnSpc>
                        <a:spcAft>
                          <a:spcPts val="0"/>
                        </a:spcAft>
                      </a:pPr>
                      <a:r>
                        <a:rPr sz="850" b="0">
                          <a:solidFill>
                            <a:srgbClr val="33555F"/>
                          </a:solidFill>
                          <a:latin typeface="Plus Jakarta Sans"/>
                        </a:rPr>
                        <a:t>ASA designation and traffic rights</a:t>
                      </a:r>
                    </a:p>
                  </a:txBody>
                  <a:tcPr marL="54864" marR="54864" marT="45720" marB="45720" anchor="t">
                    <a:solidFill>
                      <a:srgbClr val="FFFFFF"/>
                    </a:solidFill>
                  </a:tcPr>
                </a:tc>
                <a:tc>
                  <a:txBody>
                    <a:bodyPr/>
                    <a:lstStyle/>
                    <a:p>
                      <a:pPr>
                        <a:lnSpc>
                          <a:spcPct val="130000"/>
                        </a:lnSpc>
                        <a:spcAft>
                          <a:spcPts val="0"/>
                        </a:spcAft>
                      </a:pPr>
                      <a:r>
                        <a:rPr sz="850" b="0">
                          <a:solidFill>
                            <a:srgbClr val="33555F"/>
                          </a:solidFill>
                          <a:latin typeface="Plus Jakarta Sans"/>
                        </a:rPr>
                        <a:t>Owns</a:t>
                      </a:r>
                    </a:p>
                  </a:txBody>
                  <a:tcPr marL="54864" marR="54864" marT="45720" marB="45720" anchor="t">
                    <a:solidFill>
                      <a:srgbClr val="FFFFFF"/>
                    </a:solidFill>
                  </a:tcPr>
                </a:tc>
                <a:tc>
                  <a:txBody>
                    <a:bodyPr/>
                    <a:lstStyle/>
                    <a:p>
                      <a:pPr>
                        <a:lnSpc>
                          <a:spcPct val="130000"/>
                        </a:lnSpc>
                        <a:spcAft>
                          <a:spcPts val="0"/>
                        </a:spcAft>
                      </a:pPr>
                      <a:r>
                        <a:rPr sz="850" b="0">
                          <a:solidFill>
                            <a:srgbClr val="33555F"/>
                          </a:solidFill>
                          <a:latin typeface="Plus Jakarta Sans"/>
                        </a:rPr>
                        <a:t>Supports and files locally</a:t>
                      </a:r>
                    </a:p>
                  </a:txBody>
                  <a:tcPr marL="54864" marR="54864" marT="45720" marB="45720" anchor="t">
                    <a:solidFill>
                      <a:srgbClr val="FFFFFF"/>
                    </a:solidFill>
                  </a:tcPr>
                </a:tc>
                <a:tc>
                  <a:txBody>
                    <a:bodyPr/>
                    <a:lstStyle/>
                    <a:p>
                      <a:pPr>
                        <a:lnSpc>
                          <a:spcPct val="130000"/>
                        </a:lnSpc>
                        <a:spcAft>
                          <a:spcPts val="0"/>
                        </a:spcAft>
                      </a:pPr>
                      <a:r>
                        <a:rPr sz="850" b="0">
                          <a:solidFill>
                            <a:srgbClr val="33555F"/>
                          </a:solidFill>
                          <a:latin typeface="Plus Jakarta Sans"/>
                        </a:rPr>
                        <a:t>Not involved</a:t>
                      </a:r>
                    </a:p>
                  </a:txBody>
                  <a:tcPr marL="54864" marR="54864" marT="45720" marB="45720" anchor="t">
                    <a:solidFill>
                      <a:srgbClr val="FFFFFF"/>
                    </a:solidFill>
                  </a:tcPr>
                </a:tc>
              </a:tr>
              <a:tr h="306324">
                <a:tc>
                  <a:txBody>
                    <a:bodyPr/>
                    <a:lstStyle/>
                    <a:p>
                      <a:pPr>
                        <a:lnSpc>
                          <a:spcPct val="130000"/>
                        </a:lnSpc>
                        <a:spcAft>
                          <a:spcPts val="0"/>
                        </a:spcAft>
                      </a:pPr>
                      <a:r>
                        <a:rPr sz="850" b="0">
                          <a:solidFill>
                            <a:srgbClr val="33555F"/>
                          </a:solidFill>
                          <a:latin typeface="Plus Jakarta Sans"/>
                        </a:rPr>
                        <a:t>BIDA branch permission and waivers</a:t>
                      </a:r>
                    </a:p>
                  </a:txBody>
                  <a:tcPr marL="54864" marR="54864" marT="45720" marB="45720" anchor="t">
                    <a:solidFill>
                      <a:srgbClr val="FBFDFE"/>
                    </a:solidFill>
                  </a:tcPr>
                </a:tc>
                <a:tc>
                  <a:txBody>
                    <a:bodyPr/>
                    <a:lstStyle/>
                    <a:p>
                      <a:pPr>
                        <a:lnSpc>
                          <a:spcPct val="130000"/>
                        </a:lnSpc>
                        <a:spcAft>
                          <a:spcPts val="0"/>
                        </a:spcAft>
                      </a:pPr>
                      <a:r>
                        <a:rPr sz="850" b="0">
                          <a:solidFill>
                            <a:srgbClr val="33555F"/>
                          </a:solidFill>
                          <a:latin typeface="Plus Jakarta Sans"/>
                        </a:rPr>
                        <a:t>Applicant</a:t>
                      </a:r>
                    </a:p>
                  </a:txBody>
                  <a:tcPr marL="54864" marR="54864" marT="45720" marB="45720" anchor="t">
                    <a:solidFill>
                      <a:srgbClr val="FBFDFE"/>
                    </a:solidFill>
                  </a:tcPr>
                </a:tc>
                <a:tc>
                  <a:txBody>
                    <a:bodyPr/>
                    <a:lstStyle/>
                    <a:p>
                      <a:pPr>
                        <a:lnSpc>
                          <a:spcPct val="130000"/>
                        </a:lnSpc>
                        <a:spcAft>
                          <a:spcPts val="0"/>
                        </a:spcAft>
                      </a:pPr>
                      <a:r>
                        <a:rPr sz="850" b="0">
                          <a:solidFill>
                            <a:srgbClr val="33555F"/>
                          </a:solidFill>
                          <a:latin typeface="Plus Jakarta Sans"/>
                        </a:rPr>
                        <a:t>Prepares and lodges the application set</a:t>
                      </a:r>
                    </a:p>
                  </a:txBody>
                  <a:tcPr marL="54864" marR="54864" marT="45720" marB="45720" anchor="t">
                    <a:solidFill>
                      <a:srgbClr val="FBFDFE"/>
                    </a:solidFill>
                  </a:tcPr>
                </a:tc>
                <a:tc>
                  <a:txBody>
                    <a:bodyPr/>
                    <a:lstStyle/>
                    <a:p>
                      <a:pPr>
                        <a:lnSpc>
                          <a:spcPct val="130000"/>
                        </a:lnSpc>
                        <a:spcAft>
                          <a:spcPts val="0"/>
                        </a:spcAft>
                      </a:pPr>
                      <a:r>
                        <a:rPr sz="850" b="0">
                          <a:solidFill>
                            <a:srgbClr val="33555F"/>
                          </a:solidFill>
                          <a:latin typeface="Plus Jakarta Sans"/>
                        </a:rPr>
                        <a:t>Not involved</a:t>
                      </a:r>
                    </a:p>
                  </a:txBody>
                  <a:tcPr marL="54864" marR="54864" marT="45720" marB="45720" anchor="t">
                    <a:solidFill>
                      <a:srgbClr val="FBFDFE"/>
                    </a:solidFill>
                  </a:tcPr>
                </a:tc>
              </a:tr>
              <a:tr h="306324">
                <a:tc>
                  <a:txBody>
                    <a:bodyPr/>
                    <a:lstStyle/>
                    <a:p>
                      <a:pPr>
                        <a:lnSpc>
                          <a:spcPct val="130000"/>
                        </a:lnSpc>
                        <a:spcAft>
                          <a:spcPts val="0"/>
                        </a:spcAft>
                      </a:pPr>
                      <a:r>
                        <a:rPr sz="850" b="0">
                          <a:solidFill>
                            <a:srgbClr val="33555F"/>
                          </a:solidFill>
                          <a:latin typeface="Plus Jakarta Sans"/>
                        </a:rPr>
                        <a:t>Expatriate visa and work permit</a:t>
                      </a:r>
                    </a:p>
                  </a:txBody>
                  <a:tcPr marL="54864" marR="54864" marT="45720" marB="45720" anchor="t">
                    <a:solidFill>
                      <a:srgbClr val="FFFFFF"/>
                    </a:solidFill>
                  </a:tcPr>
                </a:tc>
                <a:tc>
                  <a:txBody>
                    <a:bodyPr/>
                    <a:lstStyle/>
                    <a:p>
                      <a:pPr>
                        <a:lnSpc>
                          <a:spcPct val="130000"/>
                        </a:lnSpc>
                        <a:spcAft>
                          <a:spcPts val="0"/>
                        </a:spcAft>
                      </a:pPr>
                      <a:r>
                        <a:rPr sz="850" b="0">
                          <a:solidFill>
                            <a:srgbClr val="33555F"/>
                          </a:solidFill>
                          <a:latin typeface="Plus Jakarta Sans"/>
                        </a:rPr>
                        <a:t>Nominates</a:t>
                      </a:r>
                    </a:p>
                  </a:txBody>
                  <a:tcPr marL="54864" marR="54864" marT="45720" marB="45720" anchor="t">
                    <a:solidFill>
                      <a:srgbClr val="FFFFFF"/>
                    </a:solidFill>
                  </a:tcPr>
                </a:tc>
                <a:tc>
                  <a:txBody>
                    <a:bodyPr/>
                    <a:lstStyle/>
                    <a:p>
                      <a:pPr>
                        <a:lnSpc>
                          <a:spcPct val="130000"/>
                        </a:lnSpc>
                        <a:spcAft>
                          <a:spcPts val="0"/>
                        </a:spcAft>
                      </a:pPr>
                      <a:r>
                        <a:rPr sz="850" b="0">
                          <a:solidFill>
                            <a:srgbClr val="33555F"/>
                          </a:solidFill>
                          <a:latin typeface="Plus Jakarta Sans"/>
                        </a:rPr>
                        <a:t>Prepares and tracks renewal</a:t>
                      </a:r>
                    </a:p>
                  </a:txBody>
                  <a:tcPr marL="54864" marR="54864" marT="45720" marB="45720" anchor="t">
                    <a:solidFill>
                      <a:srgbClr val="FFFFFF"/>
                    </a:solidFill>
                  </a:tcPr>
                </a:tc>
                <a:tc>
                  <a:txBody>
                    <a:bodyPr/>
                    <a:lstStyle/>
                    <a:p>
                      <a:pPr>
                        <a:lnSpc>
                          <a:spcPct val="130000"/>
                        </a:lnSpc>
                        <a:spcAft>
                          <a:spcPts val="0"/>
                        </a:spcAft>
                      </a:pPr>
                      <a:r>
                        <a:rPr sz="850" b="0">
                          <a:solidFill>
                            <a:srgbClr val="33555F"/>
                          </a:solidFill>
                          <a:latin typeface="Plus Jakarta Sans"/>
                        </a:rPr>
                        <a:t>Not involved</a:t>
                      </a:r>
                    </a:p>
                  </a:txBody>
                  <a:tcPr marL="54864" marR="54864" marT="45720" marB="45720" anchor="t">
                    <a:solidFill>
                      <a:srgbClr val="FFFFFF"/>
                    </a:solidFill>
                  </a:tcPr>
                </a:tc>
              </a:tr>
              <a:tr h="306324">
                <a:tc>
                  <a:txBody>
                    <a:bodyPr/>
                    <a:lstStyle/>
                    <a:p>
                      <a:pPr>
                        <a:lnSpc>
                          <a:spcPct val="130000"/>
                        </a:lnSpc>
                        <a:spcAft>
                          <a:spcPts val="0"/>
                        </a:spcAft>
                      </a:pPr>
                      <a:r>
                        <a:rPr sz="850" b="0">
                          <a:solidFill>
                            <a:srgbClr val="33555F"/>
                          </a:solidFill>
                          <a:latin typeface="Plus Jakarta Sans"/>
                        </a:rPr>
                        <a:t>CAAB permissions, tariffs, schedule</a:t>
                      </a:r>
                    </a:p>
                  </a:txBody>
                  <a:tcPr marL="54864" marR="54864" marT="45720" marB="45720" anchor="t">
                    <a:solidFill>
                      <a:srgbClr val="FBFDFE"/>
                    </a:solidFill>
                  </a:tcPr>
                </a:tc>
                <a:tc>
                  <a:txBody>
                    <a:bodyPr/>
                    <a:lstStyle/>
                    <a:p>
                      <a:pPr>
                        <a:lnSpc>
                          <a:spcPct val="130000"/>
                        </a:lnSpc>
                        <a:spcAft>
                          <a:spcPts val="0"/>
                        </a:spcAft>
                      </a:pPr>
                      <a:r>
                        <a:rPr sz="850" b="0">
                          <a:solidFill>
                            <a:srgbClr val="33555F"/>
                          </a:solidFill>
                          <a:latin typeface="Plus Jakarta Sans"/>
                        </a:rPr>
                        <a:t>Owns commercial content</a:t>
                      </a:r>
                    </a:p>
                  </a:txBody>
                  <a:tcPr marL="54864" marR="54864" marT="45720" marB="45720" anchor="t">
                    <a:solidFill>
                      <a:srgbClr val="FBFDFE"/>
                    </a:solidFill>
                  </a:tcPr>
                </a:tc>
                <a:tc>
                  <a:txBody>
                    <a:bodyPr/>
                    <a:lstStyle/>
                    <a:p>
                      <a:pPr>
                        <a:lnSpc>
                          <a:spcPct val="130000"/>
                        </a:lnSpc>
                        <a:spcAft>
                          <a:spcPts val="0"/>
                        </a:spcAft>
                      </a:pPr>
                      <a:r>
                        <a:rPr sz="850" b="0">
                          <a:solidFill>
                            <a:srgbClr val="33555F"/>
                          </a:solidFill>
                          <a:latin typeface="Plus Jakarta Sans"/>
                        </a:rPr>
                        <a:t>Files and maintains approvals</a:t>
                      </a:r>
                    </a:p>
                  </a:txBody>
                  <a:tcPr marL="54864" marR="54864" marT="45720" marB="45720" anchor="t">
                    <a:solidFill>
                      <a:srgbClr val="FBFDFE"/>
                    </a:solidFill>
                  </a:tcPr>
                </a:tc>
                <a:tc>
                  <a:txBody>
                    <a:bodyPr/>
                    <a:lstStyle/>
                    <a:p>
                      <a:pPr>
                        <a:lnSpc>
                          <a:spcPct val="130000"/>
                        </a:lnSpc>
                        <a:spcAft>
                          <a:spcPts val="0"/>
                        </a:spcAft>
                      </a:pPr>
                      <a:r>
                        <a:rPr sz="850" b="0">
                          <a:solidFill>
                            <a:srgbClr val="33555F"/>
                          </a:solidFill>
                          <a:latin typeface="Plus Jakarta Sans"/>
                        </a:rPr>
                        <a:t>Not involved</a:t>
                      </a:r>
                    </a:p>
                  </a:txBody>
                  <a:tcPr marL="54864" marR="54864" marT="45720" marB="45720" anchor="t">
                    <a:solidFill>
                      <a:srgbClr val="FBFDFE"/>
                    </a:solidFill>
                  </a:tcPr>
                </a:tc>
              </a:tr>
              <a:tr h="306324">
                <a:tc>
                  <a:txBody>
                    <a:bodyPr/>
                    <a:lstStyle/>
                    <a:p>
                      <a:pPr>
                        <a:lnSpc>
                          <a:spcPct val="130000"/>
                        </a:lnSpc>
                        <a:spcAft>
                          <a:spcPts val="0"/>
                        </a:spcAft>
                      </a:pPr>
                      <a:r>
                        <a:rPr sz="850" b="0">
                          <a:solidFill>
                            <a:srgbClr val="33555F"/>
                          </a:solidFill>
                          <a:latin typeface="Plus Jakarta Sans"/>
                        </a:rPr>
                        <a:t>Tax residency certificate</a:t>
                      </a:r>
                    </a:p>
                  </a:txBody>
                  <a:tcPr marL="54864" marR="54864" marT="45720" marB="45720" anchor="t">
                    <a:solidFill>
                      <a:srgbClr val="FFFFFF"/>
                    </a:solidFill>
                  </a:tcPr>
                </a:tc>
                <a:tc>
                  <a:txBody>
                    <a:bodyPr/>
                    <a:lstStyle/>
                    <a:p>
                      <a:pPr>
                        <a:lnSpc>
                          <a:spcPct val="130000"/>
                        </a:lnSpc>
                        <a:spcAft>
                          <a:spcPts val="0"/>
                        </a:spcAft>
                      </a:pPr>
                      <a:r>
                        <a:rPr sz="850" b="0">
                          <a:solidFill>
                            <a:srgbClr val="33555F"/>
                          </a:solidFill>
                          <a:latin typeface="Plus Jakarta Sans"/>
                        </a:rPr>
                        <a:t>Obtains in Vietnam</a:t>
                      </a:r>
                    </a:p>
                  </a:txBody>
                  <a:tcPr marL="54864" marR="54864" marT="45720" marB="45720" anchor="t">
                    <a:solidFill>
                      <a:srgbClr val="FFFFFF"/>
                    </a:solidFill>
                  </a:tcPr>
                </a:tc>
                <a:tc>
                  <a:txBody>
                    <a:bodyPr/>
                    <a:lstStyle/>
                    <a:p>
                      <a:pPr>
                        <a:lnSpc>
                          <a:spcPct val="130000"/>
                        </a:lnSpc>
                        <a:spcAft>
                          <a:spcPts val="0"/>
                        </a:spcAft>
                      </a:pPr>
                      <a:r>
                        <a:rPr sz="850" b="0">
                          <a:solidFill>
                            <a:srgbClr val="33555F"/>
                          </a:solidFill>
                          <a:latin typeface="Plus Jakarta Sans"/>
                        </a:rPr>
                        <a:t>Files with NBR, tracks expiry</a:t>
                      </a:r>
                    </a:p>
                  </a:txBody>
                  <a:tcPr marL="54864" marR="54864" marT="45720" marB="45720" anchor="t">
                    <a:solidFill>
                      <a:srgbClr val="FFFFFF"/>
                    </a:solidFill>
                  </a:tcPr>
                </a:tc>
                <a:tc>
                  <a:txBody>
                    <a:bodyPr/>
                    <a:lstStyle/>
                    <a:p>
                      <a:pPr>
                        <a:lnSpc>
                          <a:spcPct val="130000"/>
                        </a:lnSpc>
                        <a:spcAft>
                          <a:spcPts val="0"/>
                        </a:spcAft>
                      </a:pPr>
                      <a:r>
                        <a:rPr sz="850" b="0">
                          <a:solidFill>
                            <a:srgbClr val="33555F"/>
                          </a:solidFill>
                          <a:latin typeface="Plus Jakarta Sans"/>
                        </a:rPr>
                        <a:t>Relies on the certificate</a:t>
                      </a:r>
                    </a:p>
                  </a:txBody>
                  <a:tcPr marL="54864" marR="54864" marT="45720" marB="45720" anchor="t">
                    <a:solidFill>
                      <a:srgbClr val="FFFFFF"/>
                    </a:solidFill>
                  </a:tcPr>
                </a:tc>
              </a:tr>
              <a:tr h="306324">
                <a:tc>
                  <a:txBody>
                    <a:bodyPr/>
                    <a:lstStyle/>
                    <a:p>
                      <a:pPr>
                        <a:lnSpc>
                          <a:spcPct val="130000"/>
                        </a:lnSpc>
                        <a:spcAft>
                          <a:spcPts val="0"/>
                        </a:spcAft>
                      </a:pPr>
                      <a:r>
                        <a:rPr sz="850" b="0">
                          <a:solidFill>
                            <a:srgbClr val="0A5F65"/>
                          </a:solidFill>
                          <a:latin typeface="Plus Jakarta Sans"/>
                        </a:rPr>
                        <a:t>Dedicated collection account</a:t>
                      </a:r>
                    </a:p>
                  </a:txBody>
                  <a:tcPr marL="54864" marR="54864" marT="45720" marB="45720" anchor="t">
                    <a:solidFill>
                      <a:srgbClr val="DCF2F3"/>
                    </a:solidFill>
                  </a:tcPr>
                </a:tc>
                <a:tc>
                  <a:txBody>
                    <a:bodyPr/>
                    <a:lstStyle/>
                    <a:p>
                      <a:pPr>
                        <a:lnSpc>
                          <a:spcPct val="130000"/>
                        </a:lnSpc>
                        <a:spcAft>
                          <a:spcPts val="0"/>
                        </a:spcAft>
                      </a:pPr>
                      <a:r>
                        <a:rPr sz="850" b="0">
                          <a:solidFill>
                            <a:srgbClr val="0A5F65"/>
                          </a:solidFill>
                          <a:latin typeface="Plus Jakarta Sans"/>
                        </a:rPr>
                        <a:t>Beneficiary</a:t>
                      </a:r>
                    </a:p>
                  </a:txBody>
                  <a:tcPr marL="54864" marR="54864" marT="45720" marB="45720" anchor="t">
                    <a:solidFill>
                      <a:srgbClr val="DCF2F3"/>
                    </a:solidFill>
                  </a:tcPr>
                </a:tc>
                <a:tc>
                  <a:txBody>
                    <a:bodyPr/>
                    <a:lstStyle/>
                    <a:p>
                      <a:pPr>
                        <a:lnSpc>
                          <a:spcPct val="130000"/>
                        </a:lnSpc>
                        <a:spcAft>
                          <a:spcPts val="0"/>
                        </a:spcAft>
                      </a:pPr>
                      <a:r>
                        <a:rPr sz="850" b="0">
                          <a:solidFill>
                            <a:srgbClr val="0A5F65"/>
                          </a:solidFill>
                          <a:latin typeface="Plus Jakarta Sans"/>
                        </a:rPr>
                        <a:t>Operates and reconciles</a:t>
                      </a:r>
                    </a:p>
                  </a:txBody>
                  <a:tcPr marL="54864" marR="54864" marT="45720" marB="45720" anchor="t">
                    <a:solidFill>
                      <a:srgbClr val="DCF2F3"/>
                    </a:solidFill>
                  </a:tcPr>
                </a:tc>
                <a:tc>
                  <a:txBody>
                    <a:bodyPr/>
                    <a:lstStyle/>
                    <a:p>
                      <a:pPr>
                        <a:lnSpc>
                          <a:spcPct val="130000"/>
                        </a:lnSpc>
                        <a:spcAft>
                          <a:spcPts val="0"/>
                        </a:spcAft>
                      </a:pPr>
                      <a:r>
                        <a:rPr sz="850" b="0">
                          <a:solidFill>
                            <a:srgbClr val="0A5F65"/>
                          </a:solidFill>
                          <a:latin typeface="Plus Jakarta Sans"/>
                        </a:rPr>
                        <a:t>Maintains and segregates</a:t>
                      </a:r>
                    </a:p>
                  </a:txBody>
                  <a:tcPr marL="54864" marR="54864" marT="45720" marB="45720" anchor="t">
                    <a:solidFill>
                      <a:srgbClr val="DCF2F3"/>
                    </a:solidFill>
                  </a:tcPr>
                </a:tc>
              </a:tr>
              <a:tr h="306324">
                <a:tc>
                  <a:txBody>
                    <a:bodyPr/>
                    <a:lstStyle/>
                    <a:p>
                      <a:pPr>
                        <a:lnSpc>
                          <a:spcPct val="130000"/>
                        </a:lnSpc>
                        <a:spcAft>
                          <a:spcPts val="0"/>
                        </a:spcAft>
                      </a:pPr>
                      <a:r>
                        <a:rPr sz="850" b="0">
                          <a:solidFill>
                            <a:srgbClr val="33555F"/>
                          </a:solidFill>
                          <a:latin typeface="Plus Jakarta Sans"/>
                        </a:rPr>
                        <a:t>BSP and CASS settlement</a:t>
                      </a:r>
                    </a:p>
                  </a:txBody>
                  <a:tcPr marL="54864" marR="54864" marT="45720" marB="45720" anchor="t">
                    <a:solidFill>
                      <a:srgbClr val="FFFFFF"/>
                    </a:solidFill>
                  </a:tcPr>
                </a:tc>
                <a:tc>
                  <a:txBody>
                    <a:bodyPr/>
                    <a:lstStyle/>
                    <a:p>
                      <a:pPr>
                        <a:lnSpc>
                          <a:spcPct val="130000"/>
                        </a:lnSpc>
                        <a:spcAft>
                          <a:spcPts val="0"/>
                        </a:spcAft>
                      </a:pPr>
                      <a:r>
                        <a:rPr sz="850" b="0">
                          <a:solidFill>
                            <a:srgbClr val="33555F"/>
                          </a:solidFill>
                          <a:latin typeface="Plus Jakarta Sans"/>
                        </a:rPr>
                        <a:t>Receives net</a:t>
                      </a:r>
                    </a:p>
                  </a:txBody>
                  <a:tcPr marL="54864" marR="54864" marT="45720" marB="45720" anchor="t">
                    <a:solidFill>
                      <a:srgbClr val="FFFFFF"/>
                    </a:solidFill>
                  </a:tcPr>
                </a:tc>
                <a:tc>
                  <a:txBody>
                    <a:bodyPr/>
                    <a:lstStyle/>
                    <a:p>
                      <a:pPr>
                        <a:lnSpc>
                          <a:spcPct val="130000"/>
                        </a:lnSpc>
                        <a:spcAft>
                          <a:spcPts val="0"/>
                        </a:spcAft>
                      </a:pPr>
                      <a:r>
                        <a:rPr sz="850" b="0">
                          <a:solidFill>
                            <a:srgbClr val="33555F"/>
                          </a:solidFill>
                          <a:latin typeface="Plus Jakarta Sans"/>
                        </a:rPr>
                        <a:t>Collects and reconciles</a:t>
                      </a:r>
                    </a:p>
                  </a:txBody>
                  <a:tcPr marL="54864" marR="54864" marT="45720" marB="45720" anchor="t">
                    <a:solidFill>
                      <a:srgbClr val="FFFFFF"/>
                    </a:solidFill>
                  </a:tcPr>
                </a:tc>
                <a:tc>
                  <a:txBody>
                    <a:bodyPr/>
                    <a:lstStyle/>
                    <a:p>
                      <a:pPr>
                        <a:lnSpc>
                          <a:spcPct val="130000"/>
                        </a:lnSpc>
                        <a:spcAft>
                          <a:spcPts val="0"/>
                        </a:spcAft>
                      </a:pPr>
                      <a:r>
                        <a:rPr sz="850" b="0">
                          <a:solidFill>
                            <a:srgbClr val="33555F"/>
                          </a:solidFill>
                          <a:latin typeface="Plus Jakarta Sans"/>
                        </a:rPr>
                        <a:t>Receives into the account</a:t>
                      </a:r>
                    </a:p>
                  </a:txBody>
                  <a:tcPr marL="54864" marR="54864" marT="45720" marB="45720" anchor="t">
                    <a:solidFill>
                      <a:srgbClr val="FFFFFF"/>
                    </a:solidFill>
                  </a:tcPr>
                </a:tc>
              </a:tr>
              <a:tr h="306324">
                <a:tc>
                  <a:txBody>
                    <a:bodyPr/>
                    <a:lstStyle/>
                    <a:p>
                      <a:pPr>
                        <a:lnSpc>
                          <a:spcPct val="130000"/>
                        </a:lnSpc>
                        <a:spcAft>
                          <a:spcPts val="0"/>
                        </a:spcAft>
                      </a:pPr>
                      <a:r>
                        <a:rPr sz="850" b="0">
                          <a:solidFill>
                            <a:srgbClr val="33555F"/>
                          </a:solidFill>
                          <a:latin typeface="Plus Jakarta Sans"/>
                        </a:rPr>
                        <a:t>Form FF collection on cargo</a:t>
                      </a:r>
                    </a:p>
                  </a:txBody>
                  <a:tcPr marL="54864" marR="54864" marT="45720" marB="45720" anchor="t">
                    <a:solidFill>
                      <a:srgbClr val="FBFDFE"/>
                    </a:solidFill>
                  </a:tcPr>
                </a:tc>
                <a:tc>
                  <a:txBody>
                    <a:bodyPr/>
                    <a:lstStyle/>
                    <a:p>
                      <a:pPr>
                        <a:lnSpc>
                          <a:spcPct val="130000"/>
                        </a:lnSpc>
                        <a:spcAft>
                          <a:spcPts val="0"/>
                        </a:spcAft>
                      </a:pPr>
                      <a:r>
                        <a:rPr sz="850" b="0">
                          <a:solidFill>
                            <a:srgbClr val="33555F"/>
                          </a:solidFill>
                          <a:latin typeface="Plus Jakarta Sans"/>
                        </a:rPr>
                        <a:t>Not involved</a:t>
                      </a:r>
                    </a:p>
                  </a:txBody>
                  <a:tcPr marL="54864" marR="54864" marT="45720" marB="45720" anchor="t">
                    <a:solidFill>
                      <a:srgbClr val="FBFDFE"/>
                    </a:solidFill>
                  </a:tcPr>
                </a:tc>
                <a:tc>
                  <a:txBody>
                    <a:bodyPr/>
                    <a:lstStyle/>
                    <a:p>
                      <a:pPr>
                        <a:lnSpc>
                          <a:spcPct val="130000"/>
                        </a:lnSpc>
                        <a:spcAft>
                          <a:spcPts val="0"/>
                        </a:spcAft>
                      </a:pPr>
                      <a:r>
                        <a:rPr sz="850" b="0">
                          <a:solidFill>
                            <a:srgbClr val="33555F"/>
                          </a:solidFill>
                          <a:latin typeface="Plus Jakarta Sans"/>
                        </a:rPr>
                        <a:t>Collects at booking</a:t>
                      </a:r>
                    </a:p>
                  </a:txBody>
                  <a:tcPr marL="54864" marR="54864" marT="45720" marB="45720" anchor="t">
                    <a:solidFill>
                      <a:srgbClr val="FBFDFE"/>
                    </a:solidFill>
                  </a:tcPr>
                </a:tc>
                <a:tc>
                  <a:txBody>
                    <a:bodyPr/>
                    <a:lstStyle/>
                    <a:p>
                      <a:pPr>
                        <a:lnSpc>
                          <a:spcPct val="130000"/>
                        </a:lnSpc>
                        <a:spcAft>
                          <a:spcPts val="0"/>
                        </a:spcAft>
                      </a:pPr>
                      <a:r>
                        <a:rPr sz="850" b="0">
                          <a:solidFill>
                            <a:srgbClr val="33555F"/>
                          </a:solidFill>
                          <a:latin typeface="Plus Jakarta Sans"/>
                        </a:rPr>
                        <a:t>Generates in OEMS or OIMS</a:t>
                      </a:r>
                    </a:p>
                  </a:txBody>
                  <a:tcPr marL="54864" marR="54864" marT="45720" marB="45720" anchor="t">
                    <a:solidFill>
                      <a:srgbClr val="FBFDFE"/>
                    </a:solidFill>
                  </a:tcPr>
                </a:tc>
              </a:tr>
              <a:tr h="306324">
                <a:tc>
                  <a:txBody>
                    <a:bodyPr/>
                    <a:lstStyle/>
                    <a:p>
                      <a:pPr>
                        <a:lnSpc>
                          <a:spcPct val="130000"/>
                        </a:lnSpc>
                        <a:spcAft>
                          <a:spcPts val="0"/>
                        </a:spcAft>
                      </a:pPr>
                      <a:r>
                        <a:rPr sz="850" b="0">
                          <a:solidFill>
                            <a:srgbClr val="0A5F65"/>
                          </a:solidFill>
                          <a:latin typeface="Plus Jakarta Sans"/>
                        </a:rPr>
                        <a:t>Monthly surplus computation</a:t>
                      </a:r>
                    </a:p>
                  </a:txBody>
                  <a:tcPr marL="54864" marR="54864" marT="45720" marB="45720" anchor="t">
                    <a:solidFill>
                      <a:srgbClr val="DCF2F3"/>
                    </a:solidFill>
                  </a:tcPr>
                </a:tc>
                <a:tc>
                  <a:txBody>
                    <a:bodyPr/>
                    <a:lstStyle/>
                    <a:p>
                      <a:pPr>
                        <a:lnSpc>
                          <a:spcPct val="130000"/>
                        </a:lnSpc>
                        <a:spcAft>
                          <a:spcPts val="0"/>
                        </a:spcAft>
                      </a:pPr>
                      <a:r>
                        <a:rPr sz="850" b="0">
                          <a:solidFill>
                            <a:srgbClr val="0A5F65"/>
                          </a:solidFill>
                          <a:latin typeface="Plus Jakarta Sans"/>
                        </a:rPr>
                        <a:t>Reviews and approves</a:t>
                      </a:r>
                    </a:p>
                  </a:txBody>
                  <a:tcPr marL="54864" marR="54864" marT="45720" marB="45720" anchor="t">
                    <a:solidFill>
                      <a:srgbClr val="DCF2F3"/>
                    </a:solidFill>
                  </a:tcPr>
                </a:tc>
                <a:tc>
                  <a:txBody>
                    <a:bodyPr/>
                    <a:lstStyle/>
                    <a:p>
                      <a:pPr>
                        <a:lnSpc>
                          <a:spcPct val="130000"/>
                        </a:lnSpc>
                        <a:spcAft>
                          <a:spcPts val="0"/>
                        </a:spcAft>
                      </a:pPr>
                      <a:r>
                        <a:rPr sz="850" b="0">
                          <a:solidFill>
                            <a:srgbClr val="0A5F65"/>
                          </a:solidFill>
                          <a:latin typeface="Plus Jakarta Sans"/>
                        </a:rPr>
                        <a:t>Prepares the full file</a:t>
                      </a:r>
                    </a:p>
                  </a:txBody>
                  <a:tcPr marL="54864" marR="54864" marT="45720" marB="45720" anchor="t">
                    <a:solidFill>
                      <a:srgbClr val="DCF2F3"/>
                    </a:solidFill>
                  </a:tcPr>
                </a:tc>
                <a:tc>
                  <a:txBody>
                    <a:bodyPr/>
                    <a:lstStyle/>
                    <a:p>
                      <a:pPr>
                        <a:lnSpc>
                          <a:spcPct val="130000"/>
                        </a:lnSpc>
                        <a:spcAft>
                          <a:spcPts val="0"/>
                        </a:spcAft>
                      </a:pPr>
                      <a:r>
                        <a:rPr sz="850" b="0">
                          <a:solidFill>
                            <a:srgbClr val="0A5F65"/>
                          </a:solidFill>
                          <a:latin typeface="Plus Jakarta Sans"/>
                        </a:rPr>
                        <a:t>Scrutinises and confirms</a:t>
                      </a:r>
                    </a:p>
                  </a:txBody>
                  <a:tcPr marL="54864" marR="54864" marT="45720" marB="45720" anchor="t">
                    <a:solidFill>
                      <a:srgbClr val="DCF2F3"/>
                    </a:solidFill>
                  </a:tcPr>
                </a:tc>
              </a:tr>
              <a:tr h="306324">
                <a:tc>
                  <a:txBody>
                    <a:bodyPr/>
                    <a:lstStyle/>
                    <a:p>
                      <a:pPr>
                        <a:lnSpc>
                          <a:spcPct val="130000"/>
                        </a:lnSpc>
                        <a:spcAft>
                          <a:spcPts val="0"/>
                        </a:spcAft>
                      </a:pPr>
                      <a:r>
                        <a:rPr sz="850" b="0">
                          <a:solidFill>
                            <a:srgbClr val="33555F"/>
                          </a:solidFill>
                          <a:latin typeface="Plus Jakarta Sans"/>
                        </a:rPr>
                        <a:t>Remittance execution</a:t>
                      </a:r>
                    </a:p>
                  </a:txBody>
                  <a:tcPr marL="54864" marR="54864" marT="45720" marB="45720" anchor="t">
                    <a:solidFill>
                      <a:srgbClr val="FBFDFE"/>
                    </a:solidFill>
                  </a:tcPr>
                </a:tc>
                <a:tc>
                  <a:txBody>
                    <a:bodyPr/>
                    <a:lstStyle/>
                    <a:p>
                      <a:pPr>
                        <a:lnSpc>
                          <a:spcPct val="130000"/>
                        </a:lnSpc>
                        <a:spcAft>
                          <a:spcPts val="0"/>
                        </a:spcAft>
                      </a:pPr>
                      <a:r>
                        <a:rPr sz="850" b="0">
                          <a:solidFill>
                            <a:srgbClr val="33555F"/>
                          </a:solidFill>
                          <a:latin typeface="Plus Jakarta Sans"/>
                        </a:rPr>
                        <a:t>Receives funds</a:t>
                      </a:r>
                    </a:p>
                  </a:txBody>
                  <a:tcPr marL="54864" marR="54864" marT="45720" marB="45720" anchor="t">
                    <a:solidFill>
                      <a:srgbClr val="FBFDFE"/>
                    </a:solidFill>
                  </a:tcPr>
                </a:tc>
                <a:tc>
                  <a:txBody>
                    <a:bodyPr/>
                    <a:lstStyle/>
                    <a:p>
                      <a:pPr>
                        <a:lnSpc>
                          <a:spcPct val="130000"/>
                        </a:lnSpc>
                        <a:spcAft>
                          <a:spcPts val="0"/>
                        </a:spcAft>
                      </a:pPr>
                      <a:r>
                        <a:rPr sz="850" b="0">
                          <a:solidFill>
                            <a:srgbClr val="33555F"/>
                          </a:solidFill>
                          <a:latin typeface="Plus Jakarta Sans"/>
                        </a:rPr>
                        <a:t>Instructs</a:t>
                      </a:r>
                    </a:p>
                  </a:txBody>
                  <a:tcPr marL="54864" marR="54864" marT="45720" marB="45720" anchor="t">
                    <a:solidFill>
                      <a:srgbClr val="FBFDFE"/>
                    </a:solidFill>
                  </a:tcPr>
                </a:tc>
                <a:tc>
                  <a:txBody>
                    <a:bodyPr/>
                    <a:lstStyle/>
                    <a:p>
                      <a:pPr>
                        <a:lnSpc>
                          <a:spcPct val="130000"/>
                        </a:lnSpc>
                        <a:spcAft>
                          <a:spcPts val="0"/>
                        </a:spcAft>
                      </a:pPr>
                      <a:r>
                        <a:rPr sz="850" b="0">
                          <a:solidFill>
                            <a:srgbClr val="33555F"/>
                          </a:solidFill>
                          <a:latin typeface="Plus Jakarta Sans"/>
                        </a:rPr>
                        <a:t>Converts and transfers</a:t>
                      </a:r>
                    </a:p>
                  </a:txBody>
                  <a:tcPr marL="54864" marR="54864" marT="45720" marB="45720" anchor="t">
                    <a:solidFill>
                      <a:srgbClr val="FBFDFE"/>
                    </a:solidFill>
                  </a:tcPr>
                </a:tc>
              </a:tr>
              <a:tr h="306324">
                <a:tc>
                  <a:txBody>
                    <a:bodyPr/>
                    <a:lstStyle/>
                    <a:p>
                      <a:pPr>
                        <a:lnSpc>
                          <a:spcPct val="130000"/>
                        </a:lnSpc>
                        <a:spcAft>
                          <a:spcPts val="0"/>
                        </a:spcAft>
                      </a:pPr>
                      <a:r>
                        <a:rPr sz="850" b="0">
                          <a:solidFill>
                            <a:srgbClr val="33555F"/>
                          </a:solidFill>
                          <a:latin typeface="Plus Jakarta Sans"/>
                        </a:rPr>
                        <a:t>Post facto approval filing</a:t>
                      </a:r>
                    </a:p>
                  </a:txBody>
                  <a:tcPr marL="54864" marR="54864" marT="45720" marB="45720" anchor="t">
                    <a:solidFill>
                      <a:srgbClr val="FFFFFF"/>
                    </a:solidFill>
                  </a:tcPr>
                </a:tc>
                <a:tc>
                  <a:txBody>
                    <a:bodyPr/>
                    <a:lstStyle/>
                    <a:p>
                      <a:pPr>
                        <a:lnSpc>
                          <a:spcPct val="130000"/>
                        </a:lnSpc>
                        <a:spcAft>
                          <a:spcPts val="0"/>
                        </a:spcAft>
                      </a:pPr>
                      <a:r>
                        <a:rPr sz="850" b="0">
                          <a:solidFill>
                            <a:srgbClr val="33555F"/>
                          </a:solidFill>
                          <a:latin typeface="Plus Jakarta Sans"/>
                        </a:rPr>
                        <a:t>Not involved</a:t>
                      </a:r>
                    </a:p>
                  </a:txBody>
                  <a:tcPr marL="54864" marR="54864" marT="45720" marB="45720" anchor="t">
                    <a:solidFill>
                      <a:srgbClr val="FFFFFF"/>
                    </a:solidFill>
                  </a:tcPr>
                </a:tc>
                <a:tc>
                  <a:txBody>
                    <a:bodyPr/>
                    <a:lstStyle/>
                    <a:p>
                      <a:pPr>
                        <a:lnSpc>
                          <a:spcPct val="130000"/>
                        </a:lnSpc>
                        <a:spcAft>
                          <a:spcPts val="0"/>
                        </a:spcAft>
                      </a:pPr>
                      <a:r>
                        <a:rPr sz="850" b="0">
                          <a:solidFill>
                            <a:srgbClr val="33555F"/>
                          </a:solidFill>
                          <a:latin typeface="Plus Jakarta Sans"/>
                        </a:rPr>
                        <a:t>Assembles the file</a:t>
                      </a:r>
                    </a:p>
                  </a:txBody>
                  <a:tcPr marL="54864" marR="54864" marT="45720" marB="45720" anchor="t">
                    <a:solidFill>
                      <a:srgbClr val="FFFFFF"/>
                    </a:solidFill>
                  </a:tcPr>
                </a:tc>
                <a:tc>
                  <a:txBody>
                    <a:bodyPr/>
                    <a:lstStyle/>
                    <a:p>
                      <a:pPr>
                        <a:lnSpc>
                          <a:spcPct val="130000"/>
                        </a:lnSpc>
                        <a:spcAft>
                          <a:spcPts val="0"/>
                        </a:spcAft>
                      </a:pPr>
                      <a:r>
                        <a:rPr sz="850" b="0">
                          <a:solidFill>
                            <a:srgbClr val="33555F"/>
                          </a:solidFill>
                          <a:latin typeface="Plus Jakarta Sans"/>
                        </a:rPr>
                        <a:t>Submits to Bangladesh Bank</a:t>
                      </a:r>
                    </a:p>
                  </a:txBody>
                  <a:tcPr marL="54864" marR="54864" marT="45720" marB="45720" anchor="t">
                    <a:solidFill>
                      <a:srgbClr val="FFFFFF"/>
                    </a:solidFill>
                  </a:tcPr>
                </a:tc>
              </a:tr>
              <a:tr h="306324">
                <a:tc>
                  <a:txBody>
                    <a:bodyPr/>
                    <a:lstStyle/>
                    <a:p>
                      <a:pPr>
                        <a:lnSpc>
                          <a:spcPct val="130000"/>
                        </a:lnSpc>
                        <a:spcAft>
                          <a:spcPts val="0"/>
                        </a:spcAft>
                      </a:pPr>
                      <a:r>
                        <a:rPr sz="850" b="0">
                          <a:solidFill>
                            <a:srgbClr val="33555F"/>
                          </a:solidFill>
                          <a:latin typeface="Plus Jakarta Sans"/>
                        </a:rPr>
                        <a:t>Document custody for inspection</a:t>
                      </a:r>
                    </a:p>
                  </a:txBody>
                  <a:tcPr marL="54864" marR="54864" marT="45720" marB="45720" anchor="t">
                    <a:solidFill>
                      <a:srgbClr val="FBFDFE"/>
                    </a:solidFill>
                  </a:tcPr>
                </a:tc>
                <a:tc>
                  <a:txBody>
                    <a:bodyPr/>
                    <a:lstStyle/>
                    <a:p>
                      <a:pPr>
                        <a:lnSpc>
                          <a:spcPct val="130000"/>
                        </a:lnSpc>
                        <a:spcAft>
                          <a:spcPts val="0"/>
                        </a:spcAft>
                      </a:pPr>
                      <a:r>
                        <a:rPr sz="850" b="0">
                          <a:solidFill>
                            <a:srgbClr val="33555F"/>
                          </a:solidFill>
                          <a:latin typeface="Plus Jakarta Sans"/>
                        </a:rPr>
                        <a:t>Retains its own copies</a:t>
                      </a:r>
                    </a:p>
                  </a:txBody>
                  <a:tcPr marL="54864" marR="54864" marT="45720" marB="45720" anchor="t">
                    <a:solidFill>
                      <a:srgbClr val="FBFDFE"/>
                    </a:solidFill>
                  </a:tcPr>
                </a:tc>
                <a:tc>
                  <a:txBody>
                    <a:bodyPr/>
                    <a:lstStyle/>
                    <a:p>
                      <a:pPr>
                        <a:lnSpc>
                          <a:spcPct val="130000"/>
                        </a:lnSpc>
                        <a:spcAft>
                          <a:spcPts val="0"/>
                        </a:spcAft>
                      </a:pPr>
                      <a:r>
                        <a:rPr sz="850" b="0">
                          <a:solidFill>
                            <a:srgbClr val="33555F"/>
                          </a:solidFill>
                          <a:latin typeface="Plus Jakarta Sans"/>
                        </a:rPr>
                        <a:t>Holds the local set</a:t>
                      </a:r>
                    </a:p>
                  </a:txBody>
                  <a:tcPr marL="54864" marR="54864" marT="45720" marB="45720" anchor="t">
                    <a:solidFill>
                      <a:srgbClr val="FBFDFE"/>
                    </a:solidFill>
                  </a:tcPr>
                </a:tc>
                <a:tc>
                  <a:txBody>
                    <a:bodyPr/>
                    <a:lstStyle/>
                    <a:p>
                      <a:pPr>
                        <a:lnSpc>
                          <a:spcPct val="130000"/>
                        </a:lnSpc>
                        <a:spcAft>
                          <a:spcPts val="0"/>
                        </a:spcAft>
                      </a:pPr>
                      <a:r>
                        <a:rPr sz="850" b="0">
                          <a:solidFill>
                            <a:srgbClr val="33555F"/>
                          </a:solidFill>
                          <a:latin typeface="Plus Jakarta Sans"/>
                        </a:rPr>
                        <a:t>May call for production</a:t>
                      </a:r>
                    </a:p>
                  </a:txBody>
                  <a:tcPr marL="54864" marR="54864" marT="45720" marB="45720" anchor="t">
                    <a:solidFill>
                      <a:srgbClr val="FBFDFE"/>
                    </a:solidFill>
                  </a:tcPr>
                </a:tc>
              </a:tr>
            </a:tbl>
          </a:graphicData>
        </a:graphic>
      </p:graphicFrame>
      <p:sp>
        <p:nvSpPr>
          <p:cNvPr id="6" name="Rectangle 5"/>
          <p:cNvSpPr/>
          <p:nvPr/>
        </p:nvSpPr>
        <p:spPr>
          <a:xfrm>
            <a:off x="786384" y="6163056"/>
            <a:ext cx="10618927" cy="9525"/>
          </a:xfrm>
          <a:prstGeom prst="rect">
            <a:avLst/>
          </a:prstGeom>
          <a:solidFill>
            <a:srgbClr val="DCE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6291072"/>
            <a:ext cx="10618927" cy="512064"/>
          </a:xfrm>
          <a:prstGeom prst="rect">
            <a:avLst/>
          </a:prstGeom>
          <a:noFill/>
        </p:spPr>
        <p:txBody>
          <a:bodyPr wrap="square" lIns="0" rIns="0" tIns="0" bIns="0">
            <a:spAutoFit/>
          </a:bodyPr>
          <a:lstStyle/>
          <a:p>
            <a:pPr>
              <a:lnSpc>
                <a:spcPct val="150000"/>
              </a:lnSpc>
              <a:spcAft>
                <a:spcPts val="0"/>
              </a:spcAft>
            </a:pPr>
            <a:r>
              <a:rPr sz="800" b="0">
                <a:solidFill>
                  <a:srgbClr val="52737D"/>
                </a:solidFill>
                <a:latin typeface="IBM Plex Mono"/>
              </a:rPr>
              <a:t>Allocation reflects the standard GSA operating model and is subject to the executed General Sales Agent agreement between the parties, which governs in the event of any difference.</a:t>
            </a:r>
          </a:p>
        </p:txBody>
      </p:sp>
      <p:sp>
        <p:nvSpPr>
          <p:cNvPr id="8" name="TextBox 7"/>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566928"/>
            <a:ext cx="10618927" cy="274320"/>
          </a:xfrm>
          <a:prstGeom prst="rect">
            <a:avLst/>
          </a:prstGeom>
          <a:noFill/>
        </p:spPr>
        <p:txBody>
          <a:bodyPr wrap="square" lIns="0" rIns="0" tIns="0" bIns="0">
            <a:spAutoFit/>
          </a:bodyPr>
          <a:lstStyle/>
          <a:p>
            <a:pPr>
              <a:lnSpc>
                <a:spcPct val="135000"/>
              </a:lnSpc>
              <a:spcAft>
                <a:spcPts val="0"/>
              </a:spcAft>
            </a:pPr>
            <a:r>
              <a:rPr sz="1000" b="0" cap="all" spc="240">
                <a:solidFill>
                  <a:srgbClr val="0C7A80"/>
                </a:solidFill>
                <a:latin typeface="IBM Plex Mono"/>
              </a:rPr>
              <a:t>11  .  Risk register</a:t>
            </a:r>
          </a:p>
        </p:txBody>
      </p:sp>
      <p:sp>
        <p:nvSpPr>
          <p:cNvPr id="4" name="TextBox 3"/>
          <p:cNvSpPr txBox="1"/>
          <p:nvPr/>
        </p:nvSpPr>
        <p:spPr>
          <a:xfrm>
            <a:off x="786384" y="932688"/>
            <a:ext cx="10618927" cy="1371600"/>
          </a:xfrm>
          <a:prstGeom prst="rect">
            <a:avLst/>
          </a:prstGeom>
          <a:noFill/>
        </p:spPr>
        <p:txBody>
          <a:bodyPr wrap="square" lIns="0" rIns="0" tIns="0" bIns="0">
            <a:spAutoFit/>
          </a:bodyPr>
          <a:lstStyle/>
          <a:p>
            <a:pPr>
              <a:lnSpc>
                <a:spcPct val="108000"/>
              </a:lnSpc>
              <a:spcAft>
                <a:spcPts val="0"/>
              </a:spcAft>
            </a:pPr>
            <a:r>
              <a:rPr sz="2800" b="1">
                <a:solidFill>
                  <a:srgbClr val="0E2830"/>
                </a:solidFill>
                <a:latin typeface="Outfit"/>
              </a:rPr>
              <a:t>Six places a Bangladesh launch reliably loses time, and what removes each one.</a:t>
            </a:r>
          </a:p>
        </p:txBody>
      </p:sp>
      <p:sp>
        <p:nvSpPr>
          <p:cNvPr id="5" name="Rounded Rectangle 4"/>
          <p:cNvSpPr/>
          <p:nvPr/>
        </p:nvSpPr>
        <p:spPr>
          <a:xfrm>
            <a:off x="786384" y="1975104"/>
            <a:ext cx="3381146" cy="1874519"/>
          </a:xfrm>
          <a:prstGeom prst="roundRect">
            <a:avLst>
              <a:gd name="adj" fmla="val 5500"/>
            </a:avLst>
          </a:prstGeom>
          <a:gradFill rotWithShape="1">
            <a:gsLst>
              <a:gs pos="0">
                <a:srgbClr val="FBE7E2"/>
              </a:gs>
              <a:gs pos="62000">
                <a:srgbClr val="FFFFFF"/>
              </a:gs>
            </a:gsLst>
            <a:lin scaled="0" ang="2700000"/>
          </a:gradFill>
          <a:ln w="12700">
            <a:solidFill>
              <a:srgbClr val="E3A7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7552" y="2139696"/>
            <a:ext cx="2978810" cy="1545336"/>
          </a:xfrm>
          <a:prstGeom prst="rect">
            <a:avLst/>
          </a:prstGeom>
          <a:noFill/>
        </p:spPr>
        <p:txBody>
          <a:bodyPr wrap="square" lIns="0" rIns="0" tIns="0" bIns="0">
            <a:spAutoFit/>
          </a:bodyPr>
          <a:lstStyle/>
          <a:p>
            <a:pPr>
              <a:lnSpc>
                <a:spcPct val="135000"/>
              </a:lnSpc>
              <a:spcAft>
                <a:spcPts val="500"/>
              </a:spcAft>
            </a:pPr>
            <a:r>
              <a:rPr sz="750" b="0" cap="all" spc="160">
                <a:solidFill>
                  <a:srgbClr val="C0442B"/>
                </a:solidFill>
                <a:latin typeface="IBM Plex Mono"/>
              </a:rPr>
              <a:t>Risk 01  .  High</a:t>
            </a:r>
          </a:p>
          <a:p>
            <a:pPr>
              <a:lnSpc>
                <a:spcPct val="116000"/>
              </a:lnSpc>
              <a:spcAft>
                <a:spcPts val="500"/>
              </a:spcAft>
            </a:pPr>
            <a:r>
              <a:rPr sz="1050" b="1">
                <a:solidFill>
                  <a:srgbClr val="0E2830"/>
                </a:solidFill>
                <a:latin typeface="Outfit"/>
              </a:rPr>
              <a:t>Waiver clauses discovered late</a:t>
            </a:r>
          </a:p>
          <a:p>
            <a:pPr>
              <a:lnSpc>
                <a:spcPct val="136000"/>
              </a:lnSpc>
              <a:spcAft>
                <a:spcPts val="600"/>
              </a:spcAft>
            </a:pPr>
            <a:r>
              <a:rPr sz="819" b="0">
                <a:solidFill>
                  <a:srgbClr val="33555F"/>
                </a:solidFill>
                <a:latin typeface="Plus Jakarta Sans"/>
              </a:rPr>
              <a:t>The BIDA permission arrives, the account opens, and only at the first remittance does anyone read the outward remittance restrictions.</a:t>
            </a:r>
          </a:p>
          <a:p>
            <a:pPr>
              <a:lnSpc>
                <a:spcPct val="136000"/>
              </a:lnSpc>
              <a:spcAft>
                <a:spcPts val="0"/>
              </a:spcAft>
            </a:pPr>
            <a:r>
              <a:rPr sz="819" b="0">
                <a:solidFill>
                  <a:srgbClr val="C10073"/>
                </a:solidFill>
                <a:latin typeface="Plus Jakarta Sans"/>
              </a:rPr>
              <a:t>Mitigation.  Waivers are applied for with the permission, not after it.</a:t>
            </a:r>
          </a:p>
        </p:txBody>
      </p:sp>
      <p:sp>
        <p:nvSpPr>
          <p:cNvPr id="7" name="Rounded Rectangle 6"/>
          <p:cNvSpPr/>
          <p:nvPr/>
        </p:nvSpPr>
        <p:spPr>
          <a:xfrm>
            <a:off x="4405274" y="1975104"/>
            <a:ext cx="3381146" cy="1874519"/>
          </a:xfrm>
          <a:prstGeom prst="roundRect">
            <a:avLst>
              <a:gd name="adj" fmla="val 5500"/>
            </a:avLst>
          </a:prstGeom>
          <a:gradFill rotWithShape="1">
            <a:gsLst>
              <a:gs pos="0">
                <a:srgbClr val="FBE7E2"/>
              </a:gs>
              <a:gs pos="62000">
                <a:srgbClr val="FFFFFF"/>
              </a:gs>
            </a:gsLst>
            <a:lin scaled="0" ang="2700000"/>
          </a:gradFill>
          <a:ln w="12700">
            <a:solidFill>
              <a:srgbClr val="E3A7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06442" y="2139696"/>
            <a:ext cx="2978810" cy="1545336"/>
          </a:xfrm>
          <a:prstGeom prst="rect">
            <a:avLst/>
          </a:prstGeom>
          <a:noFill/>
        </p:spPr>
        <p:txBody>
          <a:bodyPr wrap="square" lIns="0" rIns="0" tIns="0" bIns="0">
            <a:spAutoFit/>
          </a:bodyPr>
          <a:lstStyle/>
          <a:p>
            <a:pPr>
              <a:lnSpc>
                <a:spcPct val="135000"/>
              </a:lnSpc>
              <a:spcAft>
                <a:spcPts val="500"/>
              </a:spcAft>
            </a:pPr>
            <a:r>
              <a:rPr sz="750" b="0" cap="all" spc="160">
                <a:solidFill>
                  <a:srgbClr val="C0442B"/>
                </a:solidFill>
                <a:latin typeface="IBM Plex Mono"/>
              </a:rPr>
              <a:t>Risk 02  .  High</a:t>
            </a:r>
          </a:p>
          <a:p>
            <a:pPr>
              <a:lnSpc>
                <a:spcPct val="116000"/>
              </a:lnSpc>
              <a:spcAft>
                <a:spcPts val="500"/>
              </a:spcAft>
            </a:pPr>
            <a:r>
              <a:rPr sz="1050" b="1">
                <a:solidFill>
                  <a:srgbClr val="0E2830"/>
                </a:solidFill>
                <a:latin typeface="Outfit"/>
              </a:rPr>
              <a:t>Form FF not collected at booking</a:t>
            </a:r>
          </a:p>
          <a:p>
            <a:pPr>
              <a:lnSpc>
                <a:spcPct val="136000"/>
              </a:lnSpc>
              <a:spcAft>
                <a:spcPts val="600"/>
              </a:spcAft>
            </a:pPr>
            <a:r>
              <a:rPr sz="819" b="0">
                <a:solidFill>
                  <a:srgbClr val="33555F"/>
                </a:solidFill>
                <a:latin typeface="Plus Jakarta Sans"/>
              </a:rPr>
              <a:t>Cargo freight collected in taka without the supporting Form FF cannot be remitted, and the shipper has no incentive to help months later.</a:t>
            </a:r>
          </a:p>
          <a:p>
            <a:pPr>
              <a:lnSpc>
                <a:spcPct val="136000"/>
              </a:lnSpc>
              <a:spcAft>
                <a:spcPts val="0"/>
              </a:spcAft>
            </a:pPr>
            <a:r>
              <a:rPr sz="819" b="0">
                <a:solidFill>
                  <a:srgbClr val="C10073"/>
                </a:solidFill>
                <a:latin typeface="Plus Jakarta Sans"/>
              </a:rPr>
              <a:t>Mitigation.  Form FF is a condition of documentation release at the cargo desk.</a:t>
            </a:r>
          </a:p>
        </p:txBody>
      </p:sp>
      <p:sp>
        <p:nvSpPr>
          <p:cNvPr id="9" name="Rounded Rectangle 8"/>
          <p:cNvSpPr/>
          <p:nvPr/>
        </p:nvSpPr>
        <p:spPr>
          <a:xfrm>
            <a:off x="8024164" y="1975104"/>
            <a:ext cx="3381146" cy="1874519"/>
          </a:xfrm>
          <a:prstGeom prst="roundRect">
            <a:avLst>
              <a:gd name="adj" fmla="val 5500"/>
            </a:avLst>
          </a:prstGeom>
          <a:gradFill rotWithShape="1">
            <a:gsLst>
              <a:gs pos="0">
                <a:srgbClr val="FBE7E2"/>
              </a:gs>
              <a:gs pos="62000">
                <a:srgbClr val="FFFFFF"/>
              </a:gs>
            </a:gsLst>
            <a:lin scaled="0" ang="2700000"/>
          </a:gradFill>
          <a:ln w="12700">
            <a:solidFill>
              <a:srgbClr val="E3A7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5332" y="2139696"/>
            <a:ext cx="2978810" cy="1545336"/>
          </a:xfrm>
          <a:prstGeom prst="rect">
            <a:avLst/>
          </a:prstGeom>
          <a:noFill/>
        </p:spPr>
        <p:txBody>
          <a:bodyPr wrap="square" lIns="0" rIns="0" tIns="0" bIns="0">
            <a:spAutoFit/>
          </a:bodyPr>
          <a:lstStyle/>
          <a:p>
            <a:pPr>
              <a:lnSpc>
                <a:spcPct val="135000"/>
              </a:lnSpc>
              <a:spcAft>
                <a:spcPts val="500"/>
              </a:spcAft>
            </a:pPr>
            <a:r>
              <a:rPr sz="750" b="0" cap="all" spc="160">
                <a:solidFill>
                  <a:srgbClr val="C0442B"/>
                </a:solidFill>
                <a:latin typeface="IBM Plex Mono"/>
              </a:rPr>
              <a:t>Risk 03  .  Medium</a:t>
            </a:r>
          </a:p>
          <a:p>
            <a:pPr>
              <a:lnSpc>
                <a:spcPct val="116000"/>
              </a:lnSpc>
              <a:spcAft>
                <a:spcPts val="500"/>
              </a:spcAft>
            </a:pPr>
            <a:r>
              <a:rPr sz="1050" b="1">
                <a:solidFill>
                  <a:srgbClr val="0E2830"/>
                </a:solidFill>
                <a:latin typeface="Outfit"/>
              </a:rPr>
              <a:t>Ledger monthly, settlement fortnightly</a:t>
            </a:r>
          </a:p>
          <a:p>
            <a:pPr>
              <a:lnSpc>
                <a:spcPct val="136000"/>
              </a:lnSpc>
              <a:spcAft>
                <a:spcPts val="600"/>
              </a:spcAft>
            </a:pPr>
            <a:r>
              <a:rPr sz="819" b="0">
                <a:solidFill>
                  <a:srgbClr val="33555F"/>
                </a:solidFill>
                <a:latin typeface="Plus Jakarta Sans"/>
              </a:rPr>
              <a:t>Annexure A expects fortnightly BSP and CASS splits. A monthly management ledger will not reconcile and the file gets referred back.</a:t>
            </a:r>
          </a:p>
          <a:p>
            <a:pPr>
              <a:lnSpc>
                <a:spcPct val="136000"/>
              </a:lnSpc>
              <a:spcAft>
                <a:spcPts val="0"/>
              </a:spcAft>
            </a:pPr>
            <a:r>
              <a:rPr sz="819" b="0">
                <a:solidFill>
                  <a:srgbClr val="C10073"/>
                </a:solidFill>
                <a:latin typeface="Plus Jakarta Sans"/>
              </a:rPr>
              <a:t>Mitigation.  Reporting is built on the settlement calendar from month one.</a:t>
            </a:r>
          </a:p>
        </p:txBody>
      </p:sp>
      <p:sp>
        <p:nvSpPr>
          <p:cNvPr id="11" name="Rounded Rectangle 10"/>
          <p:cNvSpPr/>
          <p:nvPr/>
        </p:nvSpPr>
        <p:spPr>
          <a:xfrm>
            <a:off x="786384" y="4087368"/>
            <a:ext cx="3381146" cy="1874519"/>
          </a:xfrm>
          <a:prstGeom prst="roundRect">
            <a:avLst>
              <a:gd name="adj" fmla="val 5500"/>
            </a:avLst>
          </a:prstGeom>
          <a:gradFill rotWithShape="1">
            <a:gsLst>
              <a:gs pos="0">
                <a:srgbClr val="FBE7E2"/>
              </a:gs>
              <a:gs pos="62000">
                <a:srgbClr val="FFFFFF"/>
              </a:gs>
            </a:gsLst>
            <a:lin scaled="0" ang="2700000"/>
          </a:gradFill>
          <a:ln w="12700">
            <a:solidFill>
              <a:srgbClr val="E3A7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4251959"/>
            <a:ext cx="2978810" cy="1545336"/>
          </a:xfrm>
          <a:prstGeom prst="rect">
            <a:avLst/>
          </a:prstGeom>
          <a:noFill/>
        </p:spPr>
        <p:txBody>
          <a:bodyPr wrap="square" lIns="0" rIns="0" tIns="0" bIns="0">
            <a:spAutoFit/>
          </a:bodyPr>
          <a:lstStyle/>
          <a:p>
            <a:pPr>
              <a:lnSpc>
                <a:spcPct val="135000"/>
              </a:lnSpc>
              <a:spcAft>
                <a:spcPts val="500"/>
              </a:spcAft>
            </a:pPr>
            <a:r>
              <a:rPr sz="750" b="0" cap="all" spc="160">
                <a:solidFill>
                  <a:srgbClr val="C0442B"/>
                </a:solidFill>
                <a:latin typeface="IBM Plex Mono"/>
              </a:rPr>
              <a:t>Risk 04  .  Medium</a:t>
            </a:r>
          </a:p>
          <a:p>
            <a:pPr>
              <a:lnSpc>
                <a:spcPct val="116000"/>
              </a:lnSpc>
              <a:spcAft>
                <a:spcPts val="500"/>
              </a:spcAft>
            </a:pPr>
            <a:r>
              <a:rPr sz="1050" b="1">
                <a:solidFill>
                  <a:srgbClr val="0E2830"/>
                </a:solidFill>
                <a:latin typeface="Outfit"/>
              </a:rPr>
              <a:t>Tax exemption certificate lapses</a:t>
            </a:r>
          </a:p>
          <a:p>
            <a:pPr>
              <a:lnSpc>
                <a:spcPct val="136000"/>
              </a:lnSpc>
              <a:spcAft>
                <a:spcPts val="600"/>
              </a:spcAft>
            </a:pPr>
            <a:r>
              <a:rPr sz="819" b="0">
                <a:solidFill>
                  <a:srgbClr val="33555F"/>
                </a:solidFill>
                <a:latin typeface="Plus Jakarta Sans"/>
              </a:rPr>
              <a:t>The certificate expires quietly and the bank applies full withholding to a treaty exempt remittance. Recovery is slow.</a:t>
            </a:r>
          </a:p>
          <a:p>
            <a:pPr>
              <a:lnSpc>
                <a:spcPct val="136000"/>
              </a:lnSpc>
              <a:spcAft>
                <a:spcPts val="0"/>
              </a:spcAft>
            </a:pPr>
            <a:r>
              <a:rPr sz="819" b="0">
                <a:solidFill>
                  <a:srgbClr val="C10073"/>
                </a:solidFill>
                <a:latin typeface="Plus Jakarta Sans"/>
              </a:rPr>
              <a:t>Mitigation.  Expiry sits on the same monthly review as the remittance file.</a:t>
            </a:r>
          </a:p>
        </p:txBody>
      </p:sp>
      <p:sp>
        <p:nvSpPr>
          <p:cNvPr id="13" name="Rounded Rectangle 12"/>
          <p:cNvSpPr/>
          <p:nvPr/>
        </p:nvSpPr>
        <p:spPr>
          <a:xfrm>
            <a:off x="4405274" y="4087368"/>
            <a:ext cx="3381146" cy="1874519"/>
          </a:xfrm>
          <a:prstGeom prst="roundRect">
            <a:avLst>
              <a:gd name="adj" fmla="val 5500"/>
            </a:avLst>
          </a:prstGeom>
          <a:gradFill rotWithShape="1">
            <a:gsLst>
              <a:gs pos="0">
                <a:srgbClr val="FBE7E2"/>
              </a:gs>
              <a:gs pos="62000">
                <a:srgbClr val="FFFFFF"/>
              </a:gs>
            </a:gsLst>
            <a:lin scaled="0" ang="2700000"/>
          </a:gradFill>
          <a:ln w="12700">
            <a:solidFill>
              <a:srgbClr val="E3A7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06442" y="4251959"/>
            <a:ext cx="2978810" cy="1545336"/>
          </a:xfrm>
          <a:prstGeom prst="rect">
            <a:avLst/>
          </a:prstGeom>
          <a:noFill/>
        </p:spPr>
        <p:txBody>
          <a:bodyPr wrap="square" lIns="0" rIns="0" tIns="0" bIns="0">
            <a:spAutoFit/>
          </a:bodyPr>
          <a:lstStyle/>
          <a:p>
            <a:pPr>
              <a:lnSpc>
                <a:spcPct val="135000"/>
              </a:lnSpc>
              <a:spcAft>
                <a:spcPts val="500"/>
              </a:spcAft>
            </a:pPr>
            <a:r>
              <a:rPr sz="750" b="0" cap="all" spc="160">
                <a:solidFill>
                  <a:srgbClr val="C0442B"/>
                </a:solidFill>
                <a:latin typeface="IBM Plex Mono"/>
              </a:rPr>
              <a:t>Risk 05  .  Medium</a:t>
            </a:r>
          </a:p>
          <a:p>
            <a:pPr>
              <a:lnSpc>
                <a:spcPct val="116000"/>
              </a:lnSpc>
              <a:spcAft>
                <a:spcPts val="500"/>
              </a:spcAft>
            </a:pPr>
            <a:r>
              <a:rPr sz="1050" b="1">
                <a:solidFill>
                  <a:srgbClr val="0E2830"/>
                </a:solidFill>
                <a:latin typeface="Outfit"/>
              </a:rPr>
              <a:t>Insufficient funds in the account</a:t>
            </a:r>
          </a:p>
          <a:p>
            <a:pPr>
              <a:lnSpc>
                <a:spcPct val="136000"/>
              </a:lnSpc>
              <a:spcAft>
                <a:spcPts val="600"/>
              </a:spcAft>
            </a:pPr>
            <a:r>
              <a:rPr sz="819" b="0">
                <a:solidFill>
                  <a:srgbClr val="33555F"/>
                </a:solidFill>
                <a:latin typeface="Plus Jakarta Sans"/>
              </a:rPr>
              <a:t>Remittance may only be made out of funds available, without borrowing. A timing mismatch simply stops the transfer.</a:t>
            </a:r>
          </a:p>
          <a:p>
            <a:pPr>
              <a:lnSpc>
                <a:spcPct val="136000"/>
              </a:lnSpc>
              <a:spcAft>
                <a:spcPts val="0"/>
              </a:spcAft>
            </a:pPr>
            <a:r>
              <a:rPr sz="819" b="0">
                <a:solidFill>
                  <a:srgbClr val="C10073"/>
                </a:solidFill>
                <a:latin typeface="Plus Jakarta Sans"/>
              </a:rPr>
              <a:t>Mitigation.  Disbursement timing is planned against the settlement calendar.</a:t>
            </a:r>
          </a:p>
        </p:txBody>
      </p:sp>
      <p:sp>
        <p:nvSpPr>
          <p:cNvPr id="15" name="Rounded Rectangle 14"/>
          <p:cNvSpPr/>
          <p:nvPr/>
        </p:nvSpPr>
        <p:spPr>
          <a:xfrm>
            <a:off x="8024164" y="4087368"/>
            <a:ext cx="3381146" cy="1874519"/>
          </a:xfrm>
          <a:prstGeom prst="roundRect">
            <a:avLst>
              <a:gd name="adj" fmla="val 5500"/>
            </a:avLst>
          </a:prstGeom>
          <a:gradFill rotWithShape="1">
            <a:gsLst>
              <a:gs pos="0">
                <a:srgbClr val="FBE7E2"/>
              </a:gs>
              <a:gs pos="62000">
                <a:srgbClr val="FFFFFF"/>
              </a:gs>
            </a:gsLst>
            <a:lin scaled="0" ang="2700000"/>
          </a:gradFill>
          <a:ln w="12700">
            <a:solidFill>
              <a:srgbClr val="E3A7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5332" y="4251959"/>
            <a:ext cx="2978810" cy="1545336"/>
          </a:xfrm>
          <a:prstGeom prst="rect">
            <a:avLst/>
          </a:prstGeom>
          <a:noFill/>
        </p:spPr>
        <p:txBody>
          <a:bodyPr wrap="square" lIns="0" rIns="0" tIns="0" bIns="0">
            <a:spAutoFit/>
          </a:bodyPr>
          <a:lstStyle/>
          <a:p>
            <a:pPr>
              <a:lnSpc>
                <a:spcPct val="135000"/>
              </a:lnSpc>
              <a:spcAft>
                <a:spcPts val="500"/>
              </a:spcAft>
            </a:pPr>
            <a:r>
              <a:rPr sz="750" b="0" cap="all" spc="160">
                <a:solidFill>
                  <a:srgbClr val="C0442B"/>
                </a:solidFill>
                <a:latin typeface="IBM Plex Mono"/>
              </a:rPr>
              <a:t>Risk 06  .  Watch</a:t>
            </a:r>
          </a:p>
          <a:p>
            <a:pPr>
              <a:lnSpc>
                <a:spcPct val="116000"/>
              </a:lnSpc>
              <a:spcAft>
                <a:spcPts val="500"/>
              </a:spcAft>
            </a:pPr>
            <a:r>
              <a:rPr sz="1050" b="1">
                <a:solidFill>
                  <a:srgbClr val="0E2830"/>
                </a:solidFill>
                <a:latin typeface="Outfit"/>
              </a:rPr>
              <a:t>Regulatory drift</a:t>
            </a:r>
          </a:p>
          <a:p>
            <a:pPr>
              <a:lnSpc>
                <a:spcPct val="136000"/>
              </a:lnSpc>
              <a:spcAft>
                <a:spcPts val="600"/>
              </a:spcAft>
            </a:pPr>
            <a:r>
              <a:rPr sz="819" b="0">
                <a:solidFill>
                  <a:srgbClr val="33555F"/>
                </a:solidFill>
                <a:latin typeface="Plus Jakarta Sans"/>
              </a:rPr>
              <a:t>The Foreign Exchange Operation Department issues circulars continuously. A process built on a superseded instruction fails quietly.</a:t>
            </a:r>
          </a:p>
          <a:p>
            <a:pPr>
              <a:lnSpc>
                <a:spcPct val="136000"/>
              </a:lnSpc>
              <a:spcAft>
                <a:spcPts val="0"/>
              </a:spcAft>
            </a:pPr>
            <a:r>
              <a:rPr sz="819" b="0">
                <a:solidFill>
                  <a:srgbClr val="C10073"/>
                </a:solidFill>
                <a:latin typeface="Plus Jakarta Sans"/>
              </a:rPr>
              <a:t>Mitigation.  The circular index is re-checked before each annual review.</a:t>
            </a:r>
          </a:p>
        </p:txBody>
      </p:sp>
      <p:sp>
        <p:nvSpPr>
          <p:cNvPr id="17" name="TextBox 16"/>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ptx_closer.jp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86384" y="1417320"/>
            <a:ext cx="6766560" cy="274320"/>
          </a:xfrm>
          <a:prstGeom prst="rect">
            <a:avLst/>
          </a:prstGeom>
          <a:noFill/>
        </p:spPr>
        <p:txBody>
          <a:bodyPr wrap="square" lIns="0" rIns="0" tIns="0" bIns="0">
            <a:spAutoFit/>
          </a:bodyPr>
          <a:lstStyle/>
          <a:p>
            <a:pPr>
              <a:lnSpc>
                <a:spcPct val="135000"/>
              </a:lnSpc>
              <a:spcAft>
                <a:spcPts val="0"/>
              </a:spcAft>
            </a:pPr>
            <a:r>
              <a:rPr sz="950" b="0" cap="all" spc="220">
                <a:solidFill>
                  <a:srgbClr val="0A5F65"/>
                </a:solidFill>
                <a:latin typeface="IBM Plex Mono"/>
              </a:rPr>
              <a:t>Flyport Limited   .   General Sales Agent</a:t>
            </a:r>
          </a:p>
        </p:txBody>
      </p:sp>
      <p:sp>
        <p:nvSpPr>
          <p:cNvPr id="5" name="TextBox 4"/>
          <p:cNvSpPr txBox="1"/>
          <p:nvPr/>
        </p:nvSpPr>
        <p:spPr>
          <a:xfrm>
            <a:off x="786384" y="1783080"/>
            <a:ext cx="6309360" cy="1737360"/>
          </a:xfrm>
          <a:prstGeom prst="rect">
            <a:avLst/>
          </a:prstGeom>
          <a:noFill/>
        </p:spPr>
        <p:txBody>
          <a:bodyPr wrap="square" lIns="0" rIns="0" tIns="0" bIns="0">
            <a:spAutoFit/>
          </a:bodyPr>
          <a:lstStyle/>
          <a:p>
            <a:pPr>
              <a:lnSpc>
                <a:spcPct val="102000"/>
              </a:lnSpc>
              <a:spcAft>
                <a:spcPts val="0"/>
              </a:spcAft>
            </a:pPr>
            <a:r>
              <a:rPr sz="3200" b="1">
                <a:solidFill>
                  <a:srgbClr val="0E2830"/>
                </a:solidFill>
                <a:latin typeface="Outfit"/>
              </a:rPr>
              <a:t>So Vietnam Airlines can run the route, and the money simply arrives.</a:t>
            </a:r>
          </a:p>
        </p:txBody>
      </p:sp>
      <p:sp>
        <p:nvSpPr>
          <p:cNvPr id="6" name="TextBox 5"/>
          <p:cNvSpPr txBox="1"/>
          <p:nvPr/>
        </p:nvSpPr>
        <p:spPr>
          <a:xfrm>
            <a:off x="786384" y="3584448"/>
            <a:ext cx="5760720" cy="914400"/>
          </a:xfrm>
          <a:prstGeom prst="rect">
            <a:avLst/>
          </a:prstGeom>
          <a:noFill/>
        </p:spPr>
        <p:txBody>
          <a:bodyPr wrap="square" lIns="0" rIns="0" tIns="0" bIns="0">
            <a:spAutoFit/>
          </a:bodyPr>
          <a:lstStyle/>
          <a:p>
            <a:pPr>
              <a:lnSpc>
                <a:spcPct val="142000"/>
              </a:lnSpc>
              <a:spcAft>
                <a:spcPts val="0"/>
              </a:spcAft>
            </a:pPr>
            <a:r>
              <a:rPr sz="1100" b="0">
                <a:solidFill>
                  <a:srgbClr val="33555F"/>
                </a:solidFill>
                <a:latin typeface="Plus Jakarta Sans"/>
              </a:rPr>
              <a:t>Six authorities, four circulars, eleven monthly documents and eight annual ones. Flyport carries all of it, holds the dedicated account, builds the file to bank specification, and answers the queries before they reach Hanoi.</a:t>
            </a:r>
          </a:p>
        </p:txBody>
      </p:sp>
      <p:sp>
        <p:nvSpPr>
          <p:cNvPr id="7" name="TextBox 6"/>
          <p:cNvSpPr txBox="1"/>
          <p:nvPr/>
        </p:nvSpPr>
        <p:spPr>
          <a:xfrm>
            <a:off x="786384" y="4498848"/>
            <a:ext cx="1572768" cy="1371600"/>
          </a:xfrm>
          <a:prstGeom prst="rect">
            <a:avLst/>
          </a:prstGeom>
          <a:noFill/>
        </p:spPr>
        <p:txBody>
          <a:bodyPr wrap="square" lIns="0" rIns="0" tIns="0" bIns="0">
            <a:spAutoFit/>
          </a:bodyPr>
          <a:lstStyle/>
          <a:p>
            <a:pPr>
              <a:lnSpc>
                <a:spcPct val="95000"/>
              </a:lnSpc>
              <a:spcAft>
                <a:spcPts val="400"/>
              </a:spcAft>
            </a:pPr>
            <a:r>
              <a:rPr sz="1900" b="1">
                <a:solidFill>
                  <a:srgbClr val="0A5F65"/>
                </a:solidFill>
                <a:latin typeface="Outfit"/>
              </a:rPr>
              <a:t>BIDA</a:t>
            </a:r>
          </a:p>
          <a:p>
            <a:pPr>
              <a:lnSpc>
                <a:spcPct val="135000"/>
              </a:lnSpc>
              <a:spcAft>
                <a:spcPts val="0"/>
              </a:spcAft>
            </a:pPr>
            <a:r>
              <a:rPr sz="800" b="0" cap="all" spc="160">
                <a:solidFill>
                  <a:srgbClr val="52737D"/>
                </a:solidFill>
                <a:latin typeface="IBM Plex Mono"/>
              </a:rPr>
              <a:t>Permission and waivers</a:t>
            </a:r>
          </a:p>
        </p:txBody>
      </p:sp>
      <p:sp>
        <p:nvSpPr>
          <p:cNvPr id="8" name="TextBox 7"/>
          <p:cNvSpPr txBox="1"/>
          <p:nvPr/>
        </p:nvSpPr>
        <p:spPr>
          <a:xfrm>
            <a:off x="2359152" y="4498848"/>
            <a:ext cx="1572768" cy="1371600"/>
          </a:xfrm>
          <a:prstGeom prst="rect">
            <a:avLst/>
          </a:prstGeom>
          <a:noFill/>
        </p:spPr>
        <p:txBody>
          <a:bodyPr wrap="square" lIns="0" rIns="0" tIns="0" bIns="0">
            <a:spAutoFit/>
          </a:bodyPr>
          <a:lstStyle/>
          <a:p>
            <a:pPr>
              <a:lnSpc>
                <a:spcPct val="95000"/>
              </a:lnSpc>
              <a:spcAft>
                <a:spcPts val="400"/>
              </a:spcAft>
            </a:pPr>
            <a:r>
              <a:rPr sz="1900" b="1">
                <a:solidFill>
                  <a:srgbClr val="0A5F65"/>
                </a:solidFill>
                <a:latin typeface="Outfit"/>
              </a:rPr>
              <a:t>CAAB</a:t>
            </a:r>
          </a:p>
          <a:p>
            <a:pPr>
              <a:lnSpc>
                <a:spcPct val="135000"/>
              </a:lnSpc>
              <a:spcAft>
                <a:spcPts val="0"/>
              </a:spcAft>
            </a:pPr>
            <a:r>
              <a:rPr sz="800" b="0" cap="all" spc="160">
                <a:solidFill>
                  <a:srgbClr val="52737D"/>
                </a:solidFill>
                <a:latin typeface="IBM Plex Mono"/>
              </a:rPr>
              <a:t>Permits, tariffs, statistics</a:t>
            </a:r>
          </a:p>
        </p:txBody>
      </p:sp>
      <p:sp>
        <p:nvSpPr>
          <p:cNvPr id="9" name="TextBox 8"/>
          <p:cNvSpPr txBox="1"/>
          <p:nvPr/>
        </p:nvSpPr>
        <p:spPr>
          <a:xfrm>
            <a:off x="3931920" y="4498848"/>
            <a:ext cx="1572768" cy="1371600"/>
          </a:xfrm>
          <a:prstGeom prst="rect">
            <a:avLst/>
          </a:prstGeom>
          <a:noFill/>
        </p:spPr>
        <p:txBody>
          <a:bodyPr wrap="square" lIns="0" rIns="0" tIns="0" bIns="0">
            <a:spAutoFit/>
          </a:bodyPr>
          <a:lstStyle/>
          <a:p>
            <a:pPr>
              <a:lnSpc>
                <a:spcPct val="95000"/>
              </a:lnSpc>
              <a:spcAft>
                <a:spcPts val="400"/>
              </a:spcAft>
            </a:pPr>
            <a:r>
              <a:rPr sz="1900" b="1">
                <a:solidFill>
                  <a:srgbClr val="0A5F65"/>
                </a:solidFill>
                <a:latin typeface="Outfit"/>
              </a:rPr>
              <a:t>NBR</a:t>
            </a:r>
          </a:p>
          <a:p>
            <a:pPr>
              <a:lnSpc>
                <a:spcPct val="135000"/>
              </a:lnSpc>
              <a:spcAft>
                <a:spcPts val="0"/>
              </a:spcAft>
            </a:pPr>
            <a:r>
              <a:rPr sz="800" b="0" cap="all" spc="160">
                <a:solidFill>
                  <a:srgbClr val="52737D"/>
                </a:solidFill>
                <a:latin typeface="IBM Plex Mono"/>
              </a:rPr>
              <a:t>Treaty relief, kept live</a:t>
            </a:r>
          </a:p>
        </p:txBody>
      </p:sp>
      <p:sp>
        <p:nvSpPr>
          <p:cNvPr id="10" name="TextBox 9"/>
          <p:cNvSpPr txBox="1"/>
          <p:nvPr/>
        </p:nvSpPr>
        <p:spPr>
          <a:xfrm>
            <a:off x="5504688" y="4498848"/>
            <a:ext cx="1572768" cy="1371600"/>
          </a:xfrm>
          <a:prstGeom prst="rect">
            <a:avLst/>
          </a:prstGeom>
          <a:noFill/>
        </p:spPr>
        <p:txBody>
          <a:bodyPr wrap="square" lIns="0" rIns="0" tIns="0" bIns="0">
            <a:spAutoFit/>
          </a:bodyPr>
          <a:lstStyle/>
          <a:p>
            <a:pPr>
              <a:lnSpc>
                <a:spcPct val="95000"/>
              </a:lnSpc>
              <a:spcAft>
                <a:spcPts val="400"/>
              </a:spcAft>
            </a:pPr>
            <a:r>
              <a:rPr sz="1900" b="1">
                <a:solidFill>
                  <a:srgbClr val="0A5F65"/>
                </a:solidFill>
                <a:latin typeface="Outfit"/>
              </a:rPr>
              <a:t>BB + AD</a:t>
            </a:r>
          </a:p>
          <a:p>
            <a:pPr>
              <a:lnSpc>
                <a:spcPct val="135000"/>
              </a:lnSpc>
              <a:spcAft>
                <a:spcPts val="0"/>
              </a:spcAft>
            </a:pPr>
            <a:r>
              <a:rPr sz="800" b="0" cap="all" spc="160">
                <a:solidFill>
                  <a:srgbClr val="52737D"/>
                </a:solidFill>
                <a:latin typeface="IBM Plex Mono"/>
              </a:rPr>
              <a:t>The remittance cycle</a:t>
            </a:r>
          </a:p>
        </p:txBody>
      </p:sp>
      <p:sp>
        <p:nvSpPr>
          <p:cNvPr id="11" name="Rectangle 10"/>
          <p:cNvSpPr/>
          <p:nvPr/>
        </p:nvSpPr>
        <p:spPr>
          <a:xfrm>
            <a:off x="786384" y="5230368"/>
            <a:ext cx="6583680" cy="9525"/>
          </a:xfrm>
          <a:prstGeom prst="rect">
            <a:avLst/>
          </a:prstGeom>
          <a:solidFill>
            <a:srgbClr val="7FC4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lg_flyport.png"/>
          <p:cNvPicPr>
            <a:picLocks noChangeAspect="1"/>
          </p:cNvPicPr>
          <p:nvPr/>
        </p:nvPicPr>
        <p:blipFill>
          <a:blip r:embed="rId3"/>
          <a:stretch>
            <a:fillRect/>
          </a:stretch>
        </p:blipFill>
        <p:spPr>
          <a:xfrm>
            <a:off x="786384" y="5394960"/>
            <a:ext cx="1145051" cy="323697"/>
          </a:xfrm>
          <a:prstGeom prst="rect">
            <a:avLst/>
          </a:prstGeom>
        </p:spPr>
      </p:pic>
      <p:sp>
        <p:nvSpPr>
          <p:cNvPr id="13" name="TextBox 12"/>
          <p:cNvSpPr txBox="1"/>
          <p:nvPr/>
        </p:nvSpPr>
        <p:spPr>
          <a:xfrm>
            <a:off x="2242331" y="5482742"/>
            <a:ext cx="868680" cy="274320"/>
          </a:xfrm>
          <a:prstGeom prst="rect">
            <a:avLst/>
          </a:prstGeom>
          <a:noFill/>
        </p:spPr>
        <p:txBody>
          <a:bodyPr wrap="square" lIns="0" rIns="0" tIns="0" bIns="0">
            <a:spAutoFit/>
          </a:bodyPr>
          <a:lstStyle/>
          <a:p>
            <a:pPr>
              <a:lnSpc>
                <a:spcPct val="135000"/>
              </a:lnSpc>
              <a:spcAft>
                <a:spcPts val="0"/>
              </a:spcAft>
            </a:pPr>
            <a:r>
              <a:rPr sz="800" b="0" cap="all" spc="180">
                <a:solidFill>
                  <a:srgbClr val="52737D"/>
                </a:solidFill>
                <a:latin typeface="IBM Plex Mono"/>
              </a:rPr>
              <a:t>Backed by</a:t>
            </a:r>
          </a:p>
        </p:txBody>
      </p:sp>
      <p:pic>
        <p:nvPicPr>
          <p:cNvPr id="14" name="Picture 13" descr="lg_adn.png"/>
          <p:cNvPicPr>
            <a:picLocks noChangeAspect="1"/>
          </p:cNvPicPr>
          <p:nvPr/>
        </p:nvPicPr>
        <p:blipFill>
          <a:blip r:embed="rId4"/>
          <a:stretch>
            <a:fillRect/>
          </a:stretch>
        </p:blipFill>
        <p:spPr>
          <a:xfrm>
            <a:off x="3202450" y="5422392"/>
            <a:ext cx="674164" cy="257860"/>
          </a:xfrm>
          <a:prstGeom prst="rect">
            <a:avLst/>
          </a:prstGeom>
        </p:spPr>
      </p:pic>
      <p:pic>
        <p:nvPicPr>
          <p:cNvPr id="15" name="Picture 14" descr="lg_partex.png"/>
          <p:cNvPicPr>
            <a:picLocks noChangeAspect="1"/>
          </p:cNvPicPr>
          <p:nvPr/>
        </p:nvPicPr>
        <p:blipFill>
          <a:blip r:embed="rId5"/>
          <a:stretch>
            <a:fillRect/>
          </a:stretch>
        </p:blipFill>
        <p:spPr>
          <a:xfrm>
            <a:off x="4150934" y="5405932"/>
            <a:ext cx="654567" cy="290779"/>
          </a:xfrm>
          <a:prstGeom prst="rect">
            <a:avLst/>
          </a:prstGeom>
        </p:spPr>
      </p:pic>
      <p:sp>
        <p:nvSpPr>
          <p:cNvPr id="16" name="Rectangle 15"/>
          <p:cNvSpPr/>
          <p:nvPr/>
        </p:nvSpPr>
        <p:spPr>
          <a:xfrm>
            <a:off x="786384" y="6016752"/>
            <a:ext cx="6583680" cy="9525"/>
          </a:xfrm>
          <a:prstGeom prst="rect">
            <a:avLst/>
          </a:prstGeom>
          <a:solidFill>
            <a:srgbClr val="7FC4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6144768"/>
            <a:ext cx="6583680" cy="457200"/>
          </a:xfrm>
          <a:prstGeom prst="rect">
            <a:avLst/>
          </a:prstGeom>
          <a:noFill/>
        </p:spPr>
        <p:txBody>
          <a:bodyPr wrap="square" lIns="0" rIns="0" tIns="0" bIns="0">
            <a:spAutoFit/>
          </a:bodyPr>
          <a:lstStyle/>
          <a:p>
            <a:pPr>
              <a:lnSpc>
                <a:spcPct val="135000"/>
              </a:lnSpc>
              <a:spcAft>
                <a:spcPts val="0"/>
              </a:spcAft>
            </a:pPr>
            <a:r>
              <a:rPr sz="850" b="0">
                <a:solidFill>
                  <a:srgbClr val="33555F"/>
                </a:solidFill>
                <a:latin typeface="IBM Plex Mono"/>
              </a:rPr>
              <a:t>info@flyport.net   .   +880 1882 666555   .   General Sales Agent, Bangladesh</a:t>
            </a:r>
          </a:p>
        </p:txBody>
      </p:sp>
      <p:sp>
        <p:nvSpPr>
          <p:cNvPr id="18" name="TextBox 17"/>
          <p:cNvSpPr txBox="1"/>
          <p:nvPr/>
        </p:nvSpPr>
        <p:spPr>
          <a:xfrm>
            <a:off x="786384" y="6419088"/>
            <a:ext cx="10607040" cy="365760"/>
          </a:xfrm>
          <a:prstGeom prst="rect">
            <a:avLst/>
          </a:prstGeom>
          <a:noFill/>
        </p:spPr>
        <p:txBody>
          <a:bodyPr wrap="square" lIns="0" rIns="0" tIns="0" bIns="0">
            <a:spAutoFit/>
          </a:bodyPr>
          <a:lstStyle/>
          <a:p>
            <a:pPr>
              <a:lnSpc>
                <a:spcPct val="140000"/>
              </a:lnSpc>
              <a:spcAft>
                <a:spcPts val="0"/>
              </a:spcAft>
            </a:pPr>
            <a:r>
              <a:rPr sz="700" b="0">
                <a:solidFill>
                  <a:srgbClr val="52737D"/>
                </a:solidFill>
                <a:latin typeface="IBM Plex Mono"/>
              </a:rPr>
              <a:t>Prepared for planning purposes from the Guidelines for Foreign Exchange Transactions 2018 and SPA Circulars No. 01 of 2020, No. 01 and No. 02 of 2021, and No. 03 of 2023. Not legal, tax or regulatory advice.</a:t>
            </a:r>
          </a:p>
        </p:txBody>
      </p:sp>
      <p:sp>
        <p:nvSpPr>
          <p:cNvPr id="19" name="TextBox 18"/>
          <p:cNvSpPr txBox="1"/>
          <p:nvPr/>
        </p:nvSpPr>
        <p:spPr>
          <a:xfrm>
            <a:off x="274320" y="6382512"/>
            <a:ext cx="640080" cy="274320"/>
          </a:xfrm>
          <a:prstGeom prst="rect">
            <a:avLst/>
          </a:prstGeom>
          <a:noFill/>
        </p:spPr>
        <p:txBody>
          <a:bodyPr wrap="square" lIns="0" rIns="0" tIns="0" bIns="0">
            <a:spAutoFit/>
          </a:bodyPr>
          <a:lstStyle/>
          <a:p>
            <a:pPr>
              <a:lnSpc>
                <a:spcPct val="135000"/>
              </a:lnSpc>
              <a:spcAft>
                <a:spcPts val="0"/>
              </a:spcAft>
            </a:pPr>
            <a:r>
              <a:rPr sz="900" b="0">
                <a:solidFill>
                  <a:srgbClr val="8AA6AE"/>
                </a:solidFill>
                <a:latin typeface="IBM Plex Mono"/>
              </a:rP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Vietnam Airlines, Bangladesh Operation Launch</dc:title>
  <dc:subject>Finance and Operations Compliance Briefing</dc:subject>
  <dc:creator>Miraz Mullick</dc:creator>
  <cp:keywords/>
  <dc:description>Prepared by Aykiz Intelligence for Flyport Limited, General Sales Agent, Bangladesh.</dc:description>
  <cp:lastModifiedBy>Steve Canny</cp:lastModifiedBy>
  <cp:revision>1</cp:revision>
  <dcterms:created xsi:type="dcterms:W3CDTF">2013-01-27T09:14:16Z</dcterms:created>
  <dcterms:modified xsi:type="dcterms:W3CDTF">2013-01-27T09:15:58Z</dcterms:modified>
  <cp:category/>
</cp:coreProperties>
</file>